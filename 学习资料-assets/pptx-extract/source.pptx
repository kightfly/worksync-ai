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6" name="Shape 22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5.jpe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演示文稿副标题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演示文稿副标题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幻灯片副标题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议程主题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说明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处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出处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810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810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810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810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810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“著名引文”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章节页_副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图片 5" descr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"/>
            <a:ext cx="24384002" cy="1371600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0" name="标题文本"/>
          <p:cNvSpPr txBox="1"/>
          <p:nvPr>
            <p:ph type="title" hasCustomPrompt="1"/>
          </p:nvPr>
        </p:nvSpPr>
        <p:spPr>
          <a:xfrm>
            <a:off x="2111625" y="5206470"/>
            <a:ext cx="15758365" cy="1661997"/>
          </a:xfrm>
          <a:prstGeom prst="rect">
            <a:avLst/>
          </a:prstGeom>
        </p:spPr>
        <p:txBody>
          <a:bodyPr lIns="82294" tIns="82294" rIns="82294" bIns="82294" anchor="b"/>
          <a:lstStyle>
            <a:lvl1pPr defTabSz="1828800">
              <a:lnSpc>
                <a:spcPct val="90000"/>
              </a:lnSpc>
              <a:defRPr sz="9200" spc="0">
                <a:solidFill>
                  <a:srgbClr val="0137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标题文本</a:t>
            </a:r>
          </a:p>
        </p:txBody>
      </p:sp>
      <p:pic>
        <p:nvPicPr>
          <p:cNvPr id="171" name="图片 9" descr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928" y="1330927"/>
            <a:ext cx="3944216" cy="69069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2" name="幻灯片编号"/>
          <p:cNvSpPr txBox="1"/>
          <p:nvPr>
            <p:ph type="sldNum" sz="quarter" idx="2"/>
          </p:nvPr>
        </p:nvSpPr>
        <p:spPr>
          <a:xfrm>
            <a:off x="16487066" y="11903039"/>
            <a:ext cx="459815" cy="448379"/>
          </a:xfrm>
          <a:prstGeom prst="rect">
            <a:avLst/>
          </a:prstGeom>
        </p:spPr>
        <p:txBody>
          <a:bodyPr lIns="82294" tIns="82294" rIns="82294" bIns="82294" anchor="ctr"/>
          <a:lstStyle>
            <a:lvl1pPr algn="r" defTabSz="1828800">
              <a:defRPr sz="200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封面_副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图片 17" descr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24384001" cy="13716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0" name="标题文本"/>
          <p:cNvSpPr txBox="1"/>
          <p:nvPr>
            <p:ph type="title" hasCustomPrompt="1"/>
          </p:nvPr>
        </p:nvSpPr>
        <p:spPr>
          <a:xfrm>
            <a:off x="1380112" y="4372077"/>
            <a:ext cx="19444360" cy="1661995"/>
          </a:xfrm>
          <a:prstGeom prst="rect">
            <a:avLst/>
          </a:prstGeom>
        </p:spPr>
        <p:txBody>
          <a:bodyPr lIns="82295" tIns="82295" rIns="82295" bIns="82295" anchor="b"/>
          <a:lstStyle>
            <a:lvl1pPr defTabSz="1828800">
              <a:lnSpc>
                <a:spcPct val="90000"/>
              </a:lnSpc>
              <a:defRPr sz="1040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81" name="正文级别 1…"/>
          <p:cNvSpPr txBox="1"/>
          <p:nvPr>
            <p:ph type="body" sz="quarter" idx="1" hasCustomPrompt="1"/>
          </p:nvPr>
        </p:nvSpPr>
        <p:spPr>
          <a:xfrm>
            <a:off x="1380112" y="6218153"/>
            <a:ext cx="19444360" cy="664799"/>
          </a:xfrm>
          <a:prstGeom prst="rect">
            <a:avLst/>
          </a:prstGeom>
        </p:spPr>
        <p:txBody>
          <a:bodyPr lIns="82295" tIns="82295" rIns="82295" bIns="82295"/>
          <a:lstStyle>
            <a:lvl1pPr marL="0" indent="0" defTabSz="1828800">
              <a:spcBef>
                <a:spcPts val="2000"/>
              </a:spcBef>
              <a:buSzTx/>
              <a:buNone/>
              <a:defRPr sz="7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 marL="0" indent="457200" defTabSz="1828800">
              <a:spcBef>
                <a:spcPts val="2000"/>
              </a:spcBef>
              <a:buSzTx/>
              <a:buNone/>
              <a:defRPr sz="7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 marL="0" indent="914400" defTabSz="1828800">
              <a:spcBef>
                <a:spcPts val="2000"/>
              </a:spcBef>
              <a:buSzTx/>
              <a:buNone/>
              <a:defRPr sz="7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 marL="0" indent="1371600" defTabSz="1828800">
              <a:spcBef>
                <a:spcPts val="2000"/>
              </a:spcBef>
              <a:buSzTx/>
              <a:buNone/>
              <a:defRPr sz="7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 marL="0" indent="1828800" defTabSz="1828800">
              <a:spcBef>
                <a:spcPts val="2000"/>
              </a:spcBef>
              <a:buSzTx/>
              <a:buNone/>
              <a:defRPr sz="7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pic>
        <p:nvPicPr>
          <p:cNvPr id="182" name="图片 4" descr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110" y="1189556"/>
            <a:ext cx="3518078" cy="104201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3" name="任意形状 11"/>
          <p:cNvSpPr/>
          <p:nvPr/>
        </p:nvSpPr>
        <p:spPr>
          <a:xfrm>
            <a:off x="3" y="0"/>
            <a:ext cx="7279191" cy="37296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67" extrusionOk="0">
                <a:moveTo>
                  <a:pt x="0" y="0"/>
                </a:moveTo>
                <a:lnTo>
                  <a:pt x="21600" y="0"/>
                </a:lnTo>
                <a:lnTo>
                  <a:pt x="11373" y="19466"/>
                </a:lnTo>
                <a:cubicBezTo>
                  <a:pt x="10252" y="21600"/>
                  <a:pt x="8435" y="21600"/>
                  <a:pt x="7314" y="19466"/>
                </a:cubicBezTo>
                <a:lnTo>
                  <a:pt x="0" y="5544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  <p:sp>
        <p:nvSpPr>
          <p:cNvPr id="184" name="文本框 15"/>
          <p:cNvSpPr txBox="1"/>
          <p:nvPr/>
        </p:nvSpPr>
        <p:spPr>
          <a:xfrm>
            <a:off x="1462408" y="10975669"/>
            <a:ext cx="7664468" cy="558293"/>
          </a:xfrm>
          <a:prstGeom prst="rect">
            <a:avLst/>
          </a:prstGeom>
          <a:ln w="12700">
            <a:miter lim="400000"/>
          </a:ln>
        </p:spPr>
        <p:txBody>
          <a:bodyPr lIns="82295" tIns="82295" rIns="82295" bIns="82295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2400" spc="1028">
                <a:solidFill>
                  <a:srgbClr val="7DA7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数字科技成就美好世界</a:t>
            </a:r>
          </a:p>
        </p:txBody>
      </p:sp>
      <p:pic>
        <p:nvPicPr>
          <p:cNvPr id="185" name="图片 16" descr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71609" y="9646966"/>
            <a:ext cx="1852858" cy="18528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6" name="图片 9" descr="图片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94928" y="1330929"/>
            <a:ext cx="3944215" cy="69069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7" name="幻灯片编号"/>
          <p:cNvSpPr txBox="1"/>
          <p:nvPr>
            <p:ph type="sldNum" sz="quarter" idx="2"/>
          </p:nvPr>
        </p:nvSpPr>
        <p:spPr>
          <a:xfrm>
            <a:off x="11826238" y="11797029"/>
            <a:ext cx="5120641" cy="660401"/>
          </a:xfrm>
          <a:prstGeom prst="rect">
            <a:avLst/>
          </a:prstGeom>
        </p:spPr>
        <p:txBody>
          <a:bodyPr lIns="82295" tIns="82295" rIns="82295" bIns="82295" anchor="ctr"/>
          <a:lstStyle>
            <a:lvl1pPr algn="r" defTabSz="1828800">
              <a:defRPr sz="200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_副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标题文本"/>
          <p:cNvSpPr txBox="1"/>
          <p:nvPr>
            <p:ph type="title" hasCustomPrompt="1"/>
          </p:nvPr>
        </p:nvSpPr>
        <p:spPr>
          <a:xfrm>
            <a:off x="406090" y="804686"/>
            <a:ext cx="19751040" cy="1143001"/>
          </a:xfrm>
          <a:prstGeom prst="rect">
            <a:avLst/>
          </a:prstGeom>
        </p:spPr>
        <p:txBody>
          <a:bodyPr lIns="0" tIns="0" rIns="0" bIns="0" anchor="ctr"/>
          <a:lstStyle>
            <a:lvl1pPr defTabSz="4876800">
              <a:lnSpc>
                <a:spcPct val="100000"/>
              </a:lnSpc>
              <a:defRPr sz="11200" spc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5" name="矩形 17"/>
          <p:cNvSpPr/>
          <p:nvPr/>
        </p:nvSpPr>
        <p:spPr>
          <a:xfrm>
            <a:off x="-1324" y="1939124"/>
            <a:ext cx="1410789" cy="82296"/>
          </a:xfrm>
          <a:prstGeom prst="rect">
            <a:avLst/>
          </a:prstGeom>
          <a:solidFill>
            <a:srgbClr val="01379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  <p:sp>
        <p:nvSpPr>
          <p:cNvPr id="196" name="组合 14"/>
          <p:cNvSpPr/>
          <p:nvPr/>
        </p:nvSpPr>
        <p:spPr>
          <a:xfrm rot="5400000">
            <a:off x="22250780" y="-1344562"/>
            <a:ext cx="769692" cy="3448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6780"/>
                </a:moveTo>
                <a:lnTo>
                  <a:pt x="0" y="0"/>
                </a:ln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  <p:pic>
        <p:nvPicPr>
          <p:cNvPr id="197" name="图片 6" descr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6255" y="168800"/>
            <a:ext cx="2413001" cy="4225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8" name="幻灯片编号"/>
          <p:cNvSpPr txBox="1"/>
          <p:nvPr>
            <p:ph type="sldNum" sz="quarter" idx="2"/>
          </p:nvPr>
        </p:nvSpPr>
        <p:spPr>
          <a:xfrm>
            <a:off x="11826238" y="11797029"/>
            <a:ext cx="5120641" cy="660401"/>
          </a:xfrm>
          <a:prstGeom prst="rect">
            <a:avLst/>
          </a:prstGeom>
        </p:spPr>
        <p:txBody>
          <a:bodyPr lIns="82295" tIns="82295" rIns="82295" bIns="82295" anchor="ctr"/>
          <a:lstStyle>
            <a:lvl1pPr algn="r" defTabSz="1828800">
              <a:defRPr sz="200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章节页_副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图片 5" descr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24384001" cy="1371600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6" name="标题文本"/>
          <p:cNvSpPr txBox="1"/>
          <p:nvPr>
            <p:ph type="title" hasCustomPrompt="1"/>
          </p:nvPr>
        </p:nvSpPr>
        <p:spPr>
          <a:xfrm>
            <a:off x="2111627" y="5206470"/>
            <a:ext cx="15758362" cy="1661995"/>
          </a:xfrm>
          <a:prstGeom prst="rect">
            <a:avLst/>
          </a:prstGeom>
        </p:spPr>
        <p:txBody>
          <a:bodyPr lIns="82295" tIns="82295" rIns="82295" bIns="82295" anchor="b"/>
          <a:lstStyle>
            <a:lvl1pPr defTabSz="1828800">
              <a:lnSpc>
                <a:spcPct val="90000"/>
              </a:lnSpc>
              <a:defRPr sz="9200" spc="0">
                <a:solidFill>
                  <a:srgbClr val="0137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标题文本</a:t>
            </a:r>
          </a:p>
        </p:txBody>
      </p:sp>
      <p:pic>
        <p:nvPicPr>
          <p:cNvPr id="207" name="图片 9" descr="图片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94928" y="1330929"/>
            <a:ext cx="3944215" cy="69069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8" name="幻灯片编号"/>
          <p:cNvSpPr txBox="1"/>
          <p:nvPr>
            <p:ph type="sldNum" sz="quarter" idx="2"/>
          </p:nvPr>
        </p:nvSpPr>
        <p:spPr>
          <a:xfrm>
            <a:off x="11826238" y="11797029"/>
            <a:ext cx="5120641" cy="660401"/>
          </a:xfrm>
          <a:prstGeom prst="rect">
            <a:avLst/>
          </a:prstGeom>
        </p:spPr>
        <p:txBody>
          <a:bodyPr lIns="82295" tIns="82295" rIns="82295" bIns="82295" anchor="ctr"/>
          <a:lstStyle>
            <a:lvl1pPr algn="r" defTabSz="1828800">
              <a:defRPr sz="200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任意形状 12"/>
          <p:cNvSpPr/>
          <p:nvPr/>
        </p:nvSpPr>
        <p:spPr>
          <a:xfrm rot="5400000">
            <a:off x="21424766" y="-966844"/>
            <a:ext cx="801762" cy="35927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6780"/>
                </a:moveTo>
                <a:lnTo>
                  <a:pt x="0" y="0"/>
                </a:ln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/>
          </a:solidFill>
          <a:ln w="12700">
            <a:miter lim="400000"/>
          </a:ln>
        </p:spPr>
        <p:txBody>
          <a:bodyPr lIns="42862" tIns="42862" rIns="42862" bIns="42862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  <p:sp>
        <p:nvSpPr>
          <p:cNvPr id="216" name="正文级别 1…"/>
          <p:cNvSpPr txBox="1"/>
          <p:nvPr>
            <p:ph type="body" sz="quarter" idx="1" hasCustomPrompt="1"/>
          </p:nvPr>
        </p:nvSpPr>
        <p:spPr>
          <a:xfrm>
            <a:off x="1197429" y="1310058"/>
            <a:ext cx="21505376" cy="1184883"/>
          </a:xfrm>
          <a:prstGeom prst="rect">
            <a:avLst/>
          </a:prstGeom>
        </p:spPr>
        <p:txBody>
          <a:bodyPr lIns="0" tIns="0" rIns="0" bIns="0"/>
          <a:lstStyle>
            <a:lvl1pPr marL="0" indent="0" defTabSz="1828800">
              <a:lnSpc>
                <a:spcPct val="120000"/>
              </a:lnSpc>
              <a:spcBef>
                <a:spcPts val="2000"/>
              </a:spcBef>
              <a:buSzTx/>
              <a:buNone/>
              <a:defRPr sz="5200" b="1" spc="278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 marL="1200150" indent="-742950" defTabSz="1828800">
              <a:lnSpc>
                <a:spcPct val="120000"/>
              </a:lnSpc>
              <a:spcBef>
                <a:spcPts val="2000"/>
              </a:spcBef>
              <a:buSzPct val="100000"/>
              <a:buChar char="●"/>
              <a:defRPr sz="5200" b="1" spc="278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 marL="1657350" indent="-742950" defTabSz="1828800">
              <a:lnSpc>
                <a:spcPct val="120000"/>
              </a:lnSpc>
              <a:spcBef>
                <a:spcPts val="2000"/>
              </a:spcBef>
              <a:buSzPct val="100000"/>
              <a:buChar char="●"/>
              <a:defRPr sz="5200" b="1" spc="278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 marL="2220595" indent="-848995" defTabSz="1828800">
              <a:lnSpc>
                <a:spcPct val="120000"/>
              </a:lnSpc>
              <a:spcBef>
                <a:spcPts val="2000"/>
              </a:spcBef>
              <a:buSzPct val="100000"/>
              <a:defRPr sz="5200" b="1" spc="278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 marL="2677795" indent="-848995" defTabSz="1828800">
              <a:lnSpc>
                <a:spcPct val="120000"/>
              </a:lnSpc>
              <a:spcBef>
                <a:spcPts val="2000"/>
              </a:spcBef>
              <a:buSzPct val="100000"/>
              <a:defRPr sz="5200" b="1" spc="278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17" name="矩形 17"/>
          <p:cNvSpPr/>
          <p:nvPr/>
        </p:nvSpPr>
        <p:spPr>
          <a:xfrm>
            <a:off x="761999" y="2488891"/>
            <a:ext cx="1469572" cy="85724"/>
          </a:xfrm>
          <a:prstGeom prst="rect">
            <a:avLst/>
          </a:prstGeom>
          <a:solidFill>
            <a:srgbClr val="4874CB"/>
          </a:solidFill>
          <a:ln w="12700">
            <a:miter lim="400000"/>
          </a:ln>
        </p:spPr>
        <p:txBody>
          <a:bodyPr lIns="42862" tIns="42862" rIns="42862" bIns="42862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  <p:pic>
        <p:nvPicPr>
          <p:cNvPr id="218" name="图片 3" descr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2325" y="597867"/>
            <a:ext cx="1628767" cy="4824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9" name="幻灯片编号"/>
          <p:cNvSpPr txBox="1"/>
          <p:nvPr>
            <p:ph type="sldNum" sz="quarter" idx="2"/>
          </p:nvPr>
        </p:nvSpPr>
        <p:spPr>
          <a:xfrm>
            <a:off x="11810999" y="12003881"/>
            <a:ext cx="5334002" cy="685801"/>
          </a:xfrm>
          <a:prstGeom prst="rect">
            <a:avLst/>
          </a:prstGeom>
        </p:spPr>
        <p:txBody>
          <a:bodyPr lIns="77150" tIns="77150" rIns="77150" bIns="77150" anchor="ctr"/>
          <a:lstStyle>
            <a:lvl1pPr algn="r" defTabSz="1828800">
              <a:defRPr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 spd="med"/>
  <p:txStyles>
    <p:titleStyle>
      <a:lvl1pPr marL="0" marR="0" indent="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20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8" Type="http://schemas.openxmlformats.org/officeDocument/2006/relationships/slideLayout" Target="../slideLayouts/slideLayout2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如何在实际项目中运用四阶十二步指导开发工作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261745">
              <a:defRPr sz="7175"/>
            </a:lvl1pPr>
          </a:lstStyle>
          <a:p>
            <a:r>
              <a:t>如何在实际项目中运用四阶十二步指导开发工作</a:t>
            </a:r>
          </a:p>
        </p:txBody>
      </p:sp>
      <p:sp>
        <p:nvSpPr>
          <p:cNvPr id="229" name="中电金信研究院-数字构建平台实验室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749935">
              <a:spcBef>
                <a:spcPts val="800"/>
              </a:spcBef>
              <a:defRPr sz="2950"/>
            </a:lvl1pPr>
          </a:lstStyle>
          <a:p>
            <a:r>
              <a:t>中电金信研究院-数字构建平台实验室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实践方法论-四阶十二步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74190">
              <a:defRPr sz="8925"/>
            </a:lvl1pPr>
          </a:lstStyle>
          <a:p>
            <a:r>
              <a:t>实践方法论-四阶十二步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AI 在实际应用中，需要面临主要的问题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974975">
              <a:defRPr sz="6830"/>
            </a:lvl1pPr>
          </a:lstStyle>
          <a:p>
            <a:r>
              <a:t>AI 在实际应用中，需要面临主要的问题</a:t>
            </a:r>
          </a:p>
        </p:txBody>
      </p:sp>
      <p:sp>
        <p:nvSpPr>
          <p:cNvPr id="234" name="主要是存在如下四个常见问题:"/>
          <p:cNvSpPr txBox="1"/>
          <p:nvPr/>
        </p:nvSpPr>
        <p:spPr>
          <a:xfrm>
            <a:off x="1174166" y="2348544"/>
            <a:ext cx="4832152" cy="5905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algn="ctr" defTabSz="2438400">
              <a:lnSpc>
                <a:spcPct val="100000"/>
              </a:lnSpc>
              <a:spcBef>
                <a:spcPts val="0"/>
              </a:spcBef>
              <a:defRPr sz="2800">
                <a:latin typeface="Lantinghei SC Extralight"/>
                <a:ea typeface="Lantinghei SC Extralight"/>
                <a:cs typeface="Lantinghei SC Extralight"/>
                <a:sym typeface="Lantinghei SC Extralight"/>
              </a:defRPr>
            </a:lvl1pPr>
          </a:lstStyle>
          <a:p>
            <a:r>
              <a:t>主要是存在如下四个常见问题:</a:t>
            </a:r>
          </a:p>
        </p:txBody>
      </p:sp>
      <p:sp>
        <p:nvSpPr>
          <p:cNvPr id="235" name="圆角矩形"/>
          <p:cNvSpPr/>
          <p:nvPr>
            <p:custDataLst>
              <p:tags r:id="rId1"/>
            </p:custDataLst>
          </p:nvPr>
        </p:nvSpPr>
        <p:spPr>
          <a:xfrm>
            <a:off x="1253225" y="3339953"/>
            <a:ext cx="10554635" cy="3996341"/>
          </a:xfrm>
          <a:prstGeom prst="roundRect">
            <a:avLst>
              <a:gd name="adj" fmla="val 4364"/>
            </a:avLst>
          </a:prstGeom>
          <a:solidFill>
            <a:srgbClr val="2353EB">
              <a:alpha val="22447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236" name="圆角矩形"/>
          <p:cNvSpPr/>
          <p:nvPr>
            <p:custDataLst>
              <p:tags r:id="rId2"/>
            </p:custDataLst>
          </p:nvPr>
        </p:nvSpPr>
        <p:spPr>
          <a:xfrm>
            <a:off x="12558481" y="3339953"/>
            <a:ext cx="10554634" cy="3996341"/>
          </a:xfrm>
          <a:prstGeom prst="roundRect">
            <a:avLst>
              <a:gd name="adj" fmla="val 4364"/>
            </a:avLst>
          </a:prstGeom>
          <a:solidFill>
            <a:srgbClr val="2353EB">
              <a:alpha val="22447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237" name="圆角矩形"/>
          <p:cNvSpPr/>
          <p:nvPr>
            <p:custDataLst>
              <p:tags r:id="rId3"/>
            </p:custDataLst>
          </p:nvPr>
        </p:nvSpPr>
        <p:spPr>
          <a:xfrm>
            <a:off x="1262055" y="7987262"/>
            <a:ext cx="10554634" cy="3996341"/>
          </a:xfrm>
          <a:prstGeom prst="roundRect">
            <a:avLst>
              <a:gd name="adj" fmla="val 4364"/>
            </a:avLst>
          </a:prstGeom>
          <a:solidFill>
            <a:srgbClr val="2353EB">
              <a:alpha val="22447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238" name="圆角矩形"/>
          <p:cNvSpPr/>
          <p:nvPr>
            <p:custDataLst>
              <p:tags r:id="rId4"/>
            </p:custDataLst>
          </p:nvPr>
        </p:nvSpPr>
        <p:spPr>
          <a:xfrm>
            <a:off x="12567310" y="7987262"/>
            <a:ext cx="10554634" cy="3996341"/>
          </a:xfrm>
          <a:prstGeom prst="roundRect">
            <a:avLst>
              <a:gd name="adj" fmla="val 4364"/>
            </a:avLst>
          </a:prstGeom>
          <a:solidFill>
            <a:srgbClr val="2353EB">
              <a:alpha val="22447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239" name="AI 的自由发挥"/>
          <p:cNvSpPr txBox="1"/>
          <p:nvPr>
            <p:custDataLst>
              <p:tags r:id="rId5"/>
            </p:custDataLst>
          </p:nvPr>
        </p:nvSpPr>
        <p:spPr>
          <a:xfrm>
            <a:off x="1971350" y="4098718"/>
            <a:ext cx="4639073" cy="10858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algn="ctr" defTabSz="2438400">
              <a:lnSpc>
                <a:spcPct val="100000"/>
              </a:lnSpc>
              <a:spcBef>
                <a:spcPts val="0"/>
              </a:spcBef>
              <a:defRPr sz="5600">
                <a:solidFill>
                  <a:srgbClr val="2A55C4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r>
              <a:t>AI 的自由发挥</a:t>
            </a:r>
          </a:p>
        </p:txBody>
      </p:sp>
      <p:sp>
        <p:nvSpPr>
          <p:cNvPr id="240" name="反复沟通与目标对齐"/>
          <p:cNvSpPr txBox="1"/>
          <p:nvPr>
            <p:custDataLst>
              <p:tags r:id="rId6"/>
            </p:custDataLst>
          </p:nvPr>
        </p:nvSpPr>
        <p:spPr>
          <a:xfrm>
            <a:off x="13053020" y="4098718"/>
            <a:ext cx="6508751" cy="10858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algn="ctr" defTabSz="2438400">
              <a:lnSpc>
                <a:spcPct val="100000"/>
              </a:lnSpc>
              <a:spcBef>
                <a:spcPts val="0"/>
              </a:spcBef>
              <a:defRPr sz="5600">
                <a:solidFill>
                  <a:srgbClr val="6E3CE6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r>
              <a:t>反复沟通与目标对齐</a:t>
            </a:r>
          </a:p>
        </p:txBody>
      </p:sp>
      <p:sp>
        <p:nvSpPr>
          <p:cNvPr id="241" name="AI 的自由发挥"/>
          <p:cNvSpPr txBox="1"/>
          <p:nvPr>
            <p:custDataLst>
              <p:tags r:id="rId7"/>
            </p:custDataLst>
          </p:nvPr>
        </p:nvSpPr>
        <p:spPr>
          <a:xfrm>
            <a:off x="1844866" y="8874196"/>
            <a:ext cx="5073650" cy="956945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algn="ctr" defTabSz="2438400">
              <a:lnSpc>
                <a:spcPct val="100000"/>
              </a:lnSpc>
              <a:spcBef>
                <a:spcPts val="0"/>
              </a:spcBef>
              <a:defRPr sz="5600">
                <a:solidFill>
                  <a:srgbClr val="3F8A8A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 algn="ctr"/>
            <a:r>
              <a:rPr lang="zh-CN" altLang="en-US"/>
              <a:t>长对话约束遗忘</a:t>
            </a:r>
            <a:endParaRPr lang="zh-CN" altLang="en-US"/>
          </a:p>
        </p:txBody>
      </p:sp>
      <p:sp>
        <p:nvSpPr>
          <p:cNvPr id="242" name="反复沟通与目标对齐"/>
          <p:cNvSpPr txBox="1"/>
          <p:nvPr>
            <p:custDataLst>
              <p:tags r:id="rId8"/>
            </p:custDataLst>
          </p:nvPr>
        </p:nvSpPr>
        <p:spPr>
          <a:xfrm>
            <a:off x="13127951" y="8876736"/>
            <a:ext cx="5073650" cy="956945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algn="ctr" defTabSz="2438400">
              <a:lnSpc>
                <a:spcPct val="100000"/>
              </a:lnSpc>
              <a:spcBef>
                <a:spcPts val="0"/>
              </a:spcBef>
              <a:defRPr sz="5600">
                <a:solidFill>
                  <a:srgbClr val="A42C27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 algn="ctr"/>
            <a:r>
              <a:rPr lang="zh-CN" altLang="en-US"/>
              <a:t>无法对接工具链</a:t>
            </a:r>
            <a:endParaRPr lang="zh-CN" altLang="en-US"/>
          </a:p>
        </p:txBody>
      </p:sp>
      <p:sp>
        <p:nvSpPr>
          <p:cNvPr id="243" name="业务方说&quot;我要一个余额查询功能&quot;，没有经过产品化转换，AI自己去假设 -- 查哪个账户?要不要权限校验?异常怎么处理?"/>
          <p:cNvSpPr txBox="1"/>
          <p:nvPr>
            <p:custDataLst>
              <p:tags r:id="rId9"/>
            </p:custDataLst>
          </p:nvPr>
        </p:nvSpPr>
        <p:spPr>
          <a:xfrm>
            <a:off x="1844872" y="5225512"/>
            <a:ext cx="9157689" cy="15811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>
            <a:lvl1pPr defTabSz="2438400">
              <a:lnSpc>
                <a:spcPct val="100000"/>
              </a:lnSpc>
              <a:spcBef>
                <a:spcPts val="0"/>
              </a:spcBef>
              <a:defRPr sz="2800">
                <a:latin typeface="Lantinghei SC Extralight"/>
                <a:ea typeface="Lantinghei SC Extralight"/>
                <a:cs typeface="Lantinghei SC Extralight"/>
                <a:sym typeface="Lantinghei SC Extralight"/>
              </a:defRPr>
            </a:lvl1pPr>
          </a:lstStyle>
          <a:p>
            <a:r>
              <a:t>业务方说"我要一个余额查询功能"，没有经过产品化转换，AI自己去假设 -- 查哪个账户?要不要权限校验?异常怎么处理?</a:t>
            </a:r>
          </a:p>
        </p:txBody>
      </p:sp>
      <p:sp>
        <p:nvSpPr>
          <p:cNvPr id="244" name="一把梭写完几百行代码后发现方向错了--多轮修正的耗时远超直接手写。在长对话中让 AI改 bug，改了这个冒出那个。AI不知道改了 A对 B有什么影响。"/>
          <p:cNvSpPr txBox="1"/>
          <p:nvPr>
            <p:custDataLst>
              <p:tags r:id="rId10"/>
            </p:custDataLst>
          </p:nvPr>
        </p:nvSpPr>
        <p:spPr>
          <a:xfrm>
            <a:off x="12875419" y="5225512"/>
            <a:ext cx="9157689" cy="15811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>
            <a:lvl1pPr defTabSz="2438400">
              <a:lnSpc>
                <a:spcPct val="100000"/>
              </a:lnSpc>
              <a:spcBef>
                <a:spcPts val="0"/>
              </a:spcBef>
              <a:defRPr sz="2800">
                <a:latin typeface="Lantinghei SC Extralight"/>
                <a:ea typeface="Lantinghei SC Extralight"/>
                <a:cs typeface="Lantinghei SC Extralight"/>
                <a:sym typeface="Lantinghei SC Extralight"/>
              </a:defRPr>
            </a:lvl1pPr>
          </a:lstStyle>
          <a:p>
            <a:r>
              <a:t>一把梭写完几百行代码后发现方向错了--多轮修正的耗时远超直接手写。在长对话中让 AI改 bug，改了这个冒出那个。AI不知道改了 A对 B有什么影响。</a:t>
            </a:r>
          </a:p>
        </p:txBody>
      </p:sp>
      <p:sp>
        <p:nvSpPr>
          <p:cNvPr id="245" name="AI前面说的业务规则、异常处理，AI写到后面就忘了。&quot;完成&quot;的定义在几轮交互后变得模糊。"/>
          <p:cNvSpPr txBox="1"/>
          <p:nvPr>
            <p:custDataLst>
              <p:tags r:id="rId11"/>
            </p:custDataLst>
          </p:nvPr>
        </p:nvSpPr>
        <p:spPr>
          <a:xfrm>
            <a:off x="1844872" y="10169525"/>
            <a:ext cx="9157689" cy="10858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>
            <a:lvl1pPr defTabSz="2438400">
              <a:lnSpc>
                <a:spcPct val="100000"/>
              </a:lnSpc>
              <a:spcBef>
                <a:spcPts val="0"/>
              </a:spcBef>
              <a:defRPr sz="2800">
                <a:latin typeface="Lantinghei SC Extralight"/>
                <a:ea typeface="Lantinghei SC Extralight"/>
                <a:cs typeface="Lantinghei SC Extralight"/>
                <a:sym typeface="Lantinghei SC Extralight"/>
              </a:defRPr>
            </a:lvl1pPr>
          </a:lstStyle>
          <a:p>
            <a:r>
              <a:t>AI前面说的业务规则、异常处理，AI写到后面就忘了。"完成"的定义在几轮交互后变得模糊。</a:t>
            </a:r>
          </a:p>
        </p:txBody>
      </p:sp>
      <p:sp>
        <p:nvSpPr>
          <p:cNvPr id="246" name="AI交付的代码本地能跑，但代码不进入团队仓库就无法被审查、追踪、集成到 CI/CD 流水线。最后还是要人手动操作。"/>
          <p:cNvSpPr txBox="1"/>
          <p:nvPr>
            <p:custDataLst>
              <p:tags r:id="rId12"/>
            </p:custDataLst>
          </p:nvPr>
        </p:nvSpPr>
        <p:spPr>
          <a:xfrm>
            <a:off x="12875419" y="9921875"/>
            <a:ext cx="9157689" cy="15811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>
            <a:lvl1pPr defTabSz="2438400">
              <a:lnSpc>
                <a:spcPct val="100000"/>
              </a:lnSpc>
              <a:spcBef>
                <a:spcPts val="0"/>
              </a:spcBef>
              <a:defRPr sz="2800">
                <a:latin typeface="Lantinghei SC Extralight"/>
                <a:ea typeface="Lantinghei SC Extralight"/>
                <a:cs typeface="Lantinghei SC Extralight"/>
                <a:sym typeface="Lantinghei SC Extralight"/>
              </a:defRPr>
            </a:lvl1pPr>
          </a:lstStyle>
          <a:p>
            <a:r>
              <a:t>AI交付的代码本地能跑，但代码不进入团队仓库就无法被审查、追踪、集成到 CI/CD 流水线。最后还是要人手动操作。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端到端交付 四阶十二步：为 1→n 规模化迭代而设计的工程实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89505">
              <a:defRPr sz="5490"/>
            </a:lvl1pPr>
          </a:lstStyle>
          <a:p>
            <a:r>
              <a:t>端到端交付 四阶十二步：为 1→n 规模化迭代而设计的工程实践</a:t>
            </a:r>
          </a:p>
        </p:txBody>
      </p:sp>
      <p:sp>
        <p:nvSpPr>
          <p:cNvPr id="249" name="圆角矩形"/>
          <p:cNvSpPr/>
          <p:nvPr/>
        </p:nvSpPr>
        <p:spPr>
          <a:xfrm>
            <a:off x="1890881" y="2191623"/>
            <a:ext cx="59532" cy="1190627"/>
          </a:xfrm>
          <a:prstGeom prst="roundRect">
            <a:avLst>
              <a:gd name="adj" fmla="val 50000"/>
            </a:avLst>
          </a:prstGeom>
          <a:solidFill>
            <a:srgbClr val="00A1FF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0" name="圆角矩形"/>
          <p:cNvSpPr/>
          <p:nvPr/>
        </p:nvSpPr>
        <p:spPr>
          <a:xfrm>
            <a:off x="1942418" y="2191623"/>
            <a:ext cx="20834233" cy="1190627"/>
          </a:xfrm>
          <a:prstGeom prst="roundRect">
            <a:avLst>
              <a:gd name="adj" fmla="val 5000"/>
            </a:avLst>
          </a:prstGeom>
          <a:solidFill>
            <a:srgbClr val="D5D5D5">
              <a:alpha val="22425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1" name="1→n 场景的困境：产品已有基础，需要持续扩展功能、多团队协作、质量基线不能倒退。AI 自由发挥会破坏已有架构，纯手工流程又拖慢速度。四阶十二步在效率和流程之间找到平衡——步骤虽多，但每一步都有明确的输入输出和质量门禁，稳定、有效、可控。"/>
          <p:cNvSpPr txBox="1"/>
          <p:nvPr/>
        </p:nvSpPr>
        <p:spPr>
          <a:xfrm>
            <a:off x="2236257" y="2370058"/>
            <a:ext cx="20246554" cy="833755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61616"/>
                </a:solidFill>
              </a:defRPr>
            </a:pPr>
            <a:r>
              <a:rPr sz="2400" b="1"/>
              <a:t>1→n 场景的困境：</a:t>
            </a:r>
            <a:r>
              <a:rPr sz="2400"/>
              <a:t>产品已有基础，需要持续扩展功能、多团队协作、质量基线不能倒退。AI 自由发挥会破坏已有架构，纯手工流程又拖慢速度。在效率和流程之间找到平衡——</a:t>
            </a:r>
            <a:r>
              <a:rPr sz="2400" b="1"/>
              <a:t>步骤虽多，但每一步都有明确的输入输出和质量门禁，稳定、有效、可控。</a:t>
            </a:r>
            <a:endParaRPr sz="2400" b="1"/>
          </a:p>
        </p:txBody>
      </p:sp>
      <p:sp>
        <p:nvSpPr>
          <p:cNvPr id="252" name="圆角矩形"/>
          <p:cNvSpPr/>
          <p:nvPr>
            <p:custDataLst>
              <p:tags r:id="rId1"/>
            </p:custDataLst>
          </p:nvPr>
        </p:nvSpPr>
        <p:spPr>
          <a:xfrm>
            <a:off x="7159903" y="3777454"/>
            <a:ext cx="4978381" cy="7667146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3175">
            <a:solidFill>
              <a:srgbClr val="929292"/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3" name="圆角矩形"/>
          <p:cNvSpPr/>
          <p:nvPr>
            <p:custDataLst>
              <p:tags r:id="rId2"/>
            </p:custDataLst>
          </p:nvPr>
        </p:nvSpPr>
        <p:spPr>
          <a:xfrm>
            <a:off x="12245716" y="3777454"/>
            <a:ext cx="4978381" cy="7667146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3175">
            <a:solidFill>
              <a:srgbClr val="929292"/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4" name="圆角矩形"/>
          <p:cNvSpPr/>
          <p:nvPr>
            <p:custDataLst>
              <p:tags r:id="rId3"/>
            </p:custDataLst>
          </p:nvPr>
        </p:nvSpPr>
        <p:spPr>
          <a:xfrm>
            <a:off x="17331531" y="3777454"/>
            <a:ext cx="4978381" cy="7667146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3175">
            <a:solidFill>
              <a:srgbClr val="929292"/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257" name="成组"/>
          <p:cNvGrpSpPr/>
          <p:nvPr>
            <p:custDataLst>
              <p:tags r:id="rId4"/>
            </p:custDataLst>
          </p:nvPr>
        </p:nvGrpSpPr>
        <p:grpSpPr>
          <a:xfrm>
            <a:off x="2074088" y="3777454"/>
            <a:ext cx="4978381" cy="7674552"/>
            <a:chOff x="0" y="0"/>
            <a:chExt cx="4978379" cy="7674550"/>
          </a:xfrm>
        </p:grpSpPr>
        <p:sp>
          <p:nvSpPr>
            <p:cNvPr id="255" name="圆角矩形"/>
            <p:cNvSpPr/>
            <p:nvPr>
              <p:custDataLst>
                <p:tags r:id="rId5"/>
              </p:custDataLst>
            </p:nvPr>
          </p:nvSpPr>
          <p:spPr>
            <a:xfrm>
              <a:off x="0" y="7405"/>
              <a:ext cx="4978380" cy="7667146"/>
            </a:xfrm>
            <a:prstGeom prst="roundRect">
              <a:avLst>
                <a:gd name="adj" fmla="val 2392"/>
              </a:avLst>
            </a:prstGeom>
            <a:solidFill>
              <a:srgbClr val="FFFFFF"/>
            </a:solidFill>
            <a:ln w="3175" cap="flat">
              <a:solidFill>
                <a:srgbClr val="929292"/>
              </a:solidFill>
              <a:prstDash val="solid"/>
              <a:miter lim="400000"/>
            </a:ln>
            <a:effectLst/>
          </p:spPr>
          <p:txBody>
            <a:bodyPr wrap="square" lIns="47625" tIns="47625" rIns="47625" bIns="47625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56" name="圆角矩形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4978380" cy="11906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Off val="-13572"/>
              </a:schemeClr>
            </a:solidFill>
            <a:ln w="3175" cap="flat">
              <a:solidFill>
                <a:srgbClr val="929292"/>
              </a:solidFill>
              <a:prstDash val="solid"/>
              <a:miter lim="400000"/>
            </a:ln>
            <a:effectLst/>
          </p:spPr>
          <p:txBody>
            <a:bodyPr wrap="square" lIns="47625" tIns="47625" rIns="47625" bIns="47625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sp>
        <p:nvSpPr>
          <p:cNvPr id="258" name="圆角矩形"/>
          <p:cNvSpPr/>
          <p:nvPr>
            <p:custDataLst>
              <p:tags r:id="rId7"/>
            </p:custDataLst>
          </p:nvPr>
        </p:nvSpPr>
        <p:spPr>
          <a:xfrm>
            <a:off x="7159903" y="3777454"/>
            <a:ext cx="4978381" cy="119063"/>
          </a:xfrm>
          <a:prstGeom prst="roundRect">
            <a:avLst>
              <a:gd name="adj" fmla="val 50000"/>
            </a:avLst>
          </a:prstGeom>
          <a:solidFill>
            <a:schemeClr val="accent2">
              <a:hueOff val="192982"/>
              <a:satOff val="17755"/>
              <a:lumOff val="-28480"/>
              <a:alpha val="73264"/>
            </a:schemeClr>
          </a:solidFill>
          <a:ln w="3175">
            <a:solidFill>
              <a:srgbClr val="929292"/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9" name="圆角矩形"/>
          <p:cNvSpPr/>
          <p:nvPr>
            <p:custDataLst>
              <p:tags r:id="rId8"/>
            </p:custDataLst>
          </p:nvPr>
        </p:nvSpPr>
        <p:spPr>
          <a:xfrm>
            <a:off x="12245716" y="3777454"/>
            <a:ext cx="4978381" cy="119063"/>
          </a:xfrm>
          <a:prstGeom prst="roundRect">
            <a:avLst>
              <a:gd name="adj" fmla="val 50000"/>
            </a:avLst>
          </a:prstGeom>
          <a:solidFill>
            <a:schemeClr val="accent5">
              <a:lumOff val="-29863"/>
            </a:schemeClr>
          </a:solidFill>
          <a:ln w="3175">
            <a:solidFill>
              <a:srgbClr val="929292"/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0" name="圆角矩形"/>
          <p:cNvSpPr/>
          <p:nvPr>
            <p:custDataLst>
              <p:tags r:id="rId9"/>
            </p:custDataLst>
          </p:nvPr>
        </p:nvSpPr>
        <p:spPr>
          <a:xfrm>
            <a:off x="17331531" y="3777454"/>
            <a:ext cx="4978381" cy="119063"/>
          </a:xfrm>
          <a:prstGeom prst="roundRect">
            <a:avLst>
              <a:gd name="adj" fmla="val 50000"/>
            </a:avLst>
          </a:prstGeom>
          <a:solidFill>
            <a:srgbClr val="531B93"/>
          </a:solidFill>
          <a:ln w="3175">
            <a:solidFill>
              <a:srgbClr val="929292"/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1" name="准备"/>
          <p:cNvSpPr txBox="1"/>
          <p:nvPr>
            <p:custDataLst>
              <p:tags r:id="rId10"/>
            </p:custDataLst>
          </p:nvPr>
        </p:nvSpPr>
        <p:spPr>
          <a:xfrm>
            <a:off x="2571762" y="4151707"/>
            <a:ext cx="1784351" cy="8826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marL="558800" indent="-558800" defTabSz="2438400">
              <a:buSzPct val="123000"/>
              <a:buChar char="•"/>
              <a:defRPr sz="4400">
                <a:solidFill>
                  <a:schemeClr val="accent1">
                    <a:lumOff val="-13572"/>
                  </a:schemeClr>
                </a:solidFill>
              </a:defRPr>
            </a:lvl1pPr>
          </a:lstStyle>
          <a:p>
            <a:r>
              <a:t>准备</a:t>
            </a:r>
          </a:p>
        </p:txBody>
      </p:sp>
      <p:sp>
        <p:nvSpPr>
          <p:cNvPr id="262" name="设计"/>
          <p:cNvSpPr txBox="1"/>
          <p:nvPr>
            <p:custDataLst>
              <p:tags r:id="rId11"/>
            </p:custDataLst>
          </p:nvPr>
        </p:nvSpPr>
        <p:spPr>
          <a:xfrm>
            <a:off x="7657576" y="4151707"/>
            <a:ext cx="1784351" cy="8826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marL="558800" indent="-558800" defTabSz="2438400">
              <a:buSzPct val="123000"/>
              <a:buChar char="•"/>
              <a:defRPr sz="4400">
                <a:solidFill>
                  <a:srgbClr val="009051"/>
                </a:solidFill>
              </a:defRPr>
            </a:lvl1pPr>
          </a:lstStyle>
          <a:p>
            <a:r>
              <a:t>设计</a:t>
            </a:r>
          </a:p>
        </p:txBody>
      </p:sp>
      <p:sp>
        <p:nvSpPr>
          <p:cNvPr id="263" name="开发"/>
          <p:cNvSpPr txBox="1"/>
          <p:nvPr>
            <p:custDataLst>
              <p:tags r:id="rId12"/>
            </p:custDataLst>
          </p:nvPr>
        </p:nvSpPr>
        <p:spPr>
          <a:xfrm>
            <a:off x="12743391" y="4151707"/>
            <a:ext cx="1784351" cy="8826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marL="558800" indent="-558800" defTabSz="2438400">
              <a:buSzPct val="123000"/>
              <a:buChar char="•"/>
              <a:defRPr sz="4400">
                <a:solidFill>
                  <a:schemeClr val="accent5">
                    <a:lumOff val="-29863"/>
                  </a:schemeClr>
                </a:solidFill>
              </a:defRPr>
            </a:lvl1pPr>
          </a:lstStyle>
          <a:p>
            <a:r>
              <a:t>开发</a:t>
            </a:r>
          </a:p>
        </p:txBody>
      </p:sp>
      <p:sp>
        <p:nvSpPr>
          <p:cNvPr id="264" name="验证提测"/>
          <p:cNvSpPr txBox="1"/>
          <p:nvPr>
            <p:custDataLst>
              <p:tags r:id="rId13"/>
            </p:custDataLst>
          </p:nvPr>
        </p:nvSpPr>
        <p:spPr>
          <a:xfrm>
            <a:off x="17683599" y="4151707"/>
            <a:ext cx="2901951" cy="8826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marL="558800" indent="-558800" defTabSz="2438400">
              <a:buSzPct val="123000"/>
              <a:buChar char="•"/>
              <a:defRPr sz="4400">
                <a:solidFill>
                  <a:srgbClr val="531B93"/>
                </a:solidFill>
              </a:defRPr>
            </a:lvl1pPr>
          </a:lstStyle>
          <a:p>
            <a:r>
              <a:t>验证提测</a:t>
            </a:r>
          </a:p>
        </p:txBody>
      </p:sp>
      <p:sp>
        <p:nvSpPr>
          <p:cNvPr id="265" name="流程初始化…"/>
          <p:cNvSpPr txBox="1"/>
          <p:nvPr>
            <p:custDataLst>
              <p:tags r:id="rId14"/>
            </p:custDataLst>
          </p:nvPr>
        </p:nvSpPr>
        <p:spPr>
          <a:xfrm>
            <a:off x="2378481" y="6011560"/>
            <a:ext cx="3613151" cy="30162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/>
          <a:p>
            <a:pPr marL="762000" indent="-762000" defTabSz="2438400">
              <a:buSzPct val="100000"/>
              <a:buAutoNum type="circleNumDbPlain"/>
              <a:defRPr sz="3600">
                <a:solidFill>
                  <a:schemeClr val="accent1">
                    <a:lumOff val="-13572"/>
                  </a:schemeClr>
                </a:solidFill>
              </a:defRPr>
            </a:pPr>
            <a:r>
              <a:t>流程初始化</a:t>
            </a:r>
          </a:p>
          <a:p>
            <a:pPr marL="762000" indent="-762000" defTabSz="2438400">
              <a:buSzPct val="100000"/>
              <a:buAutoNum type="circleNumDbPlain"/>
              <a:defRPr sz="3600">
                <a:solidFill>
                  <a:schemeClr val="accent1">
                    <a:lumOff val="-13572"/>
                  </a:schemeClr>
                </a:solidFill>
              </a:defRPr>
            </a:pPr>
            <a:r>
              <a:t>业务需求确认</a:t>
            </a:r>
          </a:p>
          <a:p>
            <a:pPr marL="762000" indent="-762000" defTabSz="2438400">
              <a:buSzPct val="100000"/>
              <a:buAutoNum type="circleNumDbPlain"/>
              <a:defRPr sz="3600">
                <a:solidFill>
                  <a:schemeClr val="accent1">
                    <a:lumOff val="-13572"/>
                  </a:schemeClr>
                </a:solidFill>
              </a:defRPr>
            </a:pPr>
            <a:r>
              <a:t>生成PRD</a:t>
            </a:r>
          </a:p>
        </p:txBody>
      </p:sp>
      <p:sp>
        <p:nvSpPr>
          <p:cNvPr id="266" name="用户故事…"/>
          <p:cNvSpPr txBox="1"/>
          <p:nvPr>
            <p:custDataLst>
              <p:tags r:id="rId15"/>
            </p:custDataLst>
          </p:nvPr>
        </p:nvSpPr>
        <p:spPr>
          <a:xfrm>
            <a:off x="7809185" y="3812868"/>
            <a:ext cx="2698751" cy="514479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/>
          <a:p>
            <a:pPr marL="762000" indent="-762000" defTabSz="2438400">
              <a:buSzPct val="100000"/>
              <a:buAutoNum type="circleNumDbPlain"/>
              <a:defRPr sz="3600">
                <a:solidFill>
                  <a:srgbClr val="009051"/>
                </a:solidFill>
              </a:defRPr>
            </a:pPr>
          </a:p>
          <a:p>
            <a:pPr marL="762000" indent="-762000" defTabSz="2438400">
              <a:buSzPct val="100000"/>
              <a:buAutoNum type="circleNumDbPlain" startAt="2"/>
              <a:defRPr sz="3600">
                <a:solidFill>
                  <a:srgbClr val="009051"/>
                </a:solidFill>
              </a:defRPr>
            </a:pPr>
          </a:p>
          <a:p>
            <a:pPr marL="762000" indent="-762000" defTabSz="2438400">
              <a:buSzPct val="100000"/>
              <a:buAutoNum type="circleNumDbPlain" startAt="3"/>
              <a:defRPr sz="3600">
                <a:solidFill>
                  <a:srgbClr val="009051"/>
                </a:solidFill>
              </a:defRPr>
            </a:pPr>
            <a:r>
              <a:t>用户故事</a:t>
            </a:r>
          </a:p>
          <a:p>
            <a:pPr marL="762000" indent="-762000" defTabSz="2438400">
              <a:buSzPct val="100000"/>
              <a:buAutoNum type="circleNumDbPlain" startAt="3"/>
              <a:defRPr sz="3600">
                <a:solidFill>
                  <a:srgbClr val="009051"/>
                </a:solidFill>
              </a:defRPr>
            </a:pPr>
            <a:r>
              <a:t>技术设计</a:t>
            </a:r>
          </a:p>
          <a:p>
            <a:pPr marL="762000" indent="-762000" defTabSz="2438400">
              <a:buSzPct val="100000"/>
              <a:buAutoNum type="circleNumDbPlain" startAt="3"/>
              <a:defRPr sz="3600">
                <a:solidFill>
                  <a:srgbClr val="009051"/>
                </a:solidFill>
              </a:defRPr>
            </a:pPr>
            <a:r>
              <a:t>验证计划</a:t>
            </a:r>
          </a:p>
        </p:txBody>
      </p:sp>
      <p:sp>
        <p:nvSpPr>
          <p:cNvPr id="267" name="任务拆分…"/>
          <p:cNvSpPr txBox="1"/>
          <p:nvPr>
            <p:custDataLst>
              <p:tags r:id="rId16"/>
            </p:custDataLst>
          </p:nvPr>
        </p:nvSpPr>
        <p:spPr>
          <a:xfrm>
            <a:off x="12978735" y="604129"/>
            <a:ext cx="2698751" cy="8337602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/>
          <a:p>
            <a:pPr marL="762000" indent="-762000" defTabSz="2438400">
              <a:buSzPct val="100000"/>
              <a:buAutoNum type="circleNumDbPlain"/>
              <a:defRPr sz="3600">
                <a:solidFill>
                  <a:srgbClr val="942193"/>
                </a:solidFill>
              </a:defRPr>
            </a:pPr>
          </a:p>
          <a:p>
            <a:pPr marL="762000" indent="-762000" defTabSz="2438400">
              <a:buSzPct val="100000"/>
              <a:buAutoNum type="circleNumDbPlain" startAt="2"/>
              <a:defRPr sz="3600">
                <a:solidFill>
                  <a:srgbClr val="942193"/>
                </a:solidFill>
              </a:defRPr>
            </a:pPr>
          </a:p>
          <a:p>
            <a:pPr marL="762000" indent="-762000" defTabSz="2438400">
              <a:buSzPct val="100000"/>
              <a:buAutoNum type="circleNumDbPlain" startAt="3"/>
              <a:defRPr sz="3600">
                <a:solidFill>
                  <a:srgbClr val="942193"/>
                </a:solidFill>
              </a:defRPr>
            </a:pPr>
          </a:p>
          <a:p>
            <a:pPr marL="762000" indent="-762000" defTabSz="2438400">
              <a:buSzPct val="100000"/>
              <a:buAutoNum type="circleNumDbPlain" startAt="4"/>
              <a:defRPr sz="3600">
                <a:solidFill>
                  <a:srgbClr val="942193"/>
                </a:solidFill>
              </a:defRPr>
            </a:pPr>
          </a:p>
          <a:p>
            <a:pPr marL="762000" indent="-762000" defTabSz="2438400">
              <a:buSzPct val="100000"/>
              <a:buAutoNum type="circleNumDbPlain" startAt="5"/>
              <a:defRPr sz="3600">
                <a:solidFill>
                  <a:srgbClr val="942193"/>
                </a:solidFill>
              </a:defRPr>
            </a:pPr>
          </a:p>
          <a:p>
            <a:pPr marL="762000" indent="-762000" defTabSz="2438400">
              <a:buSzPct val="100000"/>
              <a:buAutoNum type="circleNumDbPlain" startAt="6"/>
              <a:defRPr sz="3600">
                <a:solidFill>
                  <a:schemeClr val="accent5">
                    <a:lumOff val="-29863"/>
                  </a:schemeClr>
                </a:solidFill>
              </a:defRPr>
            </a:pPr>
            <a:r>
              <a:t>任务拆分</a:t>
            </a:r>
          </a:p>
          <a:p>
            <a:pPr marL="762000" indent="-762000" defTabSz="2438400">
              <a:buSzPct val="100000"/>
              <a:buAutoNum type="circleNumDbPlain" startAt="6"/>
              <a:defRPr sz="3600">
                <a:solidFill>
                  <a:schemeClr val="accent5">
                    <a:lumOff val="-29863"/>
                  </a:schemeClr>
                </a:solidFill>
              </a:defRPr>
            </a:pPr>
            <a:r>
              <a:t>执行开发</a:t>
            </a:r>
          </a:p>
          <a:p>
            <a:pPr marL="762000" indent="-762000" defTabSz="2438400">
              <a:buSzPct val="100000"/>
              <a:buAutoNum type="circleNumDbPlain" startAt="6"/>
              <a:defRPr sz="3600">
                <a:solidFill>
                  <a:schemeClr val="accent5">
                    <a:lumOff val="-29863"/>
                  </a:schemeClr>
                </a:solidFill>
              </a:defRPr>
            </a:pPr>
            <a:r>
              <a:t>集成测试</a:t>
            </a:r>
          </a:p>
        </p:txBody>
      </p:sp>
      <p:sp>
        <p:nvSpPr>
          <p:cNvPr id="268" name="任务拆分…"/>
          <p:cNvSpPr txBox="1"/>
          <p:nvPr>
            <p:custDataLst>
              <p:tags r:id="rId17"/>
            </p:custDataLst>
          </p:nvPr>
        </p:nvSpPr>
        <p:spPr>
          <a:xfrm>
            <a:off x="17829204" y="-2537371"/>
            <a:ext cx="2698751" cy="11530412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/>
          <a:p>
            <a:pPr marL="762000" indent="-762000" defTabSz="2438400">
              <a:buSzPct val="100000"/>
              <a:buAutoNum type="circleNumDbPlain"/>
              <a:defRPr sz="3600">
                <a:solidFill>
                  <a:srgbClr val="531B93"/>
                </a:solidFill>
              </a:defRPr>
            </a:pPr>
          </a:p>
          <a:p>
            <a:pPr marL="762000" indent="-762000" defTabSz="2438400">
              <a:buSzPct val="100000"/>
              <a:buAutoNum type="circleNumDbPlain" startAt="2"/>
              <a:defRPr sz="3600">
                <a:solidFill>
                  <a:srgbClr val="531B93"/>
                </a:solidFill>
              </a:defRPr>
            </a:pPr>
          </a:p>
          <a:p>
            <a:pPr marL="762000" indent="-762000" defTabSz="2438400">
              <a:buSzPct val="100000"/>
              <a:buAutoNum type="circleNumDbPlain" startAt="3"/>
              <a:defRPr sz="3600">
                <a:solidFill>
                  <a:srgbClr val="531B93"/>
                </a:solidFill>
              </a:defRPr>
            </a:pPr>
          </a:p>
          <a:p>
            <a:pPr marL="762000" indent="-762000" defTabSz="2438400">
              <a:buSzPct val="100000"/>
              <a:buAutoNum type="circleNumDbPlain" startAt="4"/>
              <a:defRPr sz="3600">
                <a:solidFill>
                  <a:srgbClr val="531B93"/>
                </a:solidFill>
              </a:defRPr>
            </a:pPr>
          </a:p>
          <a:p>
            <a:pPr marL="762000" indent="-762000" defTabSz="2438400">
              <a:buSzPct val="100000"/>
              <a:buAutoNum type="circleNumDbPlain" startAt="5"/>
              <a:defRPr sz="3600">
                <a:solidFill>
                  <a:srgbClr val="531B93"/>
                </a:solidFill>
              </a:defRPr>
            </a:pPr>
          </a:p>
          <a:p>
            <a:pPr marL="762000" indent="-762000" defTabSz="2438400">
              <a:buSzPct val="100000"/>
              <a:buAutoNum type="circleNumDbPlain" startAt="6"/>
              <a:defRPr sz="3600">
                <a:solidFill>
                  <a:srgbClr val="531B93"/>
                </a:solidFill>
              </a:defRPr>
            </a:pPr>
          </a:p>
          <a:p>
            <a:pPr marL="762000" indent="-762000" defTabSz="2438400">
              <a:buSzPct val="100000"/>
              <a:buAutoNum type="circleNumDbPlain" startAt="7"/>
              <a:defRPr sz="3600">
                <a:solidFill>
                  <a:srgbClr val="531B93"/>
                </a:solidFill>
              </a:defRPr>
            </a:pPr>
          </a:p>
          <a:p>
            <a:pPr marL="762000" indent="-762000" defTabSz="2438400">
              <a:buSzPct val="100000"/>
              <a:buAutoNum type="circleNumDbPlain" startAt="8"/>
              <a:defRPr sz="3600">
                <a:solidFill>
                  <a:srgbClr val="531B93"/>
                </a:solidFill>
              </a:defRPr>
            </a:pPr>
          </a:p>
          <a:p>
            <a:pPr marL="762000" indent="-762000" defTabSz="2438400">
              <a:buSzPct val="100000"/>
              <a:buAutoNum type="circleNumDbPlain" startAt="9"/>
              <a:defRPr sz="3600">
                <a:solidFill>
                  <a:srgbClr val="531B93"/>
                </a:solidFill>
              </a:defRPr>
            </a:pPr>
            <a:r>
              <a:t>任务拆分</a:t>
            </a:r>
          </a:p>
          <a:p>
            <a:pPr marL="762000" indent="-762000" defTabSz="2438400">
              <a:buSzPct val="100000"/>
              <a:buAutoNum type="circleNumDbPlain" startAt="9"/>
              <a:defRPr sz="3600">
                <a:solidFill>
                  <a:srgbClr val="531B93"/>
                </a:solidFill>
              </a:defRPr>
            </a:pPr>
            <a:r>
              <a:t>执行开发</a:t>
            </a:r>
          </a:p>
          <a:p>
            <a:pPr marL="762000" indent="-762000" defTabSz="2438400">
              <a:buSzPct val="100000"/>
              <a:buAutoNum type="circleNumDbPlain" startAt="9"/>
              <a:defRPr sz="3600">
                <a:solidFill>
                  <a:srgbClr val="531B93"/>
                </a:solidFill>
              </a:defRPr>
            </a:pPr>
            <a:r>
              <a:t>集成测试</a:t>
            </a:r>
          </a:p>
        </p:txBody>
      </p:sp>
      <p:sp>
        <p:nvSpPr>
          <p:cNvPr id="269" name="圆角矩形"/>
          <p:cNvSpPr/>
          <p:nvPr/>
        </p:nvSpPr>
        <p:spPr>
          <a:xfrm>
            <a:off x="2074088" y="11631758"/>
            <a:ext cx="6689684" cy="1098921"/>
          </a:xfrm>
          <a:prstGeom prst="roundRect">
            <a:avLst>
              <a:gd name="adj" fmla="val 10834"/>
            </a:avLst>
          </a:prstGeom>
          <a:solidFill>
            <a:srgbClr val="FFFFFF"/>
          </a:solidFill>
          <a:ln w="3175">
            <a:solidFill>
              <a:srgbClr val="929292"/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0" name="圆角矩形"/>
          <p:cNvSpPr/>
          <p:nvPr/>
        </p:nvSpPr>
        <p:spPr>
          <a:xfrm>
            <a:off x="8847159" y="11631758"/>
            <a:ext cx="6689683" cy="1098921"/>
          </a:xfrm>
          <a:prstGeom prst="roundRect">
            <a:avLst>
              <a:gd name="adj" fmla="val 10834"/>
            </a:avLst>
          </a:prstGeom>
          <a:solidFill>
            <a:srgbClr val="FFFFFF"/>
          </a:solidFill>
          <a:ln w="3175">
            <a:solidFill>
              <a:srgbClr val="929292"/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1" name="圆角矩形"/>
          <p:cNvSpPr/>
          <p:nvPr/>
        </p:nvSpPr>
        <p:spPr>
          <a:xfrm>
            <a:off x="15620229" y="11631758"/>
            <a:ext cx="6689683" cy="1098921"/>
          </a:xfrm>
          <a:prstGeom prst="roundRect">
            <a:avLst>
              <a:gd name="adj" fmla="val 10834"/>
            </a:avLst>
          </a:prstGeom>
          <a:solidFill>
            <a:srgbClr val="FFFFFF"/>
          </a:solidFill>
          <a:ln w="3175">
            <a:solidFill>
              <a:srgbClr val="929292"/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2" name="稳"/>
          <p:cNvSpPr/>
          <p:nvPr/>
        </p:nvSpPr>
        <p:spPr>
          <a:xfrm>
            <a:off x="2318090" y="11812506"/>
            <a:ext cx="731819" cy="730048"/>
          </a:xfrm>
          <a:prstGeom prst="ellipse">
            <a:avLst/>
          </a:prstGeom>
          <a:solidFill>
            <a:schemeClr val="accent1">
              <a:lumOff val="-13572"/>
            </a:schemeClr>
          </a:solidFill>
          <a:ln w="12700">
            <a:miter lim="400000"/>
          </a:ln>
        </p:spPr>
        <p:txBody>
          <a:bodyPr lIns="47625" tIns="47625" rIns="47625" bIns="47625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稳</a:t>
            </a:r>
          </a:p>
        </p:txBody>
      </p:sp>
      <p:sp>
        <p:nvSpPr>
          <p:cNvPr id="273" name="效"/>
          <p:cNvSpPr/>
          <p:nvPr/>
        </p:nvSpPr>
        <p:spPr>
          <a:xfrm>
            <a:off x="9086452" y="11812506"/>
            <a:ext cx="731818" cy="730048"/>
          </a:xfrm>
          <a:prstGeom prst="ellipse">
            <a:avLst/>
          </a:prstGeom>
          <a:solidFill>
            <a:schemeClr val="accent2">
              <a:hueOff val="-202083"/>
              <a:satOff val="17755"/>
              <a:lumOff val="-16086"/>
            </a:schemeClr>
          </a:solidFill>
          <a:ln w="12700">
            <a:miter lim="400000"/>
          </a:ln>
        </p:spPr>
        <p:txBody>
          <a:bodyPr lIns="47625" tIns="47625" rIns="47625" bIns="47625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效</a:t>
            </a:r>
          </a:p>
        </p:txBody>
      </p:sp>
      <p:sp>
        <p:nvSpPr>
          <p:cNvPr id="274" name="控"/>
          <p:cNvSpPr/>
          <p:nvPr/>
        </p:nvSpPr>
        <p:spPr>
          <a:xfrm>
            <a:off x="15854815" y="11816195"/>
            <a:ext cx="731818" cy="730048"/>
          </a:xfrm>
          <a:prstGeom prst="ellipse">
            <a:avLst/>
          </a:prstGeom>
          <a:solidFill>
            <a:srgbClr val="531B93"/>
          </a:solidFill>
          <a:ln w="12700">
            <a:miter lim="400000"/>
          </a:ln>
        </p:spPr>
        <p:txBody>
          <a:bodyPr lIns="47625" tIns="47625" rIns="47625" bIns="47625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控</a:t>
            </a:r>
          </a:p>
        </p:txBody>
      </p:sp>
      <p:sp>
        <p:nvSpPr>
          <p:cNvPr id="275" name="稳定 — 先规划再动手，需求必须结构化，层层转化不失真"/>
          <p:cNvSpPr txBox="1"/>
          <p:nvPr/>
        </p:nvSpPr>
        <p:spPr>
          <a:xfrm>
            <a:off x="3153493" y="11765293"/>
            <a:ext cx="5300930" cy="8318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600" b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b="0">
              <a:solidFill>
                <a:srgbClr val="525252"/>
              </a:solidFill>
              <a:latin typeface="+mn-lt"/>
              <a:ea typeface="+mn-ea"/>
              <a:cs typeface="+mn-cs"/>
              <a:sym typeface="Helvetica Neue"/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600">
                <a:solidFill>
                  <a:srgbClr val="525252"/>
                </a:solidFill>
              </a:defRPr>
            </a:pPr>
            <a:r>
              <a:rPr b="1">
                <a:solidFill>
                  <a:srgbClr val="161616"/>
                </a:solidFill>
              </a:rPr>
              <a:t>稳定</a:t>
            </a:r>
            <a:r>
              <a:t> — 先规划再动手，需求必须结构化，层层转化不失真</a:t>
            </a:r>
          </a:p>
        </p:txBody>
      </p:sp>
      <p:sp>
        <p:nvSpPr>
          <p:cNvPr id="276" name="有效 — 每步有明确输入/输出/完成标准，AI 有序执行，可追溯"/>
          <p:cNvSpPr txBox="1"/>
          <p:nvPr/>
        </p:nvSpPr>
        <p:spPr>
          <a:xfrm>
            <a:off x="9924208" y="11625593"/>
            <a:ext cx="5584128" cy="11112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600" b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b="0">
              <a:solidFill>
                <a:srgbClr val="525252"/>
              </a:solidFill>
              <a:latin typeface="+mn-lt"/>
              <a:ea typeface="+mn-ea"/>
              <a:cs typeface="+mn-cs"/>
              <a:sym typeface="Helvetica Neue"/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600">
                <a:solidFill>
                  <a:srgbClr val="525252"/>
                </a:solidFill>
              </a:defRPr>
            </a:pPr>
            <a:r>
              <a:rPr b="1">
                <a:solidFill>
                  <a:srgbClr val="161616"/>
                </a:solidFill>
              </a:rPr>
              <a:t>有效</a:t>
            </a:r>
            <a:r>
              <a:t> — 每步有明确输入/输出/完成标准，AI 有序执行，可追溯</a:t>
            </a:r>
          </a:p>
        </p:txBody>
      </p:sp>
      <p:sp>
        <p:nvSpPr>
          <p:cNvPr id="277" name="可控 — TDD 强制先行，单测→集成→E2E→部署逐级质量门禁"/>
          <p:cNvSpPr txBox="1"/>
          <p:nvPr/>
        </p:nvSpPr>
        <p:spPr>
          <a:xfrm>
            <a:off x="16650437" y="11625593"/>
            <a:ext cx="5584128" cy="11112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600" b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b="0">
              <a:solidFill>
                <a:srgbClr val="525252"/>
              </a:solidFill>
              <a:latin typeface="+mn-lt"/>
              <a:ea typeface="+mn-ea"/>
              <a:cs typeface="+mn-cs"/>
              <a:sym typeface="Helvetica Neue"/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600">
                <a:solidFill>
                  <a:srgbClr val="525252"/>
                </a:solidFill>
              </a:defRPr>
            </a:pPr>
            <a:r>
              <a:rPr b="1">
                <a:solidFill>
                  <a:srgbClr val="161616"/>
                </a:solidFill>
              </a:rPr>
              <a:t>可控</a:t>
            </a:r>
            <a:r>
              <a:t> — TDD 强制先行，单测→集成→E2E→部署逐级质量门禁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01准备阶段-让AI进度可控工程现场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974975">
              <a:defRPr sz="6830"/>
            </a:lvl1pPr>
          </a:lstStyle>
          <a:p>
            <a:r>
              <a:t>01准备阶段-让AI进度可控工程现场</a:t>
            </a:r>
          </a:p>
        </p:txBody>
      </p:sp>
      <p:sp>
        <p:nvSpPr>
          <p:cNvPr id="280" name="准备阶段不是“安装插件”，而是建立 AI 可工作的上下文、规则、证据记录和最低工程护栏。没有 Harness、Wiki、测试框架与需求边界，AI 生成越快，返工越多。"/>
          <p:cNvSpPr txBox="1"/>
          <p:nvPr/>
        </p:nvSpPr>
        <p:spPr>
          <a:xfrm>
            <a:off x="2075107" y="2357868"/>
            <a:ext cx="20209723" cy="7302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525252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准备阶段不是“安装插件”，而是建立 AI 可工作的上下文、规则、证据记录和最低工程护栏。没有 Harness、Wiki、测试框架与需求边界，AI 生成越快，返工越多。</a:t>
            </a:r>
          </a:p>
        </p:txBody>
      </p:sp>
      <p:sp>
        <p:nvSpPr>
          <p:cNvPr id="281" name="矩形"/>
          <p:cNvSpPr/>
          <p:nvPr/>
        </p:nvSpPr>
        <p:spPr>
          <a:xfrm>
            <a:off x="2173313" y="3669333"/>
            <a:ext cx="6191251" cy="9384446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>
                <a:hueOff val="114395"/>
                <a:lumOff val="-24972"/>
              </a:schemeClr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2" name="线条"/>
          <p:cNvSpPr/>
          <p:nvPr/>
        </p:nvSpPr>
        <p:spPr>
          <a:xfrm>
            <a:off x="2168285" y="3641364"/>
            <a:ext cx="6203157" cy="1"/>
          </a:xfrm>
          <a:prstGeom prst="line">
            <a:avLst/>
          </a:prstGeom>
          <a:ln w="25400">
            <a:solidFill>
              <a:schemeClr val="accent1">
                <a:lumOff val="-13572"/>
              </a:schemeClr>
            </a:solidFill>
            <a:miter lim="400000"/>
          </a:ln>
        </p:spPr>
        <p:txBody>
          <a:bodyPr lIns="47625" tIns="47625" rIns="47625" bIns="47625" anchor="ctr"/>
          <a:lstStyle/>
          <a:p>
            <a:pPr defTabSz="2438400">
              <a:defRPr sz="4400"/>
            </a:pPr>
          </a:p>
        </p:txBody>
      </p:sp>
      <p:sp>
        <p:nvSpPr>
          <p:cNvPr id="283" name="01 端到端流程初始化"/>
          <p:cNvSpPr txBox="1"/>
          <p:nvPr/>
        </p:nvSpPr>
        <p:spPr>
          <a:xfrm>
            <a:off x="2233264" y="3921072"/>
            <a:ext cx="5432252" cy="8064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marL="554355" indent="-554355" defTabSz="2438400">
              <a:buSzPct val="123000"/>
              <a:buChar char="•"/>
              <a:defRPr sz="4000">
                <a:solidFill>
                  <a:schemeClr val="accent1">
                    <a:lumOff val="-13572"/>
                  </a:schemeClr>
                </a:solidFill>
              </a:defRPr>
            </a:lvl1pPr>
          </a:lstStyle>
          <a:p>
            <a:r>
              <a:t>01 端到端流程初始化</a:t>
            </a:r>
          </a:p>
        </p:txBody>
      </p:sp>
      <p:sp>
        <p:nvSpPr>
          <p:cNvPr id="284" name="矩形"/>
          <p:cNvSpPr/>
          <p:nvPr/>
        </p:nvSpPr>
        <p:spPr>
          <a:xfrm>
            <a:off x="2411167" y="4795198"/>
            <a:ext cx="5713048" cy="2043654"/>
          </a:xfrm>
          <a:prstGeom prst="rect">
            <a:avLst/>
          </a:prstGeom>
          <a:solidFill>
            <a:srgbClr val="005493">
              <a:alpha val="45177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5" name="矩形"/>
          <p:cNvSpPr/>
          <p:nvPr/>
        </p:nvSpPr>
        <p:spPr>
          <a:xfrm>
            <a:off x="2411167" y="4795198"/>
            <a:ext cx="92520" cy="2043654"/>
          </a:xfrm>
          <a:prstGeom prst="rect">
            <a:avLst/>
          </a:prstGeom>
          <a:solidFill>
            <a:srgbClr val="005493">
              <a:alpha val="65768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6" name="任务内容…"/>
          <p:cNvSpPr txBox="1"/>
          <p:nvPr/>
        </p:nvSpPr>
        <p:spPr>
          <a:xfrm>
            <a:off x="2725494" y="5117962"/>
            <a:ext cx="5174011" cy="1645285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任务内容</a:t>
            </a:r>
            <a:endParaRPr b="0">
              <a:solidFill>
                <a:srgbClr val="393939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绑定前端工程</a:t>
            </a:r>
            <a:r>
              <a:rPr lang="zh-CN"/>
              <a:t>，</a:t>
            </a:r>
            <a:r>
              <a:t>配置 Harness + Wiki：流程指引、模板、脚本。导入 TDD、OpenSpec、前端流程 Skills。搭建单元测试和 Playwright 环境。</a:t>
            </a: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绑定后端工程</a:t>
            </a:r>
            <a:r>
              <a:rPr lang="zh-CN"/>
              <a:t>，</a:t>
            </a:r>
            <a:r>
              <a:t>配置 Harness + Wiki</a:t>
            </a:r>
            <a:r>
              <a:rPr lang="zh-CN"/>
              <a:t>：</a:t>
            </a:r>
            <a:r>
              <a:t>导入 TDD、OpenSpec、后端流程 Skills。搭建后端单元测试框架。</a:t>
            </a:r>
          </a:p>
        </p:txBody>
      </p:sp>
      <p:sp>
        <p:nvSpPr>
          <p:cNvPr id="287" name="矩形"/>
          <p:cNvSpPr/>
          <p:nvPr/>
        </p:nvSpPr>
        <p:spPr>
          <a:xfrm>
            <a:off x="2411167" y="6998427"/>
            <a:ext cx="5713048" cy="175021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8" name="矩形"/>
          <p:cNvSpPr/>
          <p:nvPr/>
        </p:nvSpPr>
        <p:spPr>
          <a:xfrm>
            <a:off x="2411167" y="6998427"/>
            <a:ext cx="92520" cy="1750219"/>
          </a:xfrm>
          <a:prstGeom prst="rect">
            <a:avLst/>
          </a:prstGeom>
          <a:solidFill>
            <a:srgbClr val="A9A9A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9" name="交付物…"/>
          <p:cNvSpPr txBox="1"/>
          <p:nvPr/>
        </p:nvSpPr>
        <p:spPr>
          <a:xfrm>
            <a:off x="2725494" y="6959771"/>
            <a:ext cx="5084393" cy="182753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交付物</a:t>
            </a: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delivery-state.md。前端 Harness。前端 Wiki。测试框架。Playwright 环境。业务需求输入文件。backend-harness。backend-wiki。</a:t>
            </a:r>
          </a:p>
        </p:txBody>
      </p:sp>
      <p:sp>
        <p:nvSpPr>
          <p:cNvPr id="290" name="矩形"/>
          <p:cNvSpPr/>
          <p:nvPr/>
        </p:nvSpPr>
        <p:spPr>
          <a:xfrm>
            <a:off x="2411167" y="8975139"/>
            <a:ext cx="5713048" cy="1747616"/>
          </a:xfrm>
          <a:prstGeom prst="rect">
            <a:avLst/>
          </a:prstGeom>
          <a:solidFill>
            <a:srgbClr val="FF7E79">
              <a:alpha val="19110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1" name="矩形"/>
          <p:cNvSpPr/>
          <p:nvPr/>
        </p:nvSpPr>
        <p:spPr>
          <a:xfrm>
            <a:off x="2411167" y="8973837"/>
            <a:ext cx="92520" cy="1750220"/>
          </a:xfrm>
          <a:prstGeom prst="rect">
            <a:avLst/>
          </a:prstGeom>
          <a:solidFill>
            <a:srgbClr val="FF7E7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2" name="门禁…"/>
          <p:cNvSpPr txBox="1"/>
          <p:nvPr/>
        </p:nvSpPr>
        <p:spPr>
          <a:xfrm>
            <a:off x="2750334" y="9217121"/>
            <a:ext cx="5034715" cy="12636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门禁</a:t>
            </a:r>
            <a:endParaRPr b="0">
              <a:solidFill>
                <a:srgbClr val="A2191F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A2191F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状态表必须包含每步状态、输入、输出、阻塞项；没有测试环境，不进入需求实现。</a:t>
            </a:r>
          </a:p>
        </p:txBody>
      </p:sp>
      <p:sp>
        <p:nvSpPr>
          <p:cNvPr id="293" name="矩形"/>
          <p:cNvSpPr/>
          <p:nvPr/>
        </p:nvSpPr>
        <p:spPr>
          <a:xfrm>
            <a:off x="2411167" y="10951850"/>
            <a:ext cx="5713048" cy="1747616"/>
          </a:xfrm>
          <a:prstGeom prst="rect">
            <a:avLst/>
          </a:prstGeom>
          <a:solidFill>
            <a:srgbClr val="005493">
              <a:alpha val="17468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4" name="矩形"/>
          <p:cNvSpPr/>
          <p:nvPr/>
        </p:nvSpPr>
        <p:spPr>
          <a:xfrm>
            <a:off x="2411167" y="10950549"/>
            <a:ext cx="92520" cy="1750220"/>
          </a:xfrm>
          <a:prstGeom prst="rect">
            <a:avLst/>
          </a:prstGeom>
          <a:solidFill>
            <a:srgbClr val="005493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5" name="检查要点…"/>
          <p:cNvSpPr txBox="1"/>
          <p:nvPr/>
        </p:nvSpPr>
        <p:spPr>
          <a:xfrm>
            <a:off x="2750334" y="11232984"/>
            <a:ext cx="5034715" cy="9588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检查要点</a:t>
            </a:r>
            <a:endParaRPr b="0">
              <a:solidFill>
                <a:srgbClr val="002D9C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002D9C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确认知识库内容正确、脚本可执行、仓库权限完整、AI 工作规则和证据写回位置清晰。</a:t>
            </a:r>
          </a:p>
        </p:txBody>
      </p:sp>
      <p:sp>
        <p:nvSpPr>
          <p:cNvPr id="296" name="矩形"/>
          <p:cNvSpPr/>
          <p:nvPr/>
        </p:nvSpPr>
        <p:spPr>
          <a:xfrm>
            <a:off x="9097159" y="3665267"/>
            <a:ext cx="6191251" cy="9384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>
                <a:hueOff val="114395"/>
                <a:lumOff val="-24972"/>
              </a:schemeClr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7" name="线条"/>
          <p:cNvSpPr/>
          <p:nvPr/>
        </p:nvSpPr>
        <p:spPr>
          <a:xfrm>
            <a:off x="9092131" y="3637298"/>
            <a:ext cx="6203158" cy="1"/>
          </a:xfrm>
          <a:prstGeom prst="line">
            <a:avLst/>
          </a:prstGeom>
          <a:ln w="25400">
            <a:solidFill>
              <a:schemeClr val="accent1">
                <a:lumOff val="-13572"/>
              </a:schemeClr>
            </a:solidFill>
            <a:miter lim="400000"/>
          </a:ln>
        </p:spPr>
        <p:txBody>
          <a:bodyPr lIns="47625" tIns="47625" rIns="47625" bIns="47625" anchor="ctr"/>
          <a:lstStyle/>
          <a:p>
            <a:pPr defTabSz="2438400">
              <a:defRPr sz="4400"/>
            </a:pPr>
          </a:p>
        </p:txBody>
      </p:sp>
      <p:sp>
        <p:nvSpPr>
          <p:cNvPr id="298" name="02 业务需求确认"/>
          <p:cNvSpPr txBox="1"/>
          <p:nvPr/>
        </p:nvSpPr>
        <p:spPr>
          <a:xfrm>
            <a:off x="9335013" y="3921072"/>
            <a:ext cx="4416252" cy="8064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marL="554355" indent="-554355" defTabSz="2438400">
              <a:buSzPct val="123000"/>
              <a:buChar char="•"/>
              <a:defRPr sz="4000">
                <a:solidFill>
                  <a:schemeClr val="accent1">
                    <a:lumOff val="-13572"/>
                  </a:schemeClr>
                </a:solidFill>
              </a:defRPr>
            </a:lvl1pPr>
          </a:lstStyle>
          <a:p>
            <a:r>
              <a:t>02 业务需求确认</a:t>
            </a:r>
          </a:p>
        </p:txBody>
      </p:sp>
      <p:sp>
        <p:nvSpPr>
          <p:cNvPr id="299" name="矩形"/>
          <p:cNvSpPr/>
          <p:nvPr/>
        </p:nvSpPr>
        <p:spPr>
          <a:xfrm>
            <a:off x="9335013" y="4791131"/>
            <a:ext cx="5713048" cy="2043654"/>
          </a:xfrm>
          <a:prstGeom prst="rect">
            <a:avLst/>
          </a:prstGeom>
          <a:solidFill>
            <a:srgbClr val="005493">
              <a:alpha val="45177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0" name="矩形"/>
          <p:cNvSpPr/>
          <p:nvPr/>
        </p:nvSpPr>
        <p:spPr>
          <a:xfrm>
            <a:off x="9335013" y="4791131"/>
            <a:ext cx="92520" cy="2043654"/>
          </a:xfrm>
          <a:prstGeom prst="rect">
            <a:avLst/>
          </a:prstGeom>
          <a:solidFill>
            <a:srgbClr val="005493">
              <a:alpha val="65768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1" name="任务内容…"/>
          <p:cNvSpPr txBox="1"/>
          <p:nvPr/>
        </p:nvSpPr>
        <p:spPr>
          <a:xfrm>
            <a:off x="9679321" y="5181132"/>
            <a:ext cx="4553422" cy="1263652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任务内容</a:t>
            </a:r>
            <a:endParaRPr b="0">
              <a:solidFill>
                <a:srgbClr val="393939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业务需求确认：生成需求登记，明确范围、约束和验收场景。需求确认和软需生成。</a:t>
            </a:r>
          </a:p>
        </p:txBody>
      </p:sp>
      <p:sp>
        <p:nvSpPr>
          <p:cNvPr id="302" name="矩形"/>
          <p:cNvSpPr/>
          <p:nvPr/>
        </p:nvSpPr>
        <p:spPr>
          <a:xfrm>
            <a:off x="9335013" y="6994361"/>
            <a:ext cx="5713048" cy="175022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3" name="矩形"/>
          <p:cNvSpPr/>
          <p:nvPr/>
        </p:nvSpPr>
        <p:spPr>
          <a:xfrm>
            <a:off x="9335013" y="6994361"/>
            <a:ext cx="92520" cy="1750220"/>
          </a:xfrm>
          <a:prstGeom prst="rect">
            <a:avLst/>
          </a:prstGeom>
          <a:solidFill>
            <a:srgbClr val="A9A9A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4" name="交付物…"/>
          <p:cNvSpPr txBox="1"/>
          <p:nvPr/>
        </p:nvSpPr>
        <p:spPr>
          <a:xfrm>
            <a:off x="9649341" y="7108105"/>
            <a:ext cx="5084393" cy="152273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交付物</a:t>
            </a:r>
            <a:endParaRPr b="0">
              <a:solidFill>
                <a:srgbClr val="393939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requirements-register.md、需求范围清单、业务规则、验收场景清单、边界与约束记录。</a:t>
            </a:r>
          </a:p>
        </p:txBody>
      </p:sp>
      <p:sp>
        <p:nvSpPr>
          <p:cNvPr id="305" name="矩形"/>
          <p:cNvSpPr/>
          <p:nvPr/>
        </p:nvSpPr>
        <p:spPr>
          <a:xfrm>
            <a:off x="9335013" y="8971072"/>
            <a:ext cx="5713048" cy="1747616"/>
          </a:xfrm>
          <a:prstGeom prst="rect">
            <a:avLst/>
          </a:prstGeom>
          <a:solidFill>
            <a:srgbClr val="FF7E79">
              <a:alpha val="19110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6" name="矩形"/>
          <p:cNvSpPr/>
          <p:nvPr/>
        </p:nvSpPr>
        <p:spPr>
          <a:xfrm>
            <a:off x="9335013" y="8969771"/>
            <a:ext cx="92520" cy="1750219"/>
          </a:xfrm>
          <a:prstGeom prst="rect">
            <a:avLst/>
          </a:prstGeom>
          <a:solidFill>
            <a:srgbClr val="FF7E7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7" name="门禁…"/>
          <p:cNvSpPr txBox="1"/>
          <p:nvPr/>
        </p:nvSpPr>
        <p:spPr>
          <a:xfrm>
            <a:off x="9674180" y="9213056"/>
            <a:ext cx="5034715" cy="12636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门禁</a:t>
            </a:r>
            <a:endParaRPr b="0">
              <a:solidFill>
                <a:srgbClr val="A2191F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A2191F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需求边界不清、业务规则未确认、验收场景不可追溯，不进入 PRD/软需生成。</a:t>
            </a:r>
          </a:p>
        </p:txBody>
      </p:sp>
      <p:sp>
        <p:nvSpPr>
          <p:cNvPr id="308" name="矩形"/>
          <p:cNvSpPr/>
          <p:nvPr/>
        </p:nvSpPr>
        <p:spPr>
          <a:xfrm>
            <a:off x="9335013" y="10947785"/>
            <a:ext cx="5713048" cy="1747616"/>
          </a:xfrm>
          <a:prstGeom prst="rect">
            <a:avLst/>
          </a:prstGeom>
          <a:solidFill>
            <a:srgbClr val="005493">
              <a:alpha val="17468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9" name="矩形"/>
          <p:cNvSpPr/>
          <p:nvPr/>
        </p:nvSpPr>
        <p:spPr>
          <a:xfrm>
            <a:off x="9335013" y="10946483"/>
            <a:ext cx="92520" cy="1750219"/>
          </a:xfrm>
          <a:prstGeom prst="rect">
            <a:avLst/>
          </a:prstGeom>
          <a:solidFill>
            <a:srgbClr val="005493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0" name="检查要点…"/>
          <p:cNvSpPr txBox="1"/>
          <p:nvPr/>
        </p:nvSpPr>
        <p:spPr>
          <a:xfrm>
            <a:off x="9674180" y="11228918"/>
            <a:ext cx="5034715" cy="9588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检查要点</a:t>
            </a:r>
            <a:endParaRPr b="0">
              <a:solidFill>
                <a:srgbClr val="002D9C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002D9C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确认需求理解无偏差、边界清晰、前后端共享同一套验收语言。</a:t>
            </a:r>
          </a:p>
        </p:txBody>
      </p:sp>
      <p:sp>
        <p:nvSpPr>
          <p:cNvPr id="311" name="矩形"/>
          <p:cNvSpPr/>
          <p:nvPr/>
        </p:nvSpPr>
        <p:spPr>
          <a:xfrm>
            <a:off x="16018510" y="3688181"/>
            <a:ext cx="6191252" cy="9384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>
                <a:hueOff val="114395"/>
                <a:lumOff val="-24972"/>
              </a:schemeClr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2" name="线条"/>
          <p:cNvSpPr/>
          <p:nvPr/>
        </p:nvSpPr>
        <p:spPr>
          <a:xfrm>
            <a:off x="16013483" y="3660212"/>
            <a:ext cx="6203157" cy="1"/>
          </a:xfrm>
          <a:prstGeom prst="line">
            <a:avLst/>
          </a:prstGeom>
          <a:ln w="25400">
            <a:solidFill>
              <a:schemeClr val="accent1">
                <a:lumOff val="-13572"/>
              </a:schemeClr>
            </a:solidFill>
            <a:miter lim="400000"/>
          </a:ln>
        </p:spPr>
        <p:txBody>
          <a:bodyPr lIns="47625" tIns="47625" rIns="47625" bIns="47625" anchor="ctr"/>
          <a:lstStyle/>
          <a:p>
            <a:pPr defTabSz="2438400">
              <a:defRPr sz="4400"/>
            </a:pPr>
          </a:p>
        </p:txBody>
      </p:sp>
      <p:sp>
        <p:nvSpPr>
          <p:cNvPr id="313" name="03 软件需求文档生成"/>
          <p:cNvSpPr txBox="1"/>
          <p:nvPr/>
        </p:nvSpPr>
        <p:spPr>
          <a:xfrm>
            <a:off x="16256364" y="3845810"/>
            <a:ext cx="5432253" cy="8064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marL="554355" indent="-554355" defTabSz="2438400">
              <a:buSzPct val="123000"/>
              <a:buChar char="•"/>
              <a:defRPr sz="4000">
                <a:solidFill>
                  <a:schemeClr val="accent1">
                    <a:lumOff val="-13572"/>
                  </a:schemeClr>
                </a:solidFill>
              </a:defRPr>
            </a:lvl1pPr>
          </a:lstStyle>
          <a:p>
            <a:r>
              <a:t>03 软件需求文档生成</a:t>
            </a:r>
          </a:p>
        </p:txBody>
      </p:sp>
      <p:sp>
        <p:nvSpPr>
          <p:cNvPr id="314" name="矩形"/>
          <p:cNvSpPr/>
          <p:nvPr/>
        </p:nvSpPr>
        <p:spPr>
          <a:xfrm>
            <a:off x="16256364" y="4814044"/>
            <a:ext cx="5713049" cy="2043655"/>
          </a:xfrm>
          <a:prstGeom prst="rect">
            <a:avLst/>
          </a:prstGeom>
          <a:solidFill>
            <a:srgbClr val="005493">
              <a:alpha val="45177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5" name="矩形"/>
          <p:cNvSpPr/>
          <p:nvPr/>
        </p:nvSpPr>
        <p:spPr>
          <a:xfrm>
            <a:off x="16256364" y="4814044"/>
            <a:ext cx="92521" cy="2043655"/>
          </a:xfrm>
          <a:prstGeom prst="rect">
            <a:avLst/>
          </a:prstGeom>
          <a:solidFill>
            <a:srgbClr val="005493">
              <a:alpha val="65768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6" name="任务内容…"/>
          <p:cNvSpPr txBox="1"/>
          <p:nvPr/>
        </p:nvSpPr>
        <p:spPr>
          <a:xfrm>
            <a:off x="16600671" y="5356446"/>
            <a:ext cx="4553422" cy="9588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任务内容</a:t>
            </a:r>
            <a:endParaRPr b="0">
              <a:solidFill>
                <a:srgbClr val="393939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软需生成：把业务语言转成产品和技术可理解的定义。</a:t>
            </a:r>
          </a:p>
        </p:txBody>
      </p:sp>
      <p:sp>
        <p:nvSpPr>
          <p:cNvPr id="317" name="矩形"/>
          <p:cNvSpPr/>
          <p:nvPr/>
        </p:nvSpPr>
        <p:spPr>
          <a:xfrm>
            <a:off x="16256364" y="7017275"/>
            <a:ext cx="5713049" cy="175022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8" name="矩形"/>
          <p:cNvSpPr/>
          <p:nvPr/>
        </p:nvSpPr>
        <p:spPr>
          <a:xfrm>
            <a:off x="16256364" y="7017275"/>
            <a:ext cx="92521" cy="1750220"/>
          </a:xfrm>
          <a:prstGeom prst="rect">
            <a:avLst/>
          </a:prstGeom>
          <a:solidFill>
            <a:srgbClr val="A9A9A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9" name="交付物…"/>
          <p:cNvSpPr txBox="1"/>
          <p:nvPr/>
        </p:nvSpPr>
        <p:spPr>
          <a:xfrm>
            <a:off x="16570693" y="7148879"/>
            <a:ext cx="5084393" cy="152273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交付物</a:t>
            </a:r>
            <a:endParaRPr b="0">
              <a:solidFill>
                <a:srgbClr val="393939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software-requirements.md / prd.md、功能清单、非功能约束、验收口径、协作前提。</a:t>
            </a:r>
          </a:p>
        </p:txBody>
      </p:sp>
      <p:sp>
        <p:nvSpPr>
          <p:cNvPr id="320" name="矩形"/>
          <p:cNvSpPr/>
          <p:nvPr/>
        </p:nvSpPr>
        <p:spPr>
          <a:xfrm>
            <a:off x="16256364" y="8993986"/>
            <a:ext cx="5713049" cy="1747616"/>
          </a:xfrm>
          <a:prstGeom prst="rect">
            <a:avLst/>
          </a:prstGeom>
          <a:solidFill>
            <a:srgbClr val="FF7E79">
              <a:alpha val="19110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1" name="矩形"/>
          <p:cNvSpPr/>
          <p:nvPr/>
        </p:nvSpPr>
        <p:spPr>
          <a:xfrm>
            <a:off x="16256364" y="8992685"/>
            <a:ext cx="92521" cy="1750219"/>
          </a:xfrm>
          <a:prstGeom prst="rect">
            <a:avLst/>
          </a:prstGeom>
          <a:solidFill>
            <a:srgbClr val="FF7E7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2" name="门禁…"/>
          <p:cNvSpPr txBox="1"/>
          <p:nvPr/>
        </p:nvSpPr>
        <p:spPr>
          <a:xfrm>
            <a:off x="16595531" y="9235968"/>
            <a:ext cx="5034714" cy="12636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门禁</a:t>
            </a:r>
            <a:endParaRPr b="0">
              <a:solidFill>
                <a:srgbClr val="A2191F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A2191F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规格未经确认不得进入用户故事；不能依赖对话记忆继续推进，必须文件化。</a:t>
            </a:r>
          </a:p>
        </p:txBody>
      </p:sp>
      <p:sp>
        <p:nvSpPr>
          <p:cNvPr id="323" name="矩形"/>
          <p:cNvSpPr/>
          <p:nvPr/>
        </p:nvSpPr>
        <p:spPr>
          <a:xfrm>
            <a:off x="16256364" y="10970697"/>
            <a:ext cx="5713049" cy="1747616"/>
          </a:xfrm>
          <a:prstGeom prst="rect">
            <a:avLst/>
          </a:prstGeom>
          <a:solidFill>
            <a:srgbClr val="005493">
              <a:alpha val="17468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4" name="矩形"/>
          <p:cNvSpPr/>
          <p:nvPr/>
        </p:nvSpPr>
        <p:spPr>
          <a:xfrm>
            <a:off x="16256364" y="10969396"/>
            <a:ext cx="92521" cy="1750220"/>
          </a:xfrm>
          <a:prstGeom prst="rect">
            <a:avLst/>
          </a:prstGeom>
          <a:solidFill>
            <a:srgbClr val="005493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5" name="检查要点…"/>
          <p:cNvSpPr txBox="1"/>
          <p:nvPr/>
        </p:nvSpPr>
        <p:spPr>
          <a:xfrm>
            <a:off x="16595531" y="11251831"/>
            <a:ext cx="5034714" cy="9588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检查要点</a:t>
            </a:r>
            <a:endParaRPr b="0">
              <a:solidFill>
                <a:srgbClr val="002D9C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002D9C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审核范围、优先级、验收语言、风险接受边界和是否适合进入 AI-Native 流程。</a:t>
            </a:r>
          </a:p>
        </p:txBody>
      </p:sp>
      <p:sp>
        <p:nvSpPr>
          <p:cNvPr id="326" name="阶段目标 ——让前端、后端、测试、AI 使用同一份业务输入和流程状态，明确“当前做什么、输入是什么、输出写到哪里、阻塞项是什么”。"/>
          <p:cNvSpPr txBox="1"/>
          <p:nvPr/>
        </p:nvSpPr>
        <p:spPr>
          <a:xfrm>
            <a:off x="2143834" y="3105441"/>
            <a:ext cx="14254537" cy="4127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defTabSz="457200">
              <a:lnSpc>
                <a:spcPct val="100000"/>
              </a:lnSpc>
              <a:spcBef>
                <a:spcPts val="1300"/>
              </a:spcBef>
              <a:defRPr sz="1800">
                <a:solidFill>
                  <a:schemeClr val="accent1">
                    <a:lumOff val="-13572"/>
                  </a:schemeClr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阶段目标 ——让前端、后端、测试、AI 使用同一份业务输入和流程状态，明确“当前做什么、输入是什么、输出写到哪里、阻塞项是什么”。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02 设计阶段-先定义如何证明完成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974975">
              <a:defRPr sz="6830"/>
            </a:lvl1pPr>
          </a:lstStyle>
          <a:p>
            <a:r>
              <a:t>02 设计阶段-先定义如何证明完成</a:t>
            </a:r>
          </a:p>
        </p:txBody>
      </p:sp>
      <p:sp>
        <p:nvSpPr>
          <p:cNvPr id="329" name="设计阶段的核心是把“AI 觉得做完了”改成“验收条件证明做完了”。设计和验证计划必须先于编码，架构边界和测试边界必须被人审核。"/>
          <p:cNvSpPr txBox="1"/>
          <p:nvPr/>
        </p:nvSpPr>
        <p:spPr>
          <a:xfrm>
            <a:off x="2155999" y="2097966"/>
            <a:ext cx="16697943" cy="7302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525252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设计阶段的核心是把“AI 觉得做完了”改成“验收条件证明做完了”。设计和验证计划必须先于编码，架构边界和测试边界必须被人审核。</a:t>
            </a:r>
          </a:p>
        </p:txBody>
      </p:sp>
      <p:sp>
        <p:nvSpPr>
          <p:cNvPr id="330" name="矩形"/>
          <p:cNvSpPr/>
          <p:nvPr/>
        </p:nvSpPr>
        <p:spPr>
          <a:xfrm>
            <a:off x="2173313" y="3491371"/>
            <a:ext cx="6191251" cy="9384446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2">
                <a:hueOff val="192982"/>
                <a:satOff val="17755"/>
                <a:lumOff val="-28480"/>
              </a:schemeClr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1" name="线条"/>
          <p:cNvSpPr/>
          <p:nvPr/>
        </p:nvSpPr>
        <p:spPr>
          <a:xfrm>
            <a:off x="2168285" y="3463403"/>
            <a:ext cx="6203157" cy="1"/>
          </a:xfrm>
          <a:prstGeom prst="line">
            <a:avLst/>
          </a:prstGeom>
          <a:ln w="25400">
            <a:solidFill>
              <a:schemeClr val="accent2">
                <a:hueOff val="-202083"/>
                <a:satOff val="17755"/>
                <a:lumOff val="-16086"/>
              </a:schemeClr>
            </a:solidFill>
            <a:miter lim="400000"/>
          </a:ln>
        </p:spPr>
        <p:txBody>
          <a:bodyPr lIns="47625" tIns="47625" rIns="47625" bIns="47625" anchor="ctr"/>
          <a:lstStyle/>
          <a:p>
            <a:pPr defTabSz="2438400">
              <a:defRPr sz="4400"/>
            </a:pPr>
          </a:p>
        </p:txBody>
      </p:sp>
      <p:sp>
        <p:nvSpPr>
          <p:cNvPr id="332" name="04 生成用户故事"/>
          <p:cNvSpPr txBox="1"/>
          <p:nvPr/>
        </p:nvSpPr>
        <p:spPr>
          <a:xfrm>
            <a:off x="2381528" y="3637715"/>
            <a:ext cx="4416252" cy="8064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marL="554355" indent="-554355" defTabSz="2438400">
              <a:buSzPct val="123000"/>
              <a:buChar char="•"/>
              <a:defRPr sz="4000">
                <a:solidFill>
                  <a:schemeClr val="accent2">
                    <a:hueOff val="192982"/>
                    <a:satOff val="17755"/>
                    <a:lumOff val="-28480"/>
                  </a:schemeClr>
                </a:solidFill>
              </a:defRPr>
            </a:lvl1pPr>
          </a:lstStyle>
          <a:p>
            <a:r>
              <a:t>04 生成用户故事</a:t>
            </a:r>
          </a:p>
        </p:txBody>
      </p:sp>
      <p:sp>
        <p:nvSpPr>
          <p:cNvPr id="333" name="矩形"/>
          <p:cNvSpPr/>
          <p:nvPr/>
        </p:nvSpPr>
        <p:spPr>
          <a:xfrm>
            <a:off x="2411167" y="4617235"/>
            <a:ext cx="5713048" cy="2043655"/>
          </a:xfrm>
          <a:prstGeom prst="rect">
            <a:avLst/>
          </a:prstGeom>
          <a:solidFill>
            <a:srgbClr val="4F8F00">
              <a:alpha val="31299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4" name="矩形"/>
          <p:cNvSpPr/>
          <p:nvPr/>
        </p:nvSpPr>
        <p:spPr>
          <a:xfrm>
            <a:off x="2411167" y="4617235"/>
            <a:ext cx="92520" cy="2043655"/>
          </a:xfrm>
          <a:prstGeom prst="rect">
            <a:avLst/>
          </a:prstGeom>
          <a:solidFill>
            <a:srgbClr val="4F8F00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5" name="任务内容…"/>
          <p:cNvSpPr txBox="1"/>
          <p:nvPr/>
        </p:nvSpPr>
        <p:spPr>
          <a:xfrm>
            <a:off x="2755475" y="5007237"/>
            <a:ext cx="4553421" cy="12636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任务内容</a:t>
            </a:r>
            <a:endParaRPr b="0">
              <a:solidFill>
                <a:srgbClr val="393939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用 Given/When/Then 拆解主流程、异常场景、空态和边界态；建立 UI/UX/UE 设计稿与用户故事覆盖关系。</a:t>
            </a:r>
          </a:p>
        </p:txBody>
      </p:sp>
      <p:sp>
        <p:nvSpPr>
          <p:cNvPr id="336" name="矩形"/>
          <p:cNvSpPr/>
          <p:nvPr/>
        </p:nvSpPr>
        <p:spPr>
          <a:xfrm>
            <a:off x="2411167" y="6820465"/>
            <a:ext cx="5713048" cy="175022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7" name="矩形"/>
          <p:cNvSpPr/>
          <p:nvPr/>
        </p:nvSpPr>
        <p:spPr>
          <a:xfrm>
            <a:off x="2411167" y="6820465"/>
            <a:ext cx="92520" cy="1750220"/>
          </a:xfrm>
          <a:prstGeom prst="rect">
            <a:avLst/>
          </a:prstGeom>
          <a:solidFill>
            <a:srgbClr val="A9A9A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8" name="交付物…"/>
          <p:cNvSpPr txBox="1"/>
          <p:nvPr/>
        </p:nvSpPr>
        <p:spPr>
          <a:xfrm>
            <a:off x="2725494" y="6934210"/>
            <a:ext cx="5084393" cy="152273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交付物</a:t>
            </a: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user-stories.md、验收场景矩阵、UI/UX/UE 设计稿、异常/边界场景。</a:t>
            </a:r>
          </a:p>
        </p:txBody>
      </p:sp>
      <p:sp>
        <p:nvSpPr>
          <p:cNvPr id="339" name="矩形"/>
          <p:cNvSpPr/>
          <p:nvPr/>
        </p:nvSpPr>
        <p:spPr>
          <a:xfrm>
            <a:off x="2411167" y="8797178"/>
            <a:ext cx="5713048" cy="1747616"/>
          </a:xfrm>
          <a:prstGeom prst="rect">
            <a:avLst/>
          </a:prstGeom>
          <a:solidFill>
            <a:srgbClr val="FF7E79">
              <a:alpha val="19110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0" name="矩形"/>
          <p:cNvSpPr/>
          <p:nvPr/>
        </p:nvSpPr>
        <p:spPr>
          <a:xfrm>
            <a:off x="2411167" y="8795875"/>
            <a:ext cx="92520" cy="1750220"/>
          </a:xfrm>
          <a:prstGeom prst="rect">
            <a:avLst/>
          </a:prstGeom>
          <a:solidFill>
            <a:srgbClr val="FF7E7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1" name="门禁…"/>
          <p:cNvSpPr txBox="1"/>
          <p:nvPr/>
        </p:nvSpPr>
        <p:spPr>
          <a:xfrm>
            <a:off x="2750334" y="9039160"/>
            <a:ext cx="5034715" cy="12636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门禁</a:t>
            </a:r>
            <a:endParaRPr b="0">
              <a:solidFill>
                <a:srgbClr val="A2191F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A2191F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故事粒度过大、缺异常/边界场景、无法测试或设计稿覆盖不足，不进入技术设计。</a:t>
            </a:r>
          </a:p>
        </p:txBody>
      </p:sp>
      <p:sp>
        <p:nvSpPr>
          <p:cNvPr id="342" name="矩形"/>
          <p:cNvSpPr/>
          <p:nvPr/>
        </p:nvSpPr>
        <p:spPr>
          <a:xfrm>
            <a:off x="2411167" y="10773888"/>
            <a:ext cx="5713048" cy="1747616"/>
          </a:xfrm>
          <a:prstGeom prst="rect">
            <a:avLst/>
          </a:prstGeom>
          <a:solidFill>
            <a:srgbClr val="005493">
              <a:alpha val="17468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3" name="矩形"/>
          <p:cNvSpPr/>
          <p:nvPr/>
        </p:nvSpPr>
        <p:spPr>
          <a:xfrm>
            <a:off x="2411167" y="10772587"/>
            <a:ext cx="92520" cy="1750220"/>
          </a:xfrm>
          <a:prstGeom prst="rect">
            <a:avLst/>
          </a:prstGeom>
          <a:solidFill>
            <a:srgbClr val="005493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4" name="检查要点…"/>
          <p:cNvSpPr txBox="1"/>
          <p:nvPr/>
        </p:nvSpPr>
        <p:spPr>
          <a:xfrm>
            <a:off x="2750334" y="11055023"/>
            <a:ext cx="5034715" cy="9588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检查要点</a:t>
            </a:r>
            <a:endParaRPr b="0">
              <a:solidFill>
                <a:srgbClr val="002D9C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002D9C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审核故事粒度、验收标准、业务规则映射，以及设计稿是否覆盖主流程、异常态、空态和边界态。</a:t>
            </a:r>
          </a:p>
        </p:txBody>
      </p:sp>
      <p:sp>
        <p:nvSpPr>
          <p:cNvPr id="345" name="矩形"/>
          <p:cNvSpPr/>
          <p:nvPr/>
        </p:nvSpPr>
        <p:spPr>
          <a:xfrm>
            <a:off x="9097159" y="3487304"/>
            <a:ext cx="6191251" cy="9384446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2">
                <a:hueOff val="192982"/>
                <a:satOff val="17755"/>
                <a:lumOff val="-28480"/>
              </a:schemeClr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6" name="线条"/>
          <p:cNvSpPr/>
          <p:nvPr/>
        </p:nvSpPr>
        <p:spPr>
          <a:xfrm>
            <a:off x="9092131" y="3459336"/>
            <a:ext cx="6203158" cy="1"/>
          </a:xfrm>
          <a:prstGeom prst="line">
            <a:avLst/>
          </a:prstGeom>
          <a:ln w="25400">
            <a:solidFill>
              <a:schemeClr val="accent2">
                <a:hueOff val="-202083"/>
                <a:satOff val="17755"/>
                <a:lumOff val="-16086"/>
              </a:schemeClr>
            </a:solidFill>
            <a:miter lim="400000"/>
          </a:ln>
        </p:spPr>
        <p:txBody>
          <a:bodyPr lIns="47625" tIns="47625" rIns="47625" bIns="47625" anchor="ctr"/>
          <a:lstStyle/>
          <a:p>
            <a:pPr defTabSz="2438400">
              <a:defRPr sz="4400"/>
            </a:pPr>
          </a:p>
        </p:txBody>
      </p:sp>
      <p:sp>
        <p:nvSpPr>
          <p:cNvPr id="347" name="05 生成技术设计文档"/>
          <p:cNvSpPr txBox="1"/>
          <p:nvPr/>
        </p:nvSpPr>
        <p:spPr>
          <a:xfrm>
            <a:off x="9483276" y="3637715"/>
            <a:ext cx="5432253" cy="8064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marL="554355" indent="-554355" defTabSz="2438400">
              <a:buSzPct val="123000"/>
              <a:buChar char="•"/>
              <a:defRPr sz="4000">
                <a:solidFill>
                  <a:schemeClr val="accent2">
                    <a:hueOff val="192982"/>
                    <a:satOff val="17755"/>
                    <a:lumOff val="-28480"/>
                  </a:schemeClr>
                </a:solidFill>
              </a:defRPr>
            </a:lvl1pPr>
          </a:lstStyle>
          <a:p>
            <a:r>
              <a:t>05 生成技术设计文档</a:t>
            </a:r>
          </a:p>
        </p:txBody>
      </p:sp>
      <p:sp>
        <p:nvSpPr>
          <p:cNvPr id="348" name="矩形"/>
          <p:cNvSpPr/>
          <p:nvPr/>
        </p:nvSpPr>
        <p:spPr>
          <a:xfrm>
            <a:off x="9335013" y="4613169"/>
            <a:ext cx="5713048" cy="2043655"/>
          </a:xfrm>
          <a:prstGeom prst="rect">
            <a:avLst/>
          </a:prstGeom>
          <a:solidFill>
            <a:srgbClr val="4F8F00">
              <a:alpha val="31299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9" name="矩形"/>
          <p:cNvSpPr/>
          <p:nvPr/>
        </p:nvSpPr>
        <p:spPr>
          <a:xfrm>
            <a:off x="9335013" y="4613169"/>
            <a:ext cx="92520" cy="2043655"/>
          </a:xfrm>
          <a:prstGeom prst="rect">
            <a:avLst/>
          </a:prstGeom>
          <a:solidFill>
            <a:srgbClr val="4F8F00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0" name="任务内容…"/>
          <p:cNvSpPr txBox="1"/>
          <p:nvPr/>
        </p:nvSpPr>
        <p:spPr>
          <a:xfrm>
            <a:off x="9679321" y="4850771"/>
            <a:ext cx="4553422" cy="15684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任务内容</a:t>
            </a:r>
            <a:endParaRPr b="0">
              <a:solidFill>
                <a:srgbClr val="393939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前端定义组件树、状态管理、路由、数据流和 API 对接；后端定义模块职责、REST/RPC 契约、ER/索引、事务边界和服务拓扑。</a:t>
            </a:r>
          </a:p>
        </p:txBody>
      </p:sp>
      <p:sp>
        <p:nvSpPr>
          <p:cNvPr id="351" name="矩形"/>
          <p:cNvSpPr/>
          <p:nvPr/>
        </p:nvSpPr>
        <p:spPr>
          <a:xfrm>
            <a:off x="9335013" y="6816400"/>
            <a:ext cx="5713048" cy="175021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2" name="矩形"/>
          <p:cNvSpPr/>
          <p:nvPr/>
        </p:nvSpPr>
        <p:spPr>
          <a:xfrm>
            <a:off x="9335013" y="6816400"/>
            <a:ext cx="92520" cy="1750219"/>
          </a:xfrm>
          <a:prstGeom prst="rect">
            <a:avLst/>
          </a:prstGeom>
          <a:solidFill>
            <a:srgbClr val="A9A9A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3" name="交付物…"/>
          <p:cNvSpPr txBox="1"/>
          <p:nvPr/>
        </p:nvSpPr>
        <p:spPr>
          <a:xfrm>
            <a:off x="9649341" y="6930144"/>
            <a:ext cx="5084393" cy="152273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交付物</a:t>
            </a:r>
            <a:endParaRPr b="0">
              <a:solidFill>
                <a:srgbClr val="393939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frontend-design.md、backend-design.md、接口契约、数据模型设计、design.md。</a:t>
            </a:r>
          </a:p>
        </p:txBody>
      </p:sp>
      <p:sp>
        <p:nvSpPr>
          <p:cNvPr id="354" name="矩形"/>
          <p:cNvSpPr/>
          <p:nvPr/>
        </p:nvSpPr>
        <p:spPr>
          <a:xfrm>
            <a:off x="9335013" y="8793111"/>
            <a:ext cx="5713048" cy="1747616"/>
          </a:xfrm>
          <a:prstGeom prst="rect">
            <a:avLst/>
          </a:prstGeom>
          <a:solidFill>
            <a:srgbClr val="FF7E79">
              <a:alpha val="19110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5" name="矩形"/>
          <p:cNvSpPr/>
          <p:nvPr/>
        </p:nvSpPr>
        <p:spPr>
          <a:xfrm>
            <a:off x="9335013" y="8791809"/>
            <a:ext cx="92520" cy="1750220"/>
          </a:xfrm>
          <a:prstGeom prst="rect">
            <a:avLst/>
          </a:prstGeom>
          <a:solidFill>
            <a:srgbClr val="FF7E7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6" name="门禁…"/>
          <p:cNvSpPr txBox="1"/>
          <p:nvPr/>
        </p:nvSpPr>
        <p:spPr>
          <a:xfrm>
            <a:off x="9674180" y="9035095"/>
            <a:ext cx="5034715" cy="12636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门禁</a:t>
            </a:r>
            <a:endParaRPr b="0">
              <a:solidFill>
                <a:srgbClr val="A2191F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A2191F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组件边界、状态策略、模块边界、接口契约、数据模型或真实服务验证要求任一不清，不拆任务。</a:t>
            </a:r>
          </a:p>
        </p:txBody>
      </p:sp>
      <p:sp>
        <p:nvSpPr>
          <p:cNvPr id="357" name="矩形"/>
          <p:cNvSpPr/>
          <p:nvPr/>
        </p:nvSpPr>
        <p:spPr>
          <a:xfrm>
            <a:off x="9335013" y="10769823"/>
            <a:ext cx="5713048" cy="1747616"/>
          </a:xfrm>
          <a:prstGeom prst="rect">
            <a:avLst/>
          </a:prstGeom>
          <a:solidFill>
            <a:srgbClr val="005493">
              <a:alpha val="17468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8" name="矩形"/>
          <p:cNvSpPr/>
          <p:nvPr/>
        </p:nvSpPr>
        <p:spPr>
          <a:xfrm>
            <a:off x="9335013" y="10768521"/>
            <a:ext cx="92520" cy="1750220"/>
          </a:xfrm>
          <a:prstGeom prst="rect">
            <a:avLst/>
          </a:prstGeom>
          <a:solidFill>
            <a:srgbClr val="005493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9" name="检查要点…"/>
          <p:cNvSpPr txBox="1"/>
          <p:nvPr/>
        </p:nvSpPr>
        <p:spPr>
          <a:xfrm>
            <a:off x="9674180" y="11050956"/>
            <a:ext cx="5034715" cy="9588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检查要点</a:t>
            </a:r>
            <a:endParaRPr b="0">
              <a:solidFill>
                <a:srgbClr val="002D9C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002D9C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检查边界、安全、性能、可维护性、服务依赖和前后端契约一致性。</a:t>
            </a:r>
          </a:p>
        </p:txBody>
      </p:sp>
      <p:sp>
        <p:nvSpPr>
          <p:cNvPr id="360" name="矩形"/>
          <p:cNvSpPr/>
          <p:nvPr/>
        </p:nvSpPr>
        <p:spPr>
          <a:xfrm>
            <a:off x="16018510" y="3510219"/>
            <a:ext cx="6191252" cy="9384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2">
                <a:hueOff val="192982"/>
                <a:satOff val="17755"/>
                <a:lumOff val="-28480"/>
              </a:schemeClr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1" name="线条"/>
          <p:cNvSpPr/>
          <p:nvPr/>
        </p:nvSpPr>
        <p:spPr>
          <a:xfrm>
            <a:off x="16013483" y="3482250"/>
            <a:ext cx="6203157" cy="1"/>
          </a:xfrm>
          <a:prstGeom prst="line">
            <a:avLst/>
          </a:prstGeom>
          <a:ln w="25400">
            <a:solidFill>
              <a:schemeClr val="accent2">
                <a:hueOff val="-202083"/>
                <a:satOff val="17755"/>
                <a:lumOff val="-16086"/>
              </a:schemeClr>
            </a:solidFill>
            <a:miter lim="400000"/>
          </a:ln>
        </p:spPr>
        <p:txBody>
          <a:bodyPr lIns="47625" tIns="47625" rIns="47625" bIns="47625" anchor="ctr"/>
          <a:lstStyle/>
          <a:p>
            <a:pPr defTabSz="2438400">
              <a:defRPr sz="4400"/>
            </a:pPr>
          </a:p>
        </p:txBody>
      </p:sp>
      <p:sp>
        <p:nvSpPr>
          <p:cNvPr id="362" name="06 生成验证计划文档"/>
          <p:cNvSpPr txBox="1"/>
          <p:nvPr/>
        </p:nvSpPr>
        <p:spPr>
          <a:xfrm>
            <a:off x="16404629" y="3637715"/>
            <a:ext cx="5432253" cy="8064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marL="554355" indent="-554355" defTabSz="2438400">
              <a:buSzPct val="123000"/>
              <a:buChar char="•"/>
              <a:defRPr sz="4000">
                <a:solidFill>
                  <a:schemeClr val="accent2">
                    <a:hueOff val="192982"/>
                    <a:satOff val="17755"/>
                    <a:lumOff val="-28480"/>
                  </a:schemeClr>
                </a:solidFill>
              </a:defRPr>
            </a:lvl1pPr>
          </a:lstStyle>
          <a:p>
            <a:r>
              <a:t>06 生成验证计划文档</a:t>
            </a:r>
          </a:p>
        </p:txBody>
      </p:sp>
      <p:sp>
        <p:nvSpPr>
          <p:cNvPr id="363" name="矩形"/>
          <p:cNvSpPr/>
          <p:nvPr/>
        </p:nvSpPr>
        <p:spPr>
          <a:xfrm>
            <a:off x="16256364" y="4636083"/>
            <a:ext cx="5713049" cy="2043654"/>
          </a:xfrm>
          <a:prstGeom prst="rect">
            <a:avLst/>
          </a:prstGeom>
          <a:solidFill>
            <a:srgbClr val="4F8F00">
              <a:alpha val="31299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4" name="矩形"/>
          <p:cNvSpPr/>
          <p:nvPr/>
        </p:nvSpPr>
        <p:spPr>
          <a:xfrm>
            <a:off x="16256364" y="4636083"/>
            <a:ext cx="92521" cy="2043654"/>
          </a:xfrm>
          <a:prstGeom prst="rect">
            <a:avLst/>
          </a:prstGeom>
          <a:solidFill>
            <a:srgbClr val="4F8F00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5" name="任务内容…"/>
          <p:cNvSpPr txBox="1"/>
          <p:nvPr/>
        </p:nvSpPr>
        <p:spPr>
          <a:xfrm>
            <a:off x="16600671" y="4873685"/>
            <a:ext cx="4553422" cy="15684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任务内容</a:t>
            </a:r>
            <a:endParaRPr b="0">
              <a:solidFill>
                <a:srgbClr val="393939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规划组件单测、视觉回归、响应式断点、交互用例、性能基准、契约测试、覆盖数据持久化、事务一致性、异常处理、并发和降级验证。</a:t>
            </a:r>
          </a:p>
        </p:txBody>
      </p:sp>
      <p:sp>
        <p:nvSpPr>
          <p:cNvPr id="366" name="矩形"/>
          <p:cNvSpPr/>
          <p:nvPr/>
        </p:nvSpPr>
        <p:spPr>
          <a:xfrm>
            <a:off x="16256364" y="6839313"/>
            <a:ext cx="5713049" cy="175022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7" name="矩形"/>
          <p:cNvSpPr/>
          <p:nvPr/>
        </p:nvSpPr>
        <p:spPr>
          <a:xfrm>
            <a:off x="16256364" y="6839313"/>
            <a:ext cx="92521" cy="1750220"/>
          </a:xfrm>
          <a:prstGeom prst="rect">
            <a:avLst/>
          </a:prstGeom>
          <a:solidFill>
            <a:srgbClr val="A9A9A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8" name="交付物…"/>
          <p:cNvSpPr txBox="1"/>
          <p:nvPr/>
        </p:nvSpPr>
        <p:spPr>
          <a:xfrm>
            <a:off x="16570693" y="6953057"/>
            <a:ext cx="5084393" cy="152273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交付物</a:t>
            </a:r>
            <a:endParaRPr b="0">
              <a:solidFill>
                <a:srgbClr val="393939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verification-plan.md、组件测试矩阵、视觉回归场景、响应式断点矩阵、契约测试矩阵。</a:t>
            </a:r>
          </a:p>
        </p:txBody>
      </p:sp>
      <p:sp>
        <p:nvSpPr>
          <p:cNvPr id="369" name="矩形"/>
          <p:cNvSpPr/>
          <p:nvPr/>
        </p:nvSpPr>
        <p:spPr>
          <a:xfrm>
            <a:off x="16256364" y="8816025"/>
            <a:ext cx="5713049" cy="1747616"/>
          </a:xfrm>
          <a:prstGeom prst="rect">
            <a:avLst/>
          </a:prstGeom>
          <a:solidFill>
            <a:srgbClr val="FF7E79">
              <a:alpha val="19110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0" name="矩形"/>
          <p:cNvSpPr/>
          <p:nvPr/>
        </p:nvSpPr>
        <p:spPr>
          <a:xfrm>
            <a:off x="16256364" y="8814723"/>
            <a:ext cx="92521" cy="1750220"/>
          </a:xfrm>
          <a:prstGeom prst="rect">
            <a:avLst/>
          </a:prstGeom>
          <a:solidFill>
            <a:srgbClr val="FF7E7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1" name="门禁…"/>
          <p:cNvSpPr txBox="1"/>
          <p:nvPr/>
        </p:nvSpPr>
        <p:spPr>
          <a:xfrm>
            <a:off x="16595531" y="9058007"/>
            <a:ext cx="5034714" cy="12636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门禁</a:t>
            </a:r>
            <a:endParaRPr b="0">
              <a:solidFill>
                <a:srgbClr val="A2191F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A2191F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验证计划不覆盖关键风险、真实验证范围不清或禁用 Mock 节点不清，不进入 TDD。</a:t>
            </a:r>
          </a:p>
        </p:txBody>
      </p:sp>
      <p:sp>
        <p:nvSpPr>
          <p:cNvPr id="372" name="矩形"/>
          <p:cNvSpPr/>
          <p:nvPr/>
        </p:nvSpPr>
        <p:spPr>
          <a:xfrm>
            <a:off x="16256364" y="10792736"/>
            <a:ext cx="5713049" cy="1747616"/>
          </a:xfrm>
          <a:prstGeom prst="rect">
            <a:avLst/>
          </a:prstGeom>
          <a:solidFill>
            <a:srgbClr val="005493">
              <a:alpha val="17468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3" name="矩形"/>
          <p:cNvSpPr/>
          <p:nvPr/>
        </p:nvSpPr>
        <p:spPr>
          <a:xfrm>
            <a:off x="16256364" y="10791434"/>
            <a:ext cx="92521" cy="1750220"/>
          </a:xfrm>
          <a:prstGeom prst="rect">
            <a:avLst/>
          </a:prstGeom>
          <a:solidFill>
            <a:srgbClr val="005493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4" name="检查要点…"/>
          <p:cNvSpPr txBox="1"/>
          <p:nvPr/>
        </p:nvSpPr>
        <p:spPr>
          <a:xfrm>
            <a:off x="16595531" y="11073870"/>
            <a:ext cx="5034714" cy="9588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检查要点</a:t>
            </a:r>
            <a:endParaRPr b="0">
              <a:solidFill>
                <a:srgbClr val="002D9C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002D9C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确认验证边界、禁用 Mock 范围、性能基准和连续失败后的归因规则。</a:t>
            </a:r>
          </a:p>
        </p:txBody>
      </p:sp>
      <p:sp>
        <p:nvSpPr>
          <p:cNvPr id="375" name="阶段目标 ——让产品、前端、后端、测试和 AI 对“做什么、怎么做、怎么验”形成一致语义，并把风险验证前置到任务拆分之前。"/>
          <p:cNvSpPr txBox="1"/>
          <p:nvPr/>
        </p:nvSpPr>
        <p:spPr>
          <a:xfrm>
            <a:off x="2192369" y="2923775"/>
            <a:ext cx="13187661" cy="4127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defTabSz="457200">
              <a:lnSpc>
                <a:spcPct val="100000"/>
              </a:lnSpc>
              <a:spcBef>
                <a:spcPts val="1300"/>
              </a:spcBef>
              <a:defRPr sz="1800">
                <a:solidFill>
                  <a:schemeClr val="accent2">
                    <a:hueOff val="192982"/>
                    <a:satOff val="17755"/>
                    <a:lumOff val="-28480"/>
                  </a:schemeClr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阶段目标 ——让产品、前端、后端、测试和 AI 对“做什么、怎么做、怎么验”形成一致语义，并把风险验证前置到任务拆分之前。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03 开发阶段-用最小验证Task驱动实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974975">
              <a:defRPr sz="6830"/>
            </a:lvl1pPr>
          </a:lstStyle>
          <a:p>
            <a:r>
              <a:t>03 开发阶段-用最小验证Task驱动实现</a:t>
            </a:r>
          </a:p>
        </p:txBody>
      </p:sp>
      <p:sp>
        <p:nvSpPr>
          <p:cNvPr id="378" name="开发阶段允许 AI 高频执行，但不允许脱离测试与证据。前端验证组件、状态、路由与 API 数据流；后端验证服务逻辑、持久化、事务、异常处理与安全规则。"/>
          <p:cNvSpPr txBox="1"/>
          <p:nvPr/>
        </p:nvSpPr>
        <p:spPr>
          <a:xfrm>
            <a:off x="2155999" y="2224966"/>
            <a:ext cx="19600348" cy="4762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525252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开发阶段允许 AI 高频执行，但不允许脱离测试与证据。前端验证组件、状态、路由与 API 数据流；后端验证服务逻辑、持久化、事务、异常处理与安全规则。</a:t>
            </a:r>
          </a:p>
        </p:txBody>
      </p:sp>
      <p:sp>
        <p:nvSpPr>
          <p:cNvPr id="379" name="矩形"/>
          <p:cNvSpPr/>
          <p:nvPr/>
        </p:nvSpPr>
        <p:spPr>
          <a:xfrm>
            <a:off x="2173313" y="3491371"/>
            <a:ext cx="6191251" cy="9384446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2">
                <a:hueOff val="192982"/>
                <a:satOff val="17755"/>
                <a:lumOff val="-28480"/>
              </a:schemeClr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0" name="线条"/>
          <p:cNvSpPr/>
          <p:nvPr/>
        </p:nvSpPr>
        <p:spPr>
          <a:xfrm>
            <a:off x="2168285" y="3463403"/>
            <a:ext cx="6203157" cy="1"/>
          </a:xfrm>
          <a:prstGeom prst="line">
            <a:avLst/>
          </a:prstGeom>
          <a:ln w="25400">
            <a:solidFill>
              <a:srgbClr val="941100">
                <a:alpha val="73839"/>
              </a:srgbClr>
            </a:solidFill>
            <a:miter lim="400000"/>
          </a:ln>
        </p:spPr>
        <p:txBody>
          <a:bodyPr lIns="47625" tIns="47625" rIns="47625" bIns="47625" anchor="ctr"/>
          <a:lstStyle/>
          <a:p>
            <a:pPr defTabSz="2438400">
              <a:defRPr sz="4400"/>
            </a:pPr>
          </a:p>
        </p:txBody>
      </p:sp>
      <p:sp>
        <p:nvSpPr>
          <p:cNvPr id="381" name="07 拆分开发任务"/>
          <p:cNvSpPr txBox="1"/>
          <p:nvPr/>
        </p:nvSpPr>
        <p:spPr>
          <a:xfrm>
            <a:off x="2233264" y="3743110"/>
            <a:ext cx="4416252" cy="8064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marL="554355" indent="-554355" defTabSz="2438400">
              <a:buSzPct val="123000"/>
              <a:buChar char="•"/>
              <a:defRPr sz="4000">
                <a:solidFill>
                  <a:schemeClr val="accent5">
                    <a:lumOff val="-29863"/>
                  </a:schemeClr>
                </a:solidFill>
              </a:defRPr>
            </a:lvl1pPr>
          </a:lstStyle>
          <a:p>
            <a:r>
              <a:t>07 拆分开发任务</a:t>
            </a:r>
          </a:p>
        </p:txBody>
      </p:sp>
      <p:sp>
        <p:nvSpPr>
          <p:cNvPr id="382" name="矩形"/>
          <p:cNvSpPr/>
          <p:nvPr/>
        </p:nvSpPr>
        <p:spPr>
          <a:xfrm>
            <a:off x="2411167" y="4617235"/>
            <a:ext cx="5713048" cy="2043655"/>
          </a:xfrm>
          <a:prstGeom prst="rect">
            <a:avLst/>
          </a:prstGeom>
          <a:solidFill>
            <a:srgbClr val="FF2600">
              <a:alpha val="50000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3" name="矩形"/>
          <p:cNvSpPr/>
          <p:nvPr/>
        </p:nvSpPr>
        <p:spPr>
          <a:xfrm>
            <a:off x="2411167" y="4617235"/>
            <a:ext cx="92520" cy="2043655"/>
          </a:xfrm>
          <a:prstGeom prst="rect">
            <a:avLst/>
          </a:prstGeom>
          <a:solidFill>
            <a:srgbClr val="D9272D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4" name="任务内容…"/>
          <p:cNvSpPr txBox="1"/>
          <p:nvPr/>
        </p:nvSpPr>
        <p:spPr>
          <a:xfrm>
            <a:off x="2755475" y="4854837"/>
            <a:ext cx="5024433" cy="15684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任务内容</a:t>
            </a:r>
            <a:endParaRPr b="0">
              <a:solidFill>
                <a:srgbClr val="393939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将用户故事、技术设计和验证计划拆成 plan，每个 plan 有边界、依赖、验收标准。再由 TDD 智能体拆成 TASK；每个 TASK 定义边界、依赖、失败测试和验收标准。</a:t>
            </a:r>
          </a:p>
        </p:txBody>
      </p:sp>
      <p:sp>
        <p:nvSpPr>
          <p:cNvPr id="385" name="矩形"/>
          <p:cNvSpPr/>
          <p:nvPr/>
        </p:nvSpPr>
        <p:spPr>
          <a:xfrm>
            <a:off x="2411167" y="6820465"/>
            <a:ext cx="5713048" cy="175022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6" name="矩形"/>
          <p:cNvSpPr/>
          <p:nvPr/>
        </p:nvSpPr>
        <p:spPr>
          <a:xfrm>
            <a:off x="2411167" y="6820465"/>
            <a:ext cx="92520" cy="1750220"/>
          </a:xfrm>
          <a:prstGeom prst="rect">
            <a:avLst/>
          </a:prstGeom>
          <a:solidFill>
            <a:srgbClr val="A9A9A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7" name="交付物…"/>
          <p:cNvSpPr txBox="1"/>
          <p:nvPr/>
        </p:nvSpPr>
        <p:spPr>
          <a:xfrm>
            <a:off x="2725494" y="6934210"/>
            <a:ext cx="5084393" cy="152273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交付物</a:t>
            </a: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tech-plans/PLAN-xxx.md、tasks/index.md、tasks/TASK-xxx.md。</a:t>
            </a:r>
          </a:p>
        </p:txBody>
      </p:sp>
      <p:sp>
        <p:nvSpPr>
          <p:cNvPr id="388" name="矩形"/>
          <p:cNvSpPr/>
          <p:nvPr/>
        </p:nvSpPr>
        <p:spPr>
          <a:xfrm>
            <a:off x="2411167" y="8797178"/>
            <a:ext cx="5713048" cy="1747616"/>
          </a:xfrm>
          <a:prstGeom prst="rect">
            <a:avLst/>
          </a:prstGeom>
          <a:solidFill>
            <a:srgbClr val="FF7E79">
              <a:alpha val="19110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9" name="矩形"/>
          <p:cNvSpPr/>
          <p:nvPr/>
        </p:nvSpPr>
        <p:spPr>
          <a:xfrm>
            <a:off x="2411167" y="8795875"/>
            <a:ext cx="92520" cy="1750220"/>
          </a:xfrm>
          <a:prstGeom prst="rect">
            <a:avLst/>
          </a:prstGeom>
          <a:solidFill>
            <a:srgbClr val="FF7E7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0" name="门禁…"/>
          <p:cNvSpPr txBox="1"/>
          <p:nvPr/>
        </p:nvSpPr>
        <p:spPr>
          <a:xfrm>
            <a:off x="2750334" y="9039160"/>
            <a:ext cx="5034715" cy="12636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门禁</a:t>
            </a:r>
            <a:endParaRPr b="0">
              <a:solidFill>
                <a:srgbClr val="A2191F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A2191F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任务不能独立验证、依赖不清、验收标准缺失或前后端契约版本不明确，不进入实现。</a:t>
            </a:r>
          </a:p>
        </p:txBody>
      </p:sp>
      <p:sp>
        <p:nvSpPr>
          <p:cNvPr id="391" name="矩形"/>
          <p:cNvSpPr/>
          <p:nvPr/>
        </p:nvSpPr>
        <p:spPr>
          <a:xfrm>
            <a:off x="2411167" y="10773888"/>
            <a:ext cx="5713048" cy="1747616"/>
          </a:xfrm>
          <a:prstGeom prst="rect">
            <a:avLst/>
          </a:prstGeom>
          <a:solidFill>
            <a:srgbClr val="005493">
              <a:alpha val="17468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2" name="矩形"/>
          <p:cNvSpPr/>
          <p:nvPr/>
        </p:nvSpPr>
        <p:spPr>
          <a:xfrm>
            <a:off x="2411167" y="10772587"/>
            <a:ext cx="92520" cy="1750220"/>
          </a:xfrm>
          <a:prstGeom prst="rect">
            <a:avLst/>
          </a:prstGeom>
          <a:solidFill>
            <a:srgbClr val="005493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3" name="检查要点…"/>
          <p:cNvSpPr txBox="1"/>
          <p:nvPr/>
        </p:nvSpPr>
        <p:spPr>
          <a:xfrm>
            <a:off x="2750334" y="11055023"/>
            <a:ext cx="5034715" cy="9588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检查要点</a:t>
            </a:r>
            <a:endParaRPr b="0">
              <a:solidFill>
                <a:srgbClr val="002D9C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002D9C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检查任务大小、执行顺序、并行边界、风险优先级和契约版本。</a:t>
            </a:r>
          </a:p>
        </p:txBody>
      </p:sp>
      <p:sp>
        <p:nvSpPr>
          <p:cNvPr id="394" name="矩形"/>
          <p:cNvSpPr/>
          <p:nvPr/>
        </p:nvSpPr>
        <p:spPr>
          <a:xfrm>
            <a:off x="9097159" y="3487304"/>
            <a:ext cx="6191251" cy="9384446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2">
                <a:hueOff val="192982"/>
                <a:satOff val="17755"/>
                <a:lumOff val="-28480"/>
              </a:schemeClr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5" name="线条"/>
          <p:cNvSpPr/>
          <p:nvPr/>
        </p:nvSpPr>
        <p:spPr>
          <a:xfrm>
            <a:off x="9092131" y="3459336"/>
            <a:ext cx="6203158" cy="1"/>
          </a:xfrm>
          <a:prstGeom prst="line">
            <a:avLst/>
          </a:prstGeom>
          <a:ln w="25400">
            <a:solidFill>
              <a:srgbClr val="941100">
                <a:alpha val="73839"/>
              </a:srgbClr>
            </a:solidFill>
            <a:miter lim="400000"/>
          </a:ln>
        </p:spPr>
        <p:txBody>
          <a:bodyPr lIns="47625" tIns="47625" rIns="47625" bIns="47625" anchor="ctr"/>
          <a:lstStyle/>
          <a:p>
            <a:pPr defTabSz="2438400">
              <a:defRPr sz="4400"/>
            </a:pPr>
          </a:p>
        </p:txBody>
      </p:sp>
      <p:sp>
        <p:nvSpPr>
          <p:cNvPr id="396" name="08 执行开发任务"/>
          <p:cNvSpPr txBox="1"/>
          <p:nvPr/>
        </p:nvSpPr>
        <p:spPr>
          <a:xfrm>
            <a:off x="9335013" y="3743110"/>
            <a:ext cx="4416252" cy="8064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marL="554355" indent="-554355" defTabSz="2438400">
              <a:buSzPct val="123000"/>
              <a:buChar char="•"/>
              <a:defRPr sz="4000">
                <a:solidFill>
                  <a:schemeClr val="accent5">
                    <a:lumOff val="-29863"/>
                  </a:schemeClr>
                </a:solidFill>
              </a:defRPr>
            </a:lvl1pPr>
          </a:lstStyle>
          <a:p>
            <a:r>
              <a:t>08 执行开发任务</a:t>
            </a:r>
          </a:p>
        </p:txBody>
      </p:sp>
      <p:sp>
        <p:nvSpPr>
          <p:cNvPr id="397" name="矩形"/>
          <p:cNvSpPr/>
          <p:nvPr/>
        </p:nvSpPr>
        <p:spPr>
          <a:xfrm>
            <a:off x="9335013" y="4613169"/>
            <a:ext cx="5713048" cy="2043655"/>
          </a:xfrm>
          <a:prstGeom prst="rect">
            <a:avLst/>
          </a:prstGeom>
          <a:solidFill>
            <a:srgbClr val="FF2600">
              <a:alpha val="50000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8" name="矩形"/>
          <p:cNvSpPr/>
          <p:nvPr/>
        </p:nvSpPr>
        <p:spPr>
          <a:xfrm>
            <a:off x="9335013" y="4613169"/>
            <a:ext cx="92520" cy="2043655"/>
          </a:xfrm>
          <a:prstGeom prst="rect">
            <a:avLst/>
          </a:prstGeom>
          <a:solidFill>
            <a:srgbClr val="D9272D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9" name="任务内容…"/>
          <p:cNvSpPr txBox="1"/>
          <p:nvPr/>
        </p:nvSpPr>
        <p:spPr>
          <a:xfrm>
            <a:off x="9679321" y="4850771"/>
            <a:ext cx="4553422" cy="15684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任务内容</a:t>
            </a:r>
            <a:endParaRPr b="0">
              <a:solidFill>
                <a:srgbClr val="393939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红灯先行写失败测试，AI 生成最小实现并反复运行。前端实现组件/状态/路由，后端实现服务/持久化/错误处理。</a:t>
            </a:r>
          </a:p>
        </p:txBody>
      </p:sp>
      <p:sp>
        <p:nvSpPr>
          <p:cNvPr id="400" name="矩形"/>
          <p:cNvSpPr/>
          <p:nvPr/>
        </p:nvSpPr>
        <p:spPr>
          <a:xfrm>
            <a:off x="9335013" y="6816400"/>
            <a:ext cx="5713048" cy="175021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01" name="矩形"/>
          <p:cNvSpPr/>
          <p:nvPr/>
        </p:nvSpPr>
        <p:spPr>
          <a:xfrm>
            <a:off x="9335013" y="6816400"/>
            <a:ext cx="92520" cy="1750219"/>
          </a:xfrm>
          <a:prstGeom prst="rect">
            <a:avLst/>
          </a:prstGeom>
          <a:solidFill>
            <a:srgbClr val="A9A9A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02" name="交付物…"/>
          <p:cNvSpPr txBox="1"/>
          <p:nvPr/>
        </p:nvSpPr>
        <p:spPr>
          <a:xfrm>
            <a:off x="9649341" y="6930144"/>
            <a:ext cx="5084393" cy="152273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交付物</a:t>
            </a:r>
            <a:endParaRPr b="0">
              <a:solidFill>
                <a:srgbClr val="393939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实现代码、红灯记录、绿灯输出、TASK 证据回写、代码审查记录。</a:t>
            </a:r>
          </a:p>
        </p:txBody>
      </p:sp>
      <p:sp>
        <p:nvSpPr>
          <p:cNvPr id="403" name="矩形"/>
          <p:cNvSpPr/>
          <p:nvPr/>
        </p:nvSpPr>
        <p:spPr>
          <a:xfrm>
            <a:off x="9335013" y="8793111"/>
            <a:ext cx="5713048" cy="1747616"/>
          </a:xfrm>
          <a:prstGeom prst="rect">
            <a:avLst/>
          </a:prstGeom>
          <a:solidFill>
            <a:srgbClr val="FF7E79">
              <a:alpha val="19110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04" name="矩形"/>
          <p:cNvSpPr/>
          <p:nvPr/>
        </p:nvSpPr>
        <p:spPr>
          <a:xfrm>
            <a:off x="9335013" y="8791809"/>
            <a:ext cx="92520" cy="1750220"/>
          </a:xfrm>
          <a:prstGeom prst="rect">
            <a:avLst/>
          </a:prstGeom>
          <a:solidFill>
            <a:srgbClr val="FF7E7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05" name="门禁…"/>
          <p:cNvSpPr txBox="1"/>
          <p:nvPr/>
        </p:nvSpPr>
        <p:spPr>
          <a:xfrm>
            <a:off x="9674180" y="9035095"/>
            <a:ext cx="5034715" cy="12636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门禁</a:t>
            </a:r>
            <a:endParaRPr b="0">
              <a:solidFill>
                <a:srgbClr val="A2191F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A2191F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同一 Task 连续 5 次红灯失败时，人必须介入判断测试错误、设计错误还是实现策略错误。</a:t>
            </a:r>
          </a:p>
        </p:txBody>
      </p:sp>
      <p:sp>
        <p:nvSpPr>
          <p:cNvPr id="406" name="矩形"/>
          <p:cNvSpPr/>
          <p:nvPr/>
        </p:nvSpPr>
        <p:spPr>
          <a:xfrm>
            <a:off x="9335013" y="10769823"/>
            <a:ext cx="5713048" cy="1747616"/>
          </a:xfrm>
          <a:prstGeom prst="rect">
            <a:avLst/>
          </a:prstGeom>
          <a:solidFill>
            <a:srgbClr val="005493">
              <a:alpha val="17468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07" name="矩形"/>
          <p:cNvSpPr/>
          <p:nvPr/>
        </p:nvSpPr>
        <p:spPr>
          <a:xfrm>
            <a:off x="9335013" y="10768521"/>
            <a:ext cx="92520" cy="1750220"/>
          </a:xfrm>
          <a:prstGeom prst="rect">
            <a:avLst/>
          </a:prstGeom>
          <a:solidFill>
            <a:srgbClr val="005493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08" name="检查要点…"/>
          <p:cNvSpPr txBox="1"/>
          <p:nvPr/>
        </p:nvSpPr>
        <p:spPr>
          <a:xfrm>
            <a:off x="9674180" y="11067043"/>
            <a:ext cx="5034715" cy="9588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检查要点</a:t>
            </a:r>
            <a:endParaRPr b="0">
              <a:solidFill>
                <a:srgbClr val="002D9C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002D9C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审查组件复用、状态管理、可访问性、性能、架构一致性、安全规范和实现是否超出设计边界。</a:t>
            </a:r>
          </a:p>
        </p:txBody>
      </p:sp>
      <p:sp>
        <p:nvSpPr>
          <p:cNvPr id="409" name="矩形"/>
          <p:cNvSpPr/>
          <p:nvPr/>
        </p:nvSpPr>
        <p:spPr>
          <a:xfrm>
            <a:off x="16018510" y="3510219"/>
            <a:ext cx="6191252" cy="9384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2">
                <a:hueOff val="192982"/>
                <a:satOff val="17755"/>
                <a:lumOff val="-28480"/>
              </a:schemeClr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0" name="线条"/>
          <p:cNvSpPr/>
          <p:nvPr/>
        </p:nvSpPr>
        <p:spPr>
          <a:xfrm>
            <a:off x="16013483" y="3482250"/>
            <a:ext cx="6203157" cy="1"/>
          </a:xfrm>
          <a:prstGeom prst="line">
            <a:avLst/>
          </a:prstGeom>
          <a:ln w="25400">
            <a:solidFill>
              <a:srgbClr val="941100">
                <a:alpha val="73839"/>
              </a:srgbClr>
            </a:solidFill>
            <a:miter lim="400000"/>
          </a:ln>
        </p:spPr>
        <p:txBody>
          <a:bodyPr lIns="47625" tIns="47625" rIns="47625" bIns="47625" anchor="ctr"/>
          <a:lstStyle/>
          <a:p>
            <a:pPr defTabSz="2438400">
              <a:defRPr sz="4400"/>
            </a:pPr>
          </a:p>
        </p:txBody>
      </p:sp>
      <p:sp>
        <p:nvSpPr>
          <p:cNvPr id="411" name="09 集成测试"/>
          <p:cNvSpPr txBox="1"/>
          <p:nvPr/>
        </p:nvSpPr>
        <p:spPr>
          <a:xfrm>
            <a:off x="16256364" y="3667848"/>
            <a:ext cx="3400253" cy="8064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marL="554355" indent="-554355" defTabSz="2438400">
              <a:buSzPct val="123000"/>
              <a:buChar char="•"/>
              <a:defRPr sz="4000">
                <a:solidFill>
                  <a:schemeClr val="accent5">
                    <a:lumOff val="-29863"/>
                  </a:schemeClr>
                </a:solidFill>
              </a:defRPr>
            </a:lvl1pPr>
          </a:lstStyle>
          <a:p>
            <a:r>
              <a:t>09 集成测试</a:t>
            </a:r>
          </a:p>
        </p:txBody>
      </p:sp>
      <p:sp>
        <p:nvSpPr>
          <p:cNvPr id="412" name="矩形"/>
          <p:cNvSpPr/>
          <p:nvPr/>
        </p:nvSpPr>
        <p:spPr>
          <a:xfrm>
            <a:off x="16256364" y="4636083"/>
            <a:ext cx="5713049" cy="2043654"/>
          </a:xfrm>
          <a:prstGeom prst="rect">
            <a:avLst/>
          </a:prstGeom>
          <a:solidFill>
            <a:srgbClr val="FF2600">
              <a:alpha val="50000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3" name="矩形"/>
          <p:cNvSpPr/>
          <p:nvPr/>
        </p:nvSpPr>
        <p:spPr>
          <a:xfrm>
            <a:off x="16256364" y="4636083"/>
            <a:ext cx="92521" cy="2043654"/>
          </a:xfrm>
          <a:prstGeom prst="rect">
            <a:avLst/>
          </a:prstGeom>
          <a:solidFill>
            <a:srgbClr val="D9272D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4" name="任务内容…"/>
          <p:cNvSpPr txBox="1"/>
          <p:nvPr/>
        </p:nvSpPr>
        <p:spPr>
          <a:xfrm>
            <a:off x="16600671" y="4873685"/>
            <a:ext cx="4553422" cy="15684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任务内容</a:t>
            </a:r>
            <a:endParaRPr b="0">
              <a:solidFill>
                <a:srgbClr val="393939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启动真实前端服务。验证组件间交互、状态流转、路由跳转和 API 数据流。启动真实后端服务 + 数据库，禁用 Mock 做集成测试。</a:t>
            </a:r>
          </a:p>
        </p:txBody>
      </p:sp>
      <p:sp>
        <p:nvSpPr>
          <p:cNvPr id="415" name="矩形"/>
          <p:cNvSpPr/>
          <p:nvPr/>
        </p:nvSpPr>
        <p:spPr>
          <a:xfrm>
            <a:off x="16256364" y="6839313"/>
            <a:ext cx="5713049" cy="175022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6" name="矩形"/>
          <p:cNvSpPr/>
          <p:nvPr/>
        </p:nvSpPr>
        <p:spPr>
          <a:xfrm>
            <a:off x="16256364" y="6839313"/>
            <a:ext cx="92521" cy="1750220"/>
          </a:xfrm>
          <a:prstGeom prst="rect">
            <a:avLst/>
          </a:prstGeom>
          <a:solidFill>
            <a:srgbClr val="A9A9A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7" name="交付物…"/>
          <p:cNvSpPr txBox="1"/>
          <p:nvPr/>
        </p:nvSpPr>
        <p:spPr>
          <a:xfrm>
            <a:off x="16570693" y="7105457"/>
            <a:ext cx="5084393" cy="121793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交付物</a:t>
            </a:r>
            <a:endParaRPr b="0">
              <a:solidFill>
                <a:srgbClr val="393939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verification-result.md、集成测试报告、测试报告。</a:t>
            </a:r>
          </a:p>
        </p:txBody>
      </p:sp>
      <p:sp>
        <p:nvSpPr>
          <p:cNvPr id="418" name="矩形"/>
          <p:cNvSpPr/>
          <p:nvPr/>
        </p:nvSpPr>
        <p:spPr>
          <a:xfrm>
            <a:off x="16256364" y="8816025"/>
            <a:ext cx="5713049" cy="1747616"/>
          </a:xfrm>
          <a:prstGeom prst="rect">
            <a:avLst/>
          </a:prstGeom>
          <a:solidFill>
            <a:srgbClr val="FF7E79">
              <a:alpha val="19110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9" name="矩形"/>
          <p:cNvSpPr/>
          <p:nvPr/>
        </p:nvSpPr>
        <p:spPr>
          <a:xfrm>
            <a:off x="16256364" y="8814723"/>
            <a:ext cx="92521" cy="1750220"/>
          </a:xfrm>
          <a:prstGeom prst="rect">
            <a:avLst/>
          </a:prstGeom>
          <a:solidFill>
            <a:srgbClr val="FF7E7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20" name="门禁…"/>
          <p:cNvSpPr txBox="1"/>
          <p:nvPr/>
        </p:nvSpPr>
        <p:spPr>
          <a:xfrm>
            <a:off x="16595531" y="8905607"/>
            <a:ext cx="5034714" cy="15684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门禁</a:t>
            </a:r>
            <a:endParaRPr b="0">
              <a:solidFill>
                <a:srgbClr val="A2191F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A2191F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单测通过但组件间状态流转失败，说明不能进入部署；要回到集成测试自闭环。只用 Mock 或只跑单测证明完成，是后端 AI-Native 最常见的假完成。</a:t>
            </a:r>
          </a:p>
        </p:txBody>
      </p:sp>
      <p:sp>
        <p:nvSpPr>
          <p:cNvPr id="421" name="矩形"/>
          <p:cNvSpPr/>
          <p:nvPr/>
        </p:nvSpPr>
        <p:spPr>
          <a:xfrm>
            <a:off x="16256364" y="10792736"/>
            <a:ext cx="5713049" cy="1747616"/>
          </a:xfrm>
          <a:prstGeom prst="rect">
            <a:avLst/>
          </a:prstGeom>
          <a:solidFill>
            <a:srgbClr val="005493">
              <a:alpha val="17468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22" name="矩形"/>
          <p:cNvSpPr/>
          <p:nvPr/>
        </p:nvSpPr>
        <p:spPr>
          <a:xfrm>
            <a:off x="16256364" y="10791434"/>
            <a:ext cx="92521" cy="1750220"/>
          </a:xfrm>
          <a:prstGeom prst="rect">
            <a:avLst/>
          </a:prstGeom>
          <a:solidFill>
            <a:srgbClr val="005493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23" name="检查要点…"/>
          <p:cNvSpPr txBox="1"/>
          <p:nvPr/>
        </p:nvSpPr>
        <p:spPr>
          <a:xfrm>
            <a:off x="16595531" y="11226270"/>
            <a:ext cx="5034714" cy="6540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检查要点</a:t>
            </a:r>
            <a:endParaRPr b="0">
              <a:solidFill>
                <a:srgbClr val="002D9C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002D9C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确认真实服务范围、数据库状态、事务边界和阻塞项归因。</a:t>
            </a:r>
          </a:p>
        </p:txBody>
      </p:sp>
      <p:sp>
        <p:nvSpPr>
          <p:cNvPr id="424" name="阶段目标 ——把大任务拆成可独立验证的小任务，让 AI 在每个任务内完成测试、实现、修复、重跑和证据沉淀。"/>
          <p:cNvSpPr txBox="1"/>
          <p:nvPr/>
        </p:nvSpPr>
        <p:spPr>
          <a:xfrm>
            <a:off x="2143834" y="2949704"/>
            <a:ext cx="10260675" cy="3746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b">
            <a:spAutoFit/>
          </a:bodyPr>
          <a:lstStyle>
            <a:lvl1pPr defTabSz="457200">
              <a:lnSpc>
                <a:spcPct val="100000"/>
              </a:lnSpc>
              <a:spcBef>
                <a:spcPts val="1300"/>
              </a:spcBef>
              <a:defRPr sz="1600">
                <a:solidFill>
                  <a:schemeClr val="accent5">
                    <a:lumOff val="-29863"/>
                  </a:schemeClr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阶段目标 ——把大任务拆成可独立验证的小任务，让 AI 在每个任务内完成测试、实现、修复、重跑和证据沉淀。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04 验证交付阶段-从代码产出到工程资产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974975">
              <a:defRPr sz="6830"/>
            </a:lvl1pPr>
          </a:lstStyle>
          <a:p>
            <a:r>
              <a:t>04 验证交付阶段-从代码产出到工程资产</a:t>
            </a:r>
          </a:p>
        </p:txBody>
      </p:sp>
      <p:sp>
        <p:nvSpPr>
          <p:cNvPr id="427" name="验证交付阶段的目标不是展示页面，而是证明完整链路可运行、可追溯、可回滚：用户操作 → 前端交互 → 后端服务 → 数据落库 → 环境部署。"/>
          <p:cNvSpPr txBox="1"/>
          <p:nvPr/>
        </p:nvSpPr>
        <p:spPr>
          <a:xfrm>
            <a:off x="2139911" y="2193157"/>
            <a:ext cx="17895673" cy="4762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525252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t>验证交付阶段的目标不是展示页面，而是证明完整链路可运行、可追溯、可回滚：用户操作 → 前端交互 → 后端服务 → 数据落库 → 环境部署。</a:t>
            </a:r>
          </a:p>
        </p:txBody>
      </p:sp>
      <p:sp>
        <p:nvSpPr>
          <p:cNvPr id="428" name="矩形"/>
          <p:cNvSpPr/>
          <p:nvPr/>
        </p:nvSpPr>
        <p:spPr>
          <a:xfrm>
            <a:off x="2173313" y="3491371"/>
            <a:ext cx="6191251" cy="9384446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2">
                <a:hueOff val="192982"/>
                <a:satOff val="17755"/>
                <a:lumOff val="-28480"/>
              </a:schemeClr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29" name="线条"/>
          <p:cNvSpPr/>
          <p:nvPr/>
        </p:nvSpPr>
        <p:spPr>
          <a:xfrm>
            <a:off x="2168285" y="3463403"/>
            <a:ext cx="6203157" cy="1"/>
          </a:xfrm>
          <a:prstGeom prst="line">
            <a:avLst/>
          </a:prstGeom>
          <a:ln w="25400">
            <a:solidFill>
              <a:srgbClr val="3C0F8E"/>
            </a:solidFill>
            <a:miter lim="400000"/>
          </a:ln>
        </p:spPr>
        <p:txBody>
          <a:bodyPr lIns="47625" tIns="47625" rIns="47625" bIns="47625" anchor="ctr"/>
          <a:lstStyle/>
          <a:p>
            <a:pPr defTabSz="2438400">
              <a:defRPr sz="4400"/>
            </a:pPr>
          </a:p>
        </p:txBody>
      </p:sp>
      <p:sp>
        <p:nvSpPr>
          <p:cNvPr id="430" name="10 E2E测试"/>
          <p:cNvSpPr txBox="1"/>
          <p:nvPr/>
        </p:nvSpPr>
        <p:spPr>
          <a:xfrm>
            <a:off x="2297613" y="3797317"/>
            <a:ext cx="3287477" cy="8064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marL="554355" indent="-554355" defTabSz="2438400">
              <a:buSzPct val="123000"/>
              <a:buChar char="•"/>
              <a:defRPr sz="4000">
                <a:solidFill>
                  <a:srgbClr val="531B93"/>
                </a:solidFill>
              </a:defRPr>
            </a:lvl1pPr>
          </a:lstStyle>
          <a:p>
            <a:r>
              <a:t>10 E2E测试</a:t>
            </a:r>
          </a:p>
        </p:txBody>
      </p:sp>
      <p:sp>
        <p:nvSpPr>
          <p:cNvPr id="431" name="矩形"/>
          <p:cNvSpPr/>
          <p:nvPr/>
        </p:nvSpPr>
        <p:spPr>
          <a:xfrm>
            <a:off x="2411167" y="4617235"/>
            <a:ext cx="5713048" cy="2043655"/>
          </a:xfrm>
          <a:prstGeom prst="rect">
            <a:avLst/>
          </a:prstGeom>
          <a:solidFill>
            <a:srgbClr val="9437FF">
              <a:alpha val="27019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2" name="矩形"/>
          <p:cNvSpPr/>
          <p:nvPr/>
        </p:nvSpPr>
        <p:spPr>
          <a:xfrm>
            <a:off x="2411167" y="4617235"/>
            <a:ext cx="92520" cy="2043655"/>
          </a:xfrm>
          <a:prstGeom prst="rect">
            <a:avLst/>
          </a:prstGeom>
          <a:solidFill>
            <a:srgbClr val="531B93">
              <a:alpha val="89362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3" name="任务内容…"/>
          <p:cNvSpPr txBox="1"/>
          <p:nvPr/>
        </p:nvSpPr>
        <p:spPr>
          <a:xfrm>
            <a:off x="2757969" y="4932126"/>
            <a:ext cx="4553422" cy="12636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任务内容</a:t>
            </a:r>
            <a:endParaRPr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从用户操作出发覆盖主流程、异常态、权限、数据写入和读取；前端真实调用后端，后端真实落库，Mock 全链路退出。</a:t>
            </a:r>
          </a:p>
        </p:txBody>
      </p:sp>
      <p:sp>
        <p:nvSpPr>
          <p:cNvPr id="434" name="矩形"/>
          <p:cNvSpPr/>
          <p:nvPr/>
        </p:nvSpPr>
        <p:spPr>
          <a:xfrm>
            <a:off x="2411167" y="6820465"/>
            <a:ext cx="5713048" cy="175022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5" name="矩形"/>
          <p:cNvSpPr/>
          <p:nvPr/>
        </p:nvSpPr>
        <p:spPr>
          <a:xfrm>
            <a:off x="2411167" y="6820465"/>
            <a:ext cx="92520" cy="1750220"/>
          </a:xfrm>
          <a:prstGeom prst="rect">
            <a:avLst/>
          </a:prstGeom>
          <a:solidFill>
            <a:srgbClr val="A9A9A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6" name="交付物…"/>
          <p:cNvSpPr txBox="1"/>
          <p:nvPr/>
        </p:nvSpPr>
        <p:spPr>
          <a:xfrm>
            <a:off x="2727988" y="7077782"/>
            <a:ext cx="5084393" cy="91313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交付物</a:t>
            </a: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E2E report、测试报告</a:t>
            </a:r>
          </a:p>
        </p:txBody>
      </p:sp>
      <p:sp>
        <p:nvSpPr>
          <p:cNvPr id="437" name="矩形"/>
          <p:cNvSpPr/>
          <p:nvPr/>
        </p:nvSpPr>
        <p:spPr>
          <a:xfrm>
            <a:off x="2411167" y="8797178"/>
            <a:ext cx="5713048" cy="1747616"/>
          </a:xfrm>
          <a:prstGeom prst="rect">
            <a:avLst/>
          </a:prstGeom>
          <a:solidFill>
            <a:srgbClr val="FF7E79">
              <a:alpha val="19110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8" name="矩形"/>
          <p:cNvSpPr/>
          <p:nvPr/>
        </p:nvSpPr>
        <p:spPr>
          <a:xfrm>
            <a:off x="2411167" y="8795875"/>
            <a:ext cx="92520" cy="1750220"/>
          </a:xfrm>
          <a:prstGeom prst="rect">
            <a:avLst/>
          </a:prstGeom>
          <a:solidFill>
            <a:srgbClr val="FF7E7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9" name="门禁…"/>
          <p:cNvSpPr txBox="1"/>
          <p:nvPr/>
        </p:nvSpPr>
        <p:spPr>
          <a:xfrm>
            <a:off x="2750334" y="9039160"/>
            <a:ext cx="5034715" cy="12636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门禁</a:t>
            </a:r>
            <a:endParaRPr b="0">
              <a:solidFill>
                <a:srgbClr val="A2191F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A2191F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发布前必须 E2E 禁用 Mock，全链路真实验证。禁用 Mock，环境可访问，链路可追溯。</a:t>
            </a:r>
          </a:p>
        </p:txBody>
      </p:sp>
      <p:sp>
        <p:nvSpPr>
          <p:cNvPr id="440" name="矩形"/>
          <p:cNvSpPr/>
          <p:nvPr/>
        </p:nvSpPr>
        <p:spPr>
          <a:xfrm>
            <a:off x="2411167" y="10773888"/>
            <a:ext cx="5713048" cy="1747616"/>
          </a:xfrm>
          <a:prstGeom prst="rect">
            <a:avLst/>
          </a:prstGeom>
          <a:solidFill>
            <a:srgbClr val="005493">
              <a:alpha val="17468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41" name="矩形"/>
          <p:cNvSpPr/>
          <p:nvPr/>
        </p:nvSpPr>
        <p:spPr>
          <a:xfrm>
            <a:off x="2411167" y="10772587"/>
            <a:ext cx="92520" cy="1750220"/>
          </a:xfrm>
          <a:prstGeom prst="rect">
            <a:avLst/>
          </a:prstGeom>
          <a:solidFill>
            <a:srgbClr val="005493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42" name="检查要点…"/>
          <p:cNvSpPr txBox="1"/>
          <p:nvPr/>
        </p:nvSpPr>
        <p:spPr>
          <a:xfrm>
            <a:off x="2750334" y="11207423"/>
            <a:ext cx="5034715" cy="6540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检查要点</a:t>
            </a:r>
            <a:endParaRPr b="0">
              <a:solidFill>
                <a:srgbClr val="002D9C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002D9C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确认验收路径、异常场景、权限、数据正确性和可接受风险。</a:t>
            </a:r>
          </a:p>
        </p:txBody>
      </p:sp>
      <p:sp>
        <p:nvSpPr>
          <p:cNvPr id="443" name="矩形"/>
          <p:cNvSpPr/>
          <p:nvPr/>
        </p:nvSpPr>
        <p:spPr>
          <a:xfrm>
            <a:off x="9097159" y="3487304"/>
            <a:ext cx="6191251" cy="9384446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2">
                <a:hueOff val="192982"/>
                <a:satOff val="17755"/>
                <a:lumOff val="-28480"/>
              </a:schemeClr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44" name="线条"/>
          <p:cNvSpPr/>
          <p:nvPr/>
        </p:nvSpPr>
        <p:spPr>
          <a:xfrm>
            <a:off x="9092131" y="3459336"/>
            <a:ext cx="6203158" cy="1"/>
          </a:xfrm>
          <a:prstGeom prst="line">
            <a:avLst/>
          </a:prstGeom>
          <a:ln w="25400">
            <a:solidFill>
              <a:srgbClr val="3C0F8E"/>
            </a:solidFill>
            <a:miter lim="400000"/>
          </a:ln>
        </p:spPr>
        <p:txBody>
          <a:bodyPr lIns="47625" tIns="47625" rIns="47625" bIns="47625" anchor="ctr"/>
          <a:lstStyle/>
          <a:p>
            <a:pPr defTabSz="2438400">
              <a:defRPr sz="4400"/>
            </a:pPr>
          </a:p>
        </p:txBody>
      </p:sp>
      <p:sp>
        <p:nvSpPr>
          <p:cNvPr id="445" name="11 Git提交推送"/>
          <p:cNvSpPr txBox="1"/>
          <p:nvPr/>
        </p:nvSpPr>
        <p:spPr>
          <a:xfrm>
            <a:off x="9335013" y="3743110"/>
            <a:ext cx="4058620" cy="8064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marL="554355" indent="-554355" defTabSz="2438400">
              <a:buSzPct val="123000"/>
              <a:buChar char="•"/>
              <a:defRPr sz="4000">
                <a:solidFill>
                  <a:srgbClr val="531B93"/>
                </a:solidFill>
              </a:defRPr>
            </a:lvl1pPr>
          </a:lstStyle>
          <a:p>
            <a:r>
              <a:t>11 Git提交推送</a:t>
            </a:r>
          </a:p>
        </p:txBody>
      </p:sp>
      <p:sp>
        <p:nvSpPr>
          <p:cNvPr id="446" name="矩形"/>
          <p:cNvSpPr/>
          <p:nvPr/>
        </p:nvSpPr>
        <p:spPr>
          <a:xfrm>
            <a:off x="9335013" y="4613169"/>
            <a:ext cx="5713048" cy="2043655"/>
          </a:xfrm>
          <a:prstGeom prst="rect">
            <a:avLst/>
          </a:prstGeom>
          <a:solidFill>
            <a:srgbClr val="9437FF">
              <a:alpha val="27019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47" name="矩形"/>
          <p:cNvSpPr/>
          <p:nvPr/>
        </p:nvSpPr>
        <p:spPr>
          <a:xfrm>
            <a:off x="9335013" y="4613169"/>
            <a:ext cx="92520" cy="2043655"/>
          </a:xfrm>
          <a:prstGeom prst="rect">
            <a:avLst/>
          </a:prstGeom>
          <a:solidFill>
            <a:srgbClr val="531B93">
              <a:alpha val="89362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48" name="任务内容…"/>
          <p:cNvSpPr txBox="1"/>
          <p:nvPr/>
        </p:nvSpPr>
        <p:spPr>
          <a:xfrm>
            <a:off x="9679321" y="5003171"/>
            <a:ext cx="4553422" cy="12636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latin typeface="Courier"/>
                <a:ea typeface="Courier"/>
                <a:cs typeface="Courier"/>
                <a:sym typeface="Courier"/>
              </a:defRPr>
            </a:pPr>
            <a:r>
              <a:t>任务内容</a:t>
            </a:r>
            <a:endParaRPr b="0"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提交前回顾需求、设计、任务、测试状态；生成关联 TASK、测试摘要和变更说明的 commit / MR。</a:t>
            </a:r>
          </a:p>
        </p:txBody>
      </p:sp>
      <p:sp>
        <p:nvSpPr>
          <p:cNvPr id="449" name="矩形"/>
          <p:cNvSpPr/>
          <p:nvPr/>
        </p:nvSpPr>
        <p:spPr>
          <a:xfrm>
            <a:off x="9335013" y="6816400"/>
            <a:ext cx="5713048" cy="175021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0" name="矩形"/>
          <p:cNvSpPr/>
          <p:nvPr/>
        </p:nvSpPr>
        <p:spPr>
          <a:xfrm>
            <a:off x="9335013" y="6816400"/>
            <a:ext cx="92520" cy="1750219"/>
          </a:xfrm>
          <a:prstGeom prst="rect">
            <a:avLst/>
          </a:prstGeom>
          <a:solidFill>
            <a:srgbClr val="A9A9A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1" name="交付物…"/>
          <p:cNvSpPr txBox="1"/>
          <p:nvPr/>
        </p:nvSpPr>
        <p:spPr>
          <a:xfrm>
            <a:off x="9649341" y="7082544"/>
            <a:ext cx="5084393" cy="121793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交付物</a:t>
            </a:r>
            <a:endParaRPr b="0">
              <a:solidFill>
                <a:srgbClr val="393939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Git commit、MR/PR、测试报告。</a:t>
            </a:r>
          </a:p>
        </p:txBody>
      </p:sp>
      <p:sp>
        <p:nvSpPr>
          <p:cNvPr id="452" name="矩形"/>
          <p:cNvSpPr/>
          <p:nvPr/>
        </p:nvSpPr>
        <p:spPr>
          <a:xfrm>
            <a:off x="9335013" y="8793111"/>
            <a:ext cx="5713048" cy="1747616"/>
          </a:xfrm>
          <a:prstGeom prst="rect">
            <a:avLst/>
          </a:prstGeom>
          <a:solidFill>
            <a:srgbClr val="FF7E79">
              <a:alpha val="19110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3" name="矩形"/>
          <p:cNvSpPr/>
          <p:nvPr/>
        </p:nvSpPr>
        <p:spPr>
          <a:xfrm>
            <a:off x="9335013" y="8791809"/>
            <a:ext cx="92520" cy="1750220"/>
          </a:xfrm>
          <a:prstGeom prst="rect">
            <a:avLst/>
          </a:prstGeom>
          <a:solidFill>
            <a:srgbClr val="FF7E7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4" name="门禁…"/>
          <p:cNvSpPr txBox="1"/>
          <p:nvPr/>
        </p:nvSpPr>
        <p:spPr>
          <a:xfrm>
            <a:off x="9674180" y="9035095"/>
            <a:ext cx="5034715" cy="12636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门禁</a:t>
            </a:r>
            <a:endParaRPr b="0">
              <a:solidFill>
                <a:srgbClr val="A2191F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A2191F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提交前确认需求、设计、开发、测试全部通过。Commit Message 关联任务和测试摘要。</a:t>
            </a:r>
          </a:p>
        </p:txBody>
      </p:sp>
      <p:sp>
        <p:nvSpPr>
          <p:cNvPr id="455" name="矩形"/>
          <p:cNvSpPr/>
          <p:nvPr/>
        </p:nvSpPr>
        <p:spPr>
          <a:xfrm>
            <a:off x="9335013" y="10769823"/>
            <a:ext cx="5713048" cy="1747616"/>
          </a:xfrm>
          <a:prstGeom prst="rect">
            <a:avLst/>
          </a:prstGeom>
          <a:solidFill>
            <a:srgbClr val="005493">
              <a:alpha val="17468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6" name="矩形"/>
          <p:cNvSpPr/>
          <p:nvPr/>
        </p:nvSpPr>
        <p:spPr>
          <a:xfrm>
            <a:off x="9335013" y="10768521"/>
            <a:ext cx="92520" cy="1750220"/>
          </a:xfrm>
          <a:prstGeom prst="rect">
            <a:avLst/>
          </a:prstGeom>
          <a:solidFill>
            <a:srgbClr val="005493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7" name="检查要点…"/>
          <p:cNvSpPr txBox="1"/>
          <p:nvPr/>
        </p:nvSpPr>
        <p:spPr>
          <a:xfrm>
            <a:off x="9674180" y="11067043"/>
            <a:ext cx="5034715" cy="9588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检查要点</a:t>
            </a:r>
            <a:endParaRPr b="0">
              <a:solidFill>
                <a:srgbClr val="002D9C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002D9C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Reviewer 检查代码质量、证据完整性、风险说明、回滚可行性和是否符合团队规范。</a:t>
            </a:r>
          </a:p>
        </p:txBody>
      </p:sp>
      <p:sp>
        <p:nvSpPr>
          <p:cNvPr id="458" name="矩形"/>
          <p:cNvSpPr/>
          <p:nvPr/>
        </p:nvSpPr>
        <p:spPr>
          <a:xfrm>
            <a:off x="16018510" y="3510219"/>
            <a:ext cx="6191252" cy="9384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2">
                <a:hueOff val="192982"/>
                <a:satOff val="17755"/>
                <a:lumOff val="-28480"/>
              </a:schemeClr>
            </a:solidFill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9" name="线条"/>
          <p:cNvSpPr/>
          <p:nvPr/>
        </p:nvSpPr>
        <p:spPr>
          <a:xfrm>
            <a:off x="16013483" y="3482250"/>
            <a:ext cx="6203157" cy="1"/>
          </a:xfrm>
          <a:prstGeom prst="line">
            <a:avLst/>
          </a:prstGeom>
          <a:ln w="25400">
            <a:solidFill>
              <a:srgbClr val="3C0F8E"/>
            </a:solidFill>
            <a:miter lim="400000"/>
          </a:ln>
        </p:spPr>
        <p:txBody>
          <a:bodyPr lIns="47625" tIns="47625" rIns="47625" bIns="47625" anchor="ctr"/>
          <a:lstStyle/>
          <a:p>
            <a:pPr defTabSz="2438400">
              <a:defRPr sz="4400"/>
            </a:pPr>
          </a:p>
        </p:txBody>
      </p:sp>
      <p:sp>
        <p:nvSpPr>
          <p:cNvPr id="460" name="12 测试环境部署"/>
          <p:cNvSpPr txBox="1"/>
          <p:nvPr/>
        </p:nvSpPr>
        <p:spPr>
          <a:xfrm>
            <a:off x="16256364" y="3667848"/>
            <a:ext cx="4416253" cy="8064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ctr">
            <a:spAutoFit/>
          </a:bodyPr>
          <a:lstStyle>
            <a:lvl1pPr marL="554355" indent="-554355" defTabSz="2438400">
              <a:buSzPct val="123000"/>
              <a:buChar char="•"/>
              <a:defRPr sz="4000">
                <a:solidFill>
                  <a:srgbClr val="531B93"/>
                </a:solidFill>
              </a:defRPr>
            </a:lvl1pPr>
          </a:lstStyle>
          <a:p>
            <a:r>
              <a:t>12 测试环境部署</a:t>
            </a:r>
          </a:p>
        </p:txBody>
      </p:sp>
      <p:sp>
        <p:nvSpPr>
          <p:cNvPr id="461" name="矩形"/>
          <p:cNvSpPr/>
          <p:nvPr/>
        </p:nvSpPr>
        <p:spPr>
          <a:xfrm>
            <a:off x="16256364" y="4636083"/>
            <a:ext cx="5713049" cy="2043654"/>
          </a:xfrm>
          <a:prstGeom prst="rect">
            <a:avLst/>
          </a:prstGeom>
          <a:solidFill>
            <a:srgbClr val="9437FF">
              <a:alpha val="27019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62" name="矩形"/>
          <p:cNvSpPr/>
          <p:nvPr/>
        </p:nvSpPr>
        <p:spPr>
          <a:xfrm>
            <a:off x="16256364" y="4636083"/>
            <a:ext cx="92521" cy="2043654"/>
          </a:xfrm>
          <a:prstGeom prst="rect">
            <a:avLst/>
          </a:prstGeom>
          <a:solidFill>
            <a:srgbClr val="531B93">
              <a:alpha val="89362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63" name="任务内容…"/>
          <p:cNvSpPr txBox="1"/>
          <p:nvPr/>
        </p:nvSpPr>
        <p:spPr>
          <a:xfrm>
            <a:off x="16600671" y="5026085"/>
            <a:ext cx="4553422" cy="12636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latin typeface="Courier"/>
                <a:ea typeface="Courier"/>
                <a:cs typeface="Courier"/>
                <a:sym typeface="Courier"/>
              </a:defRPr>
            </a:pPr>
            <a:r>
              <a:t>任务内容</a:t>
            </a:r>
            <a:endParaRPr b="0"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触发 CI/CD 到测试环境，记录构建、部署、配置、数据库迁移、访问地址和验证结果，形成最终交付证据链。</a:t>
            </a:r>
          </a:p>
        </p:txBody>
      </p:sp>
      <p:sp>
        <p:nvSpPr>
          <p:cNvPr id="464" name="矩形"/>
          <p:cNvSpPr/>
          <p:nvPr/>
        </p:nvSpPr>
        <p:spPr>
          <a:xfrm>
            <a:off x="16256364" y="6839313"/>
            <a:ext cx="5713049" cy="175022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65" name="矩形"/>
          <p:cNvSpPr/>
          <p:nvPr/>
        </p:nvSpPr>
        <p:spPr>
          <a:xfrm>
            <a:off x="16256364" y="6839313"/>
            <a:ext cx="92521" cy="1750220"/>
          </a:xfrm>
          <a:prstGeom prst="rect">
            <a:avLst/>
          </a:prstGeom>
          <a:solidFill>
            <a:srgbClr val="A9A9A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66" name="交付物…"/>
          <p:cNvSpPr txBox="1"/>
          <p:nvPr/>
        </p:nvSpPr>
        <p:spPr>
          <a:xfrm>
            <a:off x="16570693" y="7105457"/>
            <a:ext cx="5084393" cy="121793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交付物</a:t>
            </a:r>
            <a:endParaRPr b="0">
              <a:solidFill>
                <a:srgbClr val="393939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393939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deploy-log.md。部署记录。环境可访问，链路可追溯。</a:t>
            </a:r>
          </a:p>
        </p:txBody>
      </p:sp>
      <p:sp>
        <p:nvSpPr>
          <p:cNvPr id="467" name="矩形"/>
          <p:cNvSpPr/>
          <p:nvPr/>
        </p:nvSpPr>
        <p:spPr>
          <a:xfrm>
            <a:off x="16256364" y="8816025"/>
            <a:ext cx="5713049" cy="1747616"/>
          </a:xfrm>
          <a:prstGeom prst="rect">
            <a:avLst/>
          </a:prstGeom>
          <a:solidFill>
            <a:srgbClr val="FF7E79">
              <a:alpha val="19110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68" name="矩形"/>
          <p:cNvSpPr/>
          <p:nvPr/>
        </p:nvSpPr>
        <p:spPr>
          <a:xfrm>
            <a:off x="16256364" y="8814723"/>
            <a:ext cx="92521" cy="1750220"/>
          </a:xfrm>
          <a:prstGeom prst="rect">
            <a:avLst/>
          </a:prstGeom>
          <a:solidFill>
            <a:srgbClr val="FF7E79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69" name="门禁…"/>
          <p:cNvSpPr txBox="1"/>
          <p:nvPr/>
        </p:nvSpPr>
        <p:spPr>
          <a:xfrm>
            <a:off x="16595531" y="9058007"/>
            <a:ext cx="5034714" cy="12636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门禁</a:t>
            </a:r>
            <a:endParaRPr b="0">
              <a:solidFill>
                <a:srgbClr val="A2191F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A2191F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测试环境部署必须有流水线触发记录。禁用 Mock，环境可访问，链路可追溯。</a:t>
            </a:r>
          </a:p>
        </p:txBody>
      </p:sp>
      <p:sp>
        <p:nvSpPr>
          <p:cNvPr id="470" name="矩形"/>
          <p:cNvSpPr/>
          <p:nvPr/>
        </p:nvSpPr>
        <p:spPr>
          <a:xfrm>
            <a:off x="16256364" y="10792736"/>
            <a:ext cx="5713049" cy="1747616"/>
          </a:xfrm>
          <a:prstGeom prst="rect">
            <a:avLst/>
          </a:prstGeom>
          <a:solidFill>
            <a:srgbClr val="005493">
              <a:alpha val="17468"/>
            </a:srgbClr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1" name="矩形"/>
          <p:cNvSpPr/>
          <p:nvPr/>
        </p:nvSpPr>
        <p:spPr>
          <a:xfrm>
            <a:off x="16256364" y="10791434"/>
            <a:ext cx="92521" cy="1750220"/>
          </a:xfrm>
          <a:prstGeom prst="rect">
            <a:avLst/>
          </a:prstGeom>
          <a:solidFill>
            <a:srgbClr val="005493"/>
          </a:solidFill>
          <a:ln w="12700">
            <a:miter lim="400000"/>
          </a:ln>
        </p:spPr>
        <p:txBody>
          <a:bodyPr lIns="47625" tIns="47625" rIns="47625" bIns="47625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2" name="检查要点…"/>
          <p:cNvSpPr txBox="1"/>
          <p:nvPr/>
        </p:nvSpPr>
        <p:spPr>
          <a:xfrm>
            <a:off x="16595531" y="11226270"/>
            <a:ext cx="5034714" cy="654051"/>
          </a:xfrm>
          <a:prstGeom prst="rect">
            <a:avLst/>
          </a:prstGeom>
          <a:ln w="12700">
            <a:miter lim="400000"/>
          </a:ln>
        </p:spPr>
        <p:txBody>
          <a:bodyPr lIns="47625" tIns="47625" rIns="47625" bIns="47625" anchor="ctr">
            <a:spAutoFit/>
          </a:bodyPr>
          <a:lstStyle/>
          <a:p>
            <a:pPr defTabSz="457200">
              <a:lnSpc>
                <a:spcPct val="120000"/>
              </a:lnSpc>
              <a:spcBef>
                <a:spcPts val="0"/>
              </a:spcBef>
              <a:defRPr sz="1400" b="1">
                <a:solidFill>
                  <a:srgbClr val="1616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检查要点</a:t>
            </a:r>
            <a:endParaRPr b="0">
              <a:solidFill>
                <a:srgbClr val="002D9C"/>
              </a:solidFill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defTabSz="457200">
              <a:lnSpc>
                <a:spcPct val="120000"/>
              </a:lnSpc>
              <a:spcBef>
                <a:spcPts val="0"/>
              </a:spcBef>
              <a:defRPr sz="1400">
                <a:solidFill>
                  <a:srgbClr val="002D9C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确认部署记录、权限、风险、监控和回滚方案。</a:t>
            </a:r>
          </a:p>
        </p:txBody>
      </p:sp>
      <p:sp>
        <p:nvSpPr>
          <p:cNvPr id="473" name="阶段目标 ——把“AI 生成了代码”转成“团队工程资产已入库、测试环境可访问、业务和测试人员已确认”的交付证据链。"/>
          <p:cNvSpPr txBox="1"/>
          <p:nvPr/>
        </p:nvSpPr>
        <p:spPr>
          <a:xfrm>
            <a:off x="2143834" y="2949704"/>
            <a:ext cx="10905179" cy="374651"/>
          </a:xfrm>
          <a:prstGeom prst="rect">
            <a:avLst/>
          </a:prstGeom>
          <a:ln w="12700">
            <a:miter lim="400000"/>
          </a:ln>
        </p:spPr>
        <p:txBody>
          <a:bodyPr wrap="none" lIns="47625" tIns="47625" rIns="47625" bIns="47625" anchor="b">
            <a:spAutoFit/>
          </a:bodyPr>
          <a:lstStyle>
            <a:lvl1pPr defTabSz="457200">
              <a:lnSpc>
                <a:spcPct val="100000"/>
              </a:lnSpc>
              <a:spcBef>
                <a:spcPts val="1300"/>
              </a:spcBef>
              <a:defRPr sz="1600">
                <a:solidFill>
                  <a:srgbClr val="531B93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阶段目标 ——把“AI 生成了代码”转成“团队工程资产已入库、测试环境可访问、业务和测试人员已确认”的交付证据链。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文本占位符 1"/>
          <p:cNvSpPr txBox="1"/>
          <p:nvPr>
            <p:ph type="body" sz="quarter" idx="1"/>
          </p:nvPr>
        </p:nvSpPr>
        <p:spPr>
          <a:xfrm>
            <a:off x="1197428" y="1310058"/>
            <a:ext cx="21505377" cy="1184883"/>
          </a:xfrm>
          <a:prstGeom prst="rect">
            <a:avLst/>
          </a:prstGeom>
        </p:spPr>
        <p:txBody>
          <a:bodyPr/>
          <a:lstStyle>
            <a:lvl1pPr>
              <a:lnSpc>
                <a:spcPct val="108000"/>
              </a:lnSpc>
              <a:defRPr spc="185">
                <a:solidFill>
                  <a:srgbClr val="06133B"/>
                </a:solidFill>
              </a:defRPr>
            </a:lvl1pPr>
          </a:lstStyle>
          <a:p>
            <a:r>
              <a:t>GienCoder 4p12s:  端到端 AI 需求交付流程</a:t>
            </a:r>
          </a:p>
        </p:txBody>
      </p:sp>
      <p:sp>
        <p:nvSpPr>
          <p:cNvPr id="479" name="Text 66"/>
          <p:cNvSpPr txBox="1"/>
          <p:nvPr/>
        </p:nvSpPr>
        <p:spPr>
          <a:xfrm>
            <a:off x="1360883" y="2655688"/>
            <a:ext cx="17883189" cy="419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一、</a:t>
            </a:r>
            <a:r>
              <a:t>GienCoder 4p12s </a:t>
            </a:r>
            <a:r>
              <a:t>链路：从原始需求到验证交付的端到端标准流程（4 阶段 · 12 步 · 12 个 </a:t>
            </a:r>
            <a:r>
              <a:t>Skills，</a:t>
            </a:r>
            <a:r>
              <a:t>形成闭环）</a:t>
            </a:r>
          </a:p>
        </p:txBody>
      </p:sp>
      <p:sp>
        <p:nvSpPr>
          <p:cNvPr id="480" name="Shape 78"/>
          <p:cNvSpPr/>
          <p:nvPr/>
        </p:nvSpPr>
        <p:spPr>
          <a:xfrm>
            <a:off x="6649163" y="5668803"/>
            <a:ext cx="360046" cy="1"/>
          </a:xfrm>
          <a:prstGeom prst="line">
            <a:avLst/>
          </a:prstGeom>
          <a:ln w="50800" cap="rnd">
            <a:solidFill>
              <a:srgbClr val="4874CB"/>
            </a:solidFill>
            <a:tailEnd type="triangle"/>
          </a:ln>
        </p:spPr>
        <p:txBody>
          <a:bodyPr lIns="85723" tIns="85723" rIns="85723" bIns="85723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</a:defRPr>
            </a:pPr>
          </a:p>
        </p:txBody>
      </p:sp>
      <p:sp>
        <p:nvSpPr>
          <p:cNvPr id="481" name="Shape 79"/>
          <p:cNvSpPr/>
          <p:nvPr/>
        </p:nvSpPr>
        <p:spPr>
          <a:xfrm>
            <a:off x="12272724" y="5668803"/>
            <a:ext cx="342901" cy="1"/>
          </a:xfrm>
          <a:prstGeom prst="line">
            <a:avLst/>
          </a:prstGeom>
          <a:ln w="50800" cap="rnd">
            <a:solidFill>
              <a:srgbClr val="4874CB"/>
            </a:solidFill>
            <a:tailEnd type="triangle"/>
          </a:ln>
        </p:spPr>
        <p:txBody>
          <a:bodyPr lIns="85723" tIns="85723" rIns="85723" bIns="85723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</a:defRPr>
            </a:pPr>
          </a:p>
        </p:txBody>
      </p:sp>
      <p:sp>
        <p:nvSpPr>
          <p:cNvPr id="482" name="Shape 83"/>
          <p:cNvSpPr/>
          <p:nvPr/>
        </p:nvSpPr>
        <p:spPr>
          <a:xfrm>
            <a:off x="1265634" y="3296602"/>
            <a:ext cx="5400676" cy="4046221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483" name="Shape 84"/>
          <p:cNvSpPr/>
          <p:nvPr/>
        </p:nvSpPr>
        <p:spPr>
          <a:xfrm>
            <a:off x="1265634" y="3296602"/>
            <a:ext cx="5400676" cy="925831"/>
          </a:xfrm>
          <a:prstGeom prst="roundRect">
            <a:avLst>
              <a:gd name="adj" fmla="val 14815"/>
            </a:avLst>
          </a:prstGeom>
          <a:solidFill>
            <a:srgbClr val="EFF7FF"/>
          </a:solidFill>
          <a:ln w="12700">
            <a:solidFill>
              <a:srgbClr val="F2F2F2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484" name="Text 85"/>
          <p:cNvSpPr txBox="1"/>
          <p:nvPr/>
        </p:nvSpPr>
        <p:spPr>
          <a:xfrm>
            <a:off x="1402794" y="3433762"/>
            <a:ext cx="5126356" cy="41076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2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⚑  阶段 1：准备</a:t>
            </a:r>
          </a:p>
        </p:txBody>
      </p:sp>
      <p:sp>
        <p:nvSpPr>
          <p:cNvPr id="485" name="Text 86"/>
          <p:cNvSpPr txBox="1"/>
          <p:nvPr/>
        </p:nvSpPr>
        <p:spPr>
          <a:xfrm>
            <a:off x="1565671" y="3838654"/>
            <a:ext cx="4886326" cy="317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061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把原始需求转成可推进的交付入口</a:t>
            </a:r>
          </a:p>
        </p:txBody>
      </p:sp>
      <p:sp>
        <p:nvSpPr>
          <p:cNvPr id="486" name="Shape 87"/>
          <p:cNvSpPr/>
          <p:nvPr/>
        </p:nvSpPr>
        <p:spPr>
          <a:xfrm>
            <a:off x="1437084" y="4417218"/>
            <a:ext cx="1605916" cy="2657476"/>
          </a:xfrm>
          <a:prstGeom prst="roundRect">
            <a:avLst>
              <a:gd name="adj" fmla="val 5872"/>
            </a:avLst>
          </a:prstGeom>
          <a:solidFill>
            <a:srgbClr val="FFFFFF"/>
          </a:solidFill>
          <a:ln w="12700">
            <a:solidFill>
              <a:srgbClr val="DAE3F5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487" name="Shape 88"/>
          <p:cNvSpPr/>
          <p:nvPr/>
        </p:nvSpPr>
        <p:spPr>
          <a:xfrm>
            <a:off x="2060019" y="4575095"/>
            <a:ext cx="360046" cy="360046"/>
          </a:xfrm>
          <a:prstGeom prst="ellipse">
            <a:avLst/>
          </a:prstGeom>
          <a:solidFill>
            <a:srgbClr val="4874CB"/>
          </a:solidFill>
          <a:ln w="3175">
            <a:solidFill>
              <a:srgbClr val="FFFFFF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grpSp>
        <p:nvGrpSpPr>
          <p:cNvPr id="490" name="Text 89"/>
          <p:cNvGrpSpPr/>
          <p:nvPr/>
        </p:nvGrpSpPr>
        <p:grpSpPr>
          <a:xfrm>
            <a:off x="2060019" y="4585382"/>
            <a:ext cx="360046" cy="339471"/>
            <a:chOff x="0" y="0"/>
            <a:chExt cx="360045" cy="339470"/>
          </a:xfrm>
        </p:grpSpPr>
        <p:sp>
          <p:nvSpPr>
            <p:cNvPr id="488" name="矩形"/>
            <p:cNvSpPr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solidFill>
              <a:srgbClr val="4874CB"/>
            </a:solidFill>
            <a:ln w="12700" cap="flat">
              <a:noFill/>
              <a:miter lim="400000"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pPr>
            </a:p>
          </p:txBody>
        </p:sp>
        <p:sp>
          <p:nvSpPr>
            <p:cNvPr id="489" name="01"/>
            <p:cNvSpPr txBox="1"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491" name="Text 90"/>
          <p:cNvSpPr txBox="1"/>
          <p:nvPr/>
        </p:nvSpPr>
        <p:spPr>
          <a:xfrm>
            <a:off x="1510902" y="4999910"/>
            <a:ext cx="1434466" cy="30861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流程初始化</a:t>
            </a:r>
          </a:p>
        </p:txBody>
      </p:sp>
      <p:sp>
        <p:nvSpPr>
          <p:cNvPr id="492" name="Text 92"/>
          <p:cNvSpPr txBox="1"/>
          <p:nvPr/>
        </p:nvSpPr>
        <p:spPr>
          <a:xfrm>
            <a:off x="1592487" y="5621019"/>
            <a:ext cx="1346544" cy="357030"/>
          </a:xfrm>
          <a:prstGeom prst="rect">
            <a:avLst/>
          </a:prstGeom>
          <a:ln w="12700">
            <a:miter lim="400000"/>
          </a:ln>
        </p:spPr>
        <p:txBody>
          <a:bodyPr lIns="714" tIns="714" rIns="714" bIns="714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4p12s-delivery-orchestrator</a:t>
            </a:r>
          </a:p>
        </p:txBody>
      </p:sp>
      <p:sp>
        <p:nvSpPr>
          <p:cNvPr id="493" name="Text 93"/>
          <p:cNvSpPr txBox="1"/>
          <p:nvPr/>
        </p:nvSpPr>
        <p:spPr>
          <a:xfrm>
            <a:off x="1574244" y="6216014"/>
            <a:ext cx="1331596" cy="78867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100">
                <a:solidFill>
                  <a:srgbClr val="2731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用户输入业务需求，生成交付状态跟踪表，启动整个流程。</a:t>
            </a:r>
          </a:p>
        </p:txBody>
      </p:sp>
      <p:sp>
        <p:nvSpPr>
          <p:cNvPr id="494" name="Shape 95"/>
          <p:cNvSpPr/>
          <p:nvPr/>
        </p:nvSpPr>
        <p:spPr>
          <a:xfrm>
            <a:off x="3163014" y="4417218"/>
            <a:ext cx="1605916" cy="2657476"/>
          </a:xfrm>
          <a:prstGeom prst="roundRect">
            <a:avLst>
              <a:gd name="adj" fmla="val 5872"/>
            </a:avLst>
          </a:prstGeom>
          <a:solidFill>
            <a:srgbClr val="FFFFFF"/>
          </a:solidFill>
          <a:ln w="12700">
            <a:solidFill>
              <a:srgbClr val="DAE3F5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495" name="Shape 96"/>
          <p:cNvSpPr/>
          <p:nvPr/>
        </p:nvSpPr>
        <p:spPr>
          <a:xfrm>
            <a:off x="3785949" y="4575095"/>
            <a:ext cx="360046" cy="360046"/>
          </a:xfrm>
          <a:prstGeom prst="ellipse">
            <a:avLst/>
          </a:prstGeom>
          <a:solidFill>
            <a:srgbClr val="4874CB"/>
          </a:solidFill>
          <a:ln w="3175">
            <a:solidFill>
              <a:srgbClr val="FFFFFF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grpSp>
        <p:nvGrpSpPr>
          <p:cNvPr id="498" name="Text 97"/>
          <p:cNvGrpSpPr/>
          <p:nvPr/>
        </p:nvGrpSpPr>
        <p:grpSpPr>
          <a:xfrm>
            <a:off x="3785949" y="4585382"/>
            <a:ext cx="360046" cy="339471"/>
            <a:chOff x="0" y="0"/>
            <a:chExt cx="360045" cy="339470"/>
          </a:xfrm>
        </p:grpSpPr>
        <p:sp>
          <p:nvSpPr>
            <p:cNvPr id="496" name="矩形"/>
            <p:cNvSpPr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solidFill>
              <a:srgbClr val="4874CB"/>
            </a:solidFill>
            <a:ln w="12700" cap="flat">
              <a:noFill/>
              <a:miter lim="400000"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pPr>
            </a:p>
          </p:txBody>
        </p:sp>
        <p:sp>
          <p:nvSpPr>
            <p:cNvPr id="497" name="02"/>
            <p:cNvSpPr txBox="1"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t>02</a:t>
              </a:r>
            </a:p>
          </p:txBody>
        </p:sp>
      </p:grpSp>
      <p:sp>
        <p:nvSpPr>
          <p:cNvPr id="499" name="Text 98"/>
          <p:cNvSpPr txBox="1"/>
          <p:nvPr/>
        </p:nvSpPr>
        <p:spPr>
          <a:xfrm>
            <a:off x="3236832" y="4999910"/>
            <a:ext cx="1434467" cy="30861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业务需求分析</a:t>
            </a:r>
          </a:p>
        </p:txBody>
      </p:sp>
      <p:sp>
        <p:nvSpPr>
          <p:cNvPr id="500" name="Shape 94"/>
          <p:cNvSpPr/>
          <p:nvPr/>
        </p:nvSpPr>
        <p:spPr>
          <a:xfrm>
            <a:off x="3077289" y="5569743"/>
            <a:ext cx="308611" cy="1"/>
          </a:xfrm>
          <a:prstGeom prst="line">
            <a:avLst/>
          </a:prstGeom>
          <a:ln w="12700">
            <a:solidFill>
              <a:srgbClr val="4874CB"/>
            </a:solidFill>
            <a:miter/>
            <a:tailEnd type="triangle"/>
          </a:ln>
        </p:spPr>
        <p:txBody>
          <a:bodyPr lIns="85723" tIns="85723" rIns="85723" bIns="85723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</a:defRPr>
            </a:pPr>
          </a:p>
        </p:txBody>
      </p:sp>
      <p:sp>
        <p:nvSpPr>
          <p:cNvPr id="501" name="Text 100"/>
          <p:cNvSpPr txBox="1"/>
          <p:nvPr/>
        </p:nvSpPr>
        <p:spPr>
          <a:xfrm>
            <a:off x="3316649" y="5606175"/>
            <a:ext cx="1317050" cy="357029"/>
          </a:xfrm>
          <a:prstGeom prst="rect">
            <a:avLst/>
          </a:prstGeom>
          <a:ln w="12700">
            <a:miter lim="400000"/>
          </a:ln>
        </p:spPr>
        <p:txBody>
          <a:bodyPr lIns="714" tIns="714" rIns="714" bIns="714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4p12s-requirements</a:t>
            </a:r>
          </a:p>
        </p:txBody>
      </p:sp>
      <p:sp>
        <p:nvSpPr>
          <p:cNvPr id="502" name="Text 101"/>
          <p:cNvSpPr txBox="1"/>
          <p:nvPr/>
        </p:nvSpPr>
        <p:spPr>
          <a:xfrm>
            <a:off x="3300174" y="6216014"/>
            <a:ext cx="1331596" cy="78867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100">
                <a:solidFill>
                  <a:srgbClr val="2731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读取业务方原始需求文档，提炼生成原始需求登记表。</a:t>
            </a:r>
          </a:p>
        </p:txBody>
      </p:sp>
      <p:sp>
        <p:nvSpPr>
          <p:cNvPr id="503" name="Shape 103"/>
          <p:cNvSpPr/>
          <p:nvPr/>
        </p:nvSpPr>
        <p:spPr>
          <a:xfrm>
            <a:off x="4888944" y="4417218"/>
            <a:ext cx="1605916" cy="2657476"/>
          </a:xfrm>
          <a:prstGeom prst="roundRect">
            <a:avLst>
              <a:gd name="adj" fmla="val 5872"/>
            </a:avLst>
          </a:prstGeom>
          <a:solidFill>
            <a:srgbClr val="FFFFFF"/>
          </a:solidFill>
          <a:ln w="12700">
            <a:solidFill>
              <a:srgbClr val="DAE3F5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504" name="Shape 104"/>
          <p:cNvSpPr/>
          <p:nvPr/>
        </p:nvSpPr>
        <p:spPr>
          <a:xfrm>
            <a:off x="5511879" y="4575095"/>
            <a:ext cx="360046" cy="360046"/>
          </a:xfrm>
          <a:prstGeom prst="ellipse">
            <a:avLst/>
          </a:prstGeom>
          <a:solidFill>
            <a:srgbClr val="4874CB"/>
          </a:solidFill>
          <a:ln w="3175">
            <a:solidFill>
              <a:srgbClr val="FFFFFF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grpSp>
        <p:nvGrpSpPr>
          <p:cNvPr id="507" name="Text 105"/>
          <p:cNvGrpSpPr/>
          <p:nvPr/>
        </p:nvGrpSpPr>
        <p:grpSpPr>
          <a:xfrm>
            <a:off x="5511879" y="4585382"/>
            <a:ext cx="360046" cy="339471"/>
            <a:chOff x="0" y="0"/>
            <a:chExt cx="360045" cy="339470"/>
          </a:xfrm>
        </p:grpSpPr>
        <p:sp>
          <p:nvSpPr>
            <p:cNvPr id="505" name="矩形"/>
            <p:cNvSpPr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solidFill>
              <a:srgbClr val="4874CB"/>
            </a:solidFill>
            <a:ln w="12700" cap="flat">
              <a:noFill/>
              <a:miter lim="400000"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pPr>
            </a:p>
          </p:txBody>
        </p:sp>
        <p:sp>
          <p:nvSpPr>
            <p:cNvPr id="506" name="03"/>
            <p:cNvSpPr txBox="1"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t>03</a:t>
              </a:r>
            </a:p>
          </p:txBody>
        </p:sp>
      </p:grpSp>
      <p:sp>
        <p:nvSpPr>
          <p:cNvPr id="508" name="Text 106"/>
          <p:cNvSpPr txBox="1"/>
          <p:nvPr/>
        </p:nvSpPr>
        <p:spPr>
          <a:xfrm>
            <a:off x="4879180" y="5057576"/>
            <a:ext cx="1620442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生成产品需求文档</a:t>
            </a:r>
          </a:p>
        </p:txBody>
      </p:sp>
      <p:sp>
        <p:nvSpPr>
          <p:cNvPr id="509" name="Shape 102"/>
          <p:cNvSpPr/>
          <p:nvPr/>
        </p:nvSpPr>
        <p:spPr>
          <a:xfrm>
            <a:off x="4803219" y="5569743"/>
            <a:ext cx="308611" cy="1"/>
          </a:xfrm>
          <a:prstGeom prst="line">
            <a:avLst/>
          </a:prstGeom>
          <a:ln w="12700">
            <a:solidFill>
              <a:srgbClr val="4874CB"/>
            </a:solidFill>
            <a:miter/>
            <a:tailEnd type="triangle"/>
          </a:ln>
        </p:spPr>
        <p:txBody>
          <a:bodyPr lIns="85723" tIns="85723" rIns="85723" bIns="85723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</a:defRPr>
            </a:pPr>
          </a:p>
        </p:txBody>
      </p:sp>
      <p:sp>
        <p:nvSpPr>
          <p:cNvPr id="510" name="Text 108"/>
          <p:cNvSpPr txBox="1"/>
          <p:nvPr/>
        </p:nvSpPr>
        <p:spPr>
          <a:xfrm>
            <a:off x="5042580" y="5683169"/>
            <a:ext cx="1317049" cy="179230"/>
          </a:xfrm>
          <a:prstGeom prst="rect">
            <a:avLst/>
          </a:prstGeom>
          <a:ln w="12700">
            <a:miter lim="400000"/>
          </a:ln>
        </p:spPr>
        <p:txBody>
          <a:bodyPr lIns="714" tIns="714" rIns="714" bIns="714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4p12s-prd</a:t>
            </a:r>
          </a:p>
        </p:txBody>
      </p:sp>
      <p:sp>
        <p:nvSpPr>
          <p:cNvPr id="511" name="Text 109"/>
          <p:cNvSpPr txBox="1"/>
          <p:nvPr/>
        </p:nvSpPr>
        <p:spPr>
          <a:xfrm>
            <a:off x="5026104" y="6216014"/>
            <a:ext cx="1331596" cy="78867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100">
                <a:solidFill>
                  <a:srgbClr val="2731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基于原始需求登记表，生成结构化 PRD 产品需求文档。</a:t>
            </a:r>
          </a:p>
        </p:txBody>
      </p:sp>
      <p:sp>
        <p:nvSpPr>
          <p:cNvPr id="512" name="Shape 110"/>
          <p:cNvSpPr/>
          <p:nvPr/>
        </p:nvSpPr>
        <p:spPr>
          <a:xfrm>
            <a:off x="7094934" y="3296602"/>
            <a:ext cx="5057776" cy="4046221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513" name="Shape 111"/>
          <p:cNvSpPr/>
          <p:nvPr/>
        </p:nvSpPr>
        <p:spPr>
          <a:xfrm>
            <a:off x="7094934" y="3296602"/>
            <a:ext cx="5057776" cy="925831"/>
          </a:xfrm>
          <a:prstGeom prst="roundRect">
            <a:avLst>
              <a:gd name="adj" fmla="val 14815"/>
            </a:avLst>
          </a:prstGeom>
          <a:solidFill>
            <a:srgbClr val="EFF7FF"/>
          </a:solidFill>
          <a:ln w="12700">
            <a:solidFill>
              <a:srgbClr val="F2F2F2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514" name="Text 112"/>
          <p:cNvSpPr txBox="1"/>
          <p:nvPr/>
        </p:nvSpPr>
        <p:spPr>
          <a:xfrm>
            <a:off x="7232093" y="3433762"/>
            <a:ext cx="4783456" cy="41076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2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✎  阶段 2：设计</a:t>
            </a:r>
          </a:p>
        </p:txBody>
      </p:sp>
      <p:sp>
        <p:nvSpPr>
          <p:cNvPr id="515" name="Text 113"/>
          <p:cNvSpPr txBox="1"/>
          <p:nvPr/>
        </p:nvSpPr>
        <p:spPr>
          <a:xfrm>
            <a:off x="7394971" y="3838654"/>
            <a:ext cx="4543426" cy="317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061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把业务语言转成产品、验收与技术约束</a:t>
            </a:r>
          </a:p>
        </p:txBody>
      </p:sp>
      <p:sp>
        <p:nvSpPr>
          <p:cNvPr id="516" name="Shape 114"/>
          <p:cNvSpPr/>
          <p:nvPr/>
        </p:nvSpPr>
        <p:spPr>
          <a:xfrm>
            <a:off x="7266384" y="4417218"/>
            <a:ext cx="1491616" cy="2657476"/>
          </a:xfrm>
          <a:prstGeom prst="roundRect">
            <a:avLst>
              <a:gd name="adj" fmla="val 6322"/>
            </a:avLst>
          </a:prstGeom>
          <a:solidFill>
            <a:srgbClr val="FFFFFF"/>
          </a:solidFill>
          <a:ln w="12700">
            <a:solidFill>
              <a:srgbClr val="DAE3F5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517" name="Shape 115"/>
          <p:cNvSpPr/>
          <p:nvPr/>
        </p:nvSpPr>
        <p:spPr>
          <a:xfrm>
            <a:off x="7832169" y="4575095"/>
            <a:ext cx="360046" cy="360046"/>
          </a:xfrm>
          <a:prstGeom prst="ellipse">
            <a:avLst/>
          </a:prstGeom>
          <a:solidFill>
            <a:srgbClr val="4874CB"/>
          </a:solidFill>
          <a:ln w="3175">
            <a:solidFill>
              <a:srgbClr val="FFFFFF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grpSp>
        <p:nvGrpSpPr>
          <p:cNvPr id="520" name="Text 116"/>
          <p:cNvGrpSpPr/>
          <p:nvPr/>
        </p:nvGrpSpPr>
        <p:grpSpPr>
          <a:xfrm>
            <a:off x="7832169" y="4585382"/>
            <a:ext cx="360046" cy="339471"/>
            <a:chOff x="0" y="0"/>
            <a:chExt cx="360045" cy="339470"/>
          </a:xfrm>
        </p:grpSpPr>
        <p:sp>
          <p:nvSpPr>
            <p:cNvPr id="518" name="矩形"/>
            <p:cNvSpPr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solidFill>
              <a:srgbClr val="4874CB"/>
            </a:solidFill>
            <a:ln w="12700" cap="flat">
              <a:noFill/>
              <a:miter lim="400000"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pPr>
            </a:p>
          </p:txBody>
        </p:sp>
        <p:sp>
          <p:nvSpPr>
            <p:cNvPr id="519" name="04"/>
            <p:cNvSpPr txBox="1"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t>04</a:t>
              </a:r>
            </a:p>
          </p:txBody>
        </p:sp>
      </p:grpSp>
      <p:sp>
        <p:nvSpPr>
          <p:cNvPr id="521" name="Text 117"/>
          <p:cNvSpPr txBox="1"/>
          <p:nvPr/>
        </p:nvSpPr>
        <p:spPr>
          <a:xfrm>
            <a:off x="7340203" y="4999910"/>
            <a:ext cx="1320166" cy="30861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生成用户故事</a:t>
            </a:r>
          </a:p>
        </p:txBody>
      </p:sp>
      <p:sp>
        <p:nvSpPr>
          <p:cNvPr id="522" name="Text 119"/>
          <p:cNvSpPr txBox="1"/>
          <p:nvPr/>
        </p:nvSpPr>
        <p:spPr>
          <a:xfrm>
            <a:off x="7330723" y="5641893"/>
            <a:ext cx="1317049" cy="357030"/>
          </a:xfrm>
          <a:prstGeom prst="rect">
            <a:avLst/>
          </a:prstGeom>
          <a:ln w="12700">
            <a:miter lim="400000"/>
          </a:ln>
        </p:spPr>
        <p:txBody>
          <a:bodyPr lIns="714" tIns="714" rIns="714" bIns="714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4p12s-user-stories</a:t>
            </a:r>
          </a:p>
        </p:txBody>
      </p:sp>
      <p:sp>
        <p:nvSpPr>
          <p:cNvPr id="523" name="Text 120"/>
          <p:cNvSpPr txBox="1"/>
          <p:nvPr/>
        </p:nvSpPr>
        <p:spPr>
          <a:xfrm>
            <a:off x="7403544" y="6216014"/>
            <a:ext cx="1217296" cy="78867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100">
                <a:solidFill>
                  <a:srgbClr val="2731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基于原始需求和 PRD，拆分为用户故事文档。</a:t>
            </a:r>
          </a:p>
        </p:txBody>
      </p:sp>
      <p:sp>
        <p:nvSpPr>
          <p:cNvPr id="524" name="Shape 122"/>
          <p:cNvSpPr/>
          <p:nvPr/>
        </p:nvSpPr>
        <p:spPr>
          <a:xfrm>
            <a:off x="8878013" y="4417218"/>
            <a:ext cx="1491616" cy="2657476"/>
          </a:xfrm>
          <a:prstGeom prst="roundRect">
            <a:avLst>
              <a:gd name="adj" fmla="val 6322"/>
            </a:avLst>
          </a:prstGeom>
          <a:ln w="12700">
            <a:solidFill>
              <a:srgbClr val="DAE3F5"/>
            </a:solidFill>
            <a:miter/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525" name="Shape 123"/>
          <p:cNvSpPr/>
          <p:nvPr/>
        </p:nvSpPr>
        <p:spPr>
          <a:xfrm>
            <a:off x="9443799" y="4575095"/>
            <a:ext cx="360046" cy="360046"/>
          </a:xfrm>
          <a:prstGeom prst="ellipse">
            <a:avLst/>
          </a:prstGeom>
          <a:solidFill>
            <a:srgbClr val="4874CB"/>
          </a:solidFill>
          <a:ln w="3175">
            <a:solidFill>
              <a:srgbClr val="FFFFFF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grpSp>
        <p:nvGrpSpPr>
          <p:cNvPr id="528" name="Text 124"/>
          <p:cNvGrpSpPr/>
          <p:nvPr/>
        </p:nvGrpSpPr>
        <p:grpSpPr>
          <a:xfrm>
            <a:off x="9443799" y="4585382"/>
            <a:ext cx="360046" cy="339471"/>
            <a:chOff x="0" y="0"/>
            <a:chExt cx="360045" cy="339470"/>
          </a:xfrm>
        </p:grpSpPr>
        <p:sp>
          <p:nvSpPr>
            <p:cNvPr id="526" name="矩形"/>
            <p:cNvSpPr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solidFill>
              <a:srgbClr val="4874CB"/>
            </a:solidFill>
            <a:ln w="12700" cap="flat">
              <a:noFill/>
              <a:miter lim="400000"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pPr>
            </a:p>
          </p:txBody>
        </p:sp>
        <p:sp>
          <p:nvSpPr>
            <p:cNvPr id="527" name="05"/>
            <p:cNvSpPr txBox="1"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t>05</a:t>
              </a:r>
            </a:p>
          </p:txBody>
        </p:sp>
      </p:grpSp>
      <p:sp>
        <p:nvSpPr>
          <p:cNvPr id="529" name="Text 125"/>
          <p:cNvSpPr txBox="1"/>
          <p:nvPr/>
        </p:nvSpPr>
        <p:spPr>
          <a:xfrm>
            <a:off x="8833246" y="5045670"/>
            <a:ext cx="1585914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生成技术设计文档</a:t>
            </a:r>
          </a:p>
        </p:txBody>
      </p:sp>
      <p:sp>
        <p:nvSpPr>
          <p:cNvPr id="530" name="Shape 121"/>
          <p:cNvSpPr/>
          <p:nvPr/>
        </p:nvSpPr>
        <p:spPr>
          <a:xfrm>
            <a:off x="8792289" y="5569743"/>
            <a:ext cx="308611" cy="1"/>
          </a:xfrm>
          <a:prstGeom prst="line">
            <a:avLst/>
          </a:prstGeom>
          <a:ln w="12700">
            <a:solidFill>
              <a:srgbClr val="4874CB"/>
            </a:solidFill>
            <a:miter/>
            <a:tailEnd type="triangle"/>
          </a:ln>
        </p:spPr>
        <p:txBody>
          <a:bodyPr lIns="85723" tIns="85723" rIns="85723" bIns="85723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</a:defRPr>
            </a:pPr>
          </a:p>
        </p:txBody>
      </p:sp>
      <p:sp>
        <p:nvSpPr>
          <p:cNvPr id="531" name="Text 127"/>
          <p:cNvSpPr txBox="1"/>
          <p:nvPr/>
        </p:nvSpPr>
        <p:spPr>
          <a:xfrm>
            <a:off x="8942352" y="5665706"/>
            <a:ext cx="1317050" cy="357030"/>
          </a:xfrm>
          <a:prstGeom prst="rect">
            <a:avLst/>
          </a:prstGeom>
          <a:ln w="12700">
            <a:miter lim="400000"/>
          </a:ln>
        </p:spPr>
        <p:txBody>
          <a:bodyPr lIns="714" tIns="714" rIns="714" bIns="714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4p12s-technical-design</a:t>
            </a:r>
          </a:p>
        </p:txBody>
      </p:sp>
      <p:sp>
        <p:nvSpPr>
          <p:cNvPr id="532" name="Text 128"/>
          <p:cNvSpPr txBox="1"/>
          <p:nvPr/>
        </p:nvSpPr>
        <p:spPr>
          <a:xfrm>
            <a:off x="9015174" y="6216014"/>
            <a:ext cx="1217296" cy="78867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algn="ctr" defTabSz="1791970">
              <a:lnSpc>
                <a:spcPct val="100000"/>
              </a:lnSpc>
              <a:spcBef>
                <a:spcPts val="0"/>
              </a:spcBef>
              <a:defRPr sz="1080">
                <a:solidFill>
                  <a:srgbClr val="2731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基于需求和全局产物，设计技术架构、接口和数据模型。</a:t>
            </a:r>
          </a:p>
        </p:txBody>
      </p:sp>
      <p:sp>
        <p:nvSpPr>
          <p:cNvPr id="533" name="Shape 130"/>
          <p:cNvSpPr/>
          <p:nvPr/>
        </p:nvSpPr>
        <p:spPr>
          <a:xfrm>
            <a:off x="10489644" y="4417218"/>
            <a:ext cx="1491616" cy="2657476"/>
          </a:xfrm>
          <a:prstGeom prst="roundRect">
            <a:avLst>
              <a:gd name="adj" fmla="val 6322"/>
            </a:avLst>
          </a:prstGeom>
          <a:ln w="12700">
            <a:solidFill>
              <a:srgbClr val="DAE3F5"/>
            </a:solidFill>
            <a:miter/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534" name="Shape 131"/>
          <p:cNvSpPr/>
          <p:nvPr/>
        </p:nvSpPr>
        <p:spPr>
          <a:xfrm>
            <a:off x="11055429" y="4575095"/>
            <a:ext cx="360046" cy="360046"/>
          </a:xfrm>
          <a:prstGeom prst="ellipse">
            <a:avLst/>
          </a:prstGeom>
          <a:solidFill>
            <a:srgbClr val="4874CB"/>
          </a:solidFill>
          <a:ln w="3175">
            <a:solidFill>
              <a:srgbClr val="FFFFFF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grpSp>
        <p:nvGrpSpPr>
          <p:cNvPr id="537" name="Text 132"/>
          <p:cNvGrpSpPr/>
          <p:nvPr/>
        </p:nvGrpSpPr>
        <p:grpSpPr>
          <a:xfrm>
            <a:off x="11055429" y="4585382"/>
            <a:ext cx="360046" cy="339471"/>
            <a:chOff x="0" y="0"/>
            <a:chExt cx="360045" cy="339470"/>
          </a:xfrm>
        </p:grpSpPr>
        <p:sp>
          <p:nvSpPr>
            <p:cNvPr id="535" name="矩形"/>
            <p:cNvSpPr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solidFill>
              <a:srgbClr val="4874CB"/>
            </a:solidFill>
            <a:ln w="12700" cap="flat">
              <a:noFill/>
              <a:miter lim="400000"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pPr>
            </a:p>
          </p:txBody>
        </p:sp>
        <p:sp>
          <p:nvSpPr>
            <p:cNvPr id="536" name="06"/>
            <p:cNvSpPr txBox="1"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t>06</a:t>
              </a:r>
            </a:p>
          </p:txBody>
        </p:sp>
      </p:grpSp>
      <p:sp>
        <p:nvSpPr>
          <p:cNvPr id="538" name="Text 133"/>
          <p:cNvSpPr txBox="1"/>
          <p:nvPr/>
        </p:nvSpPr>
        <p:spPr>
          <a:xfrm>
            <a:off x="10563462" y="4999910"/>
            <a:ext cx="1320166" cy="30861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生成验证计划</a:t>
            </a:r>
          </a:p>
        </p:txBody>
      </p:sp>
      <p:sp>
        <p:nvSpPr>
          <p:cNvPr id="539" name="Shape 129"/>
          <p:cNvSpPr/>
          <p:nvPr/>
        </p:nvSpPr>
        <p:spPr>
          <a:xfrm>
            <a:off x="10403919" y="5569743"/>
            <a:ext cx="308611" cy="1"/>
          </a:xfrm>
          <a:prstGeom prst="line">
            <a:avLst/>
          </a:prstGeom>
          <a:ln w="12700">
            <a:solidFill>
              <a:srgbClr val="4874CB"/>
            </a:solidFill>
            <a:miter/>
            <a:tailEnd type="triangle"/>
          </a:ln>
        </p:spPr>
        <p:txBody>
          <a:bodyPr lIns="85723" tIns="85723" rIns="85723" bIns="85723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</a:defRPr>
            </a:pPr>
          </a:p>
        </p:txBody>
      </p:sp>
      <p:sp>
        <p:nvSpPr>
          <p:cNvPr id="540" name="Text 135"/>
          <p:cNvSpPr txBox="1"/>
          <p:nvPr/>
        </p:nvSpPr>
        <p:spPr>
          <a:xfrm>
            <a:off x="10553983" y="5689519"/>
            <a:ext cx="1317050" cy="357030"/>
          </a:xfrm>
          <a:prstGeom prst="rect">
            <a:avLst/>
          </a:prstGeom>
          <a:ln w="12700">
            <a:miter lim="400000"/>
          </a:ln>
        </p:spPr>
        <p:txBody>
          <a:bodyPr lIns="714" tIns="714" rIns="714" bIns="714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4p12s-verification-plan</a:t>
            </a:r>
          </a:p>
        </p:txBody>
      </p:sp>
      <p:sp>
        <p:nvSpPr>
          <p:cNvPr id="541" name="Text 136"/>
          <p:cNvSpPr txBox="1"/>
          <p:nvPr/>
        </p:nvSpPr>
        <p:spPr>
          <a:xfrm>
            <a:off x="10626804" y="6216014"/>
            <a:ext cx="1217296" cy="78867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algn="ctr" defTabSz="1791970">
              <a:lnSpc>
                <a:spcPct val="100000"/>
              </a:lnSpc>
              <a:spcBef>
                <a:spcPts val="0"/>
              </a:spcBef>
              <a:defRPr sz="1080">
                <a:solidFill>
                  <a:srgbClr val="2731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基于所有需求和设计产物，制定集成测试和 E2E 测试策略。</a:t>
            </a:r>
          </a:p>
        </p:txBody>
      </p:sp>
      <p:sp>
        <p:nvSpPr>
          <p:cNvPr id="542" name="Shape 137"/>
          <p:cNvSpPr/>
          <p:nvPr/>
        </p:nvSpPr>
        <p:spPr>
          <a:xfrm>
            <a:off x="12667060" y="3296602"/>
            <a:ext cx="4834891" cy="4046221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543" name="Shape 138"/>
          <p:cNvSpPr/>
          <p:nvPr/>
        </p:nvSpPr>
        <p:spPr>
          <a:xfrm>
            <a:off x="12667060" y="3296602"/>
            <a:ext cx="4834891" cy="925831"/>
          </a:xfrm>
          <a:prstGeom prst="roundRect">
            <a:avLst>
              <a:gd name="adj" fmla="val 14815"/>
            </a:avLst>
          </a:prstGeom>
          <a:solidFill>
            <a:srgbClr val="EFF7FF"/>
          </a:solidFill>
          <a:ln w="12700">
            <a:solidFill>
              <a:srgbClr val="F2F2F2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544" name="Text 139"/>
          <p:cNvSpPr txBox="1"/>
          <p:nvPr/>
        </p:nvSpPr>
        <p:spPr>
          <a:xfrm>
            <a:off x="12804218" y="3433762"/>
            <a:ext cx="4560571" cy="41076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2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&lt;/&gt;  阶段 3：开发</a:t>
            </a:r>
          </a:p>
        </p:txBody>
      </p:sp>
      <p:sp>
        <p:nvSpPr>
          <p:cNvPr id="545" name="Text 140"/>
          <p:cNvSpPr txBox="1"/>
          <p:nvPr/>
        </p:nvSpPr>
        <p:spPr>
          <a:xfrm>
            <a:off x="12967096" y="3838654"/>
            <a:ext cx="4320541" cy="317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061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把设计拆成任务，并按验证标准执行</a:t>
            </a:r>
          </a:p>
        </p:txBody>
      </p:sp>
      <p:sp>
        <p:nvSpPr>
          <p:cNvPr id="546" name="Shape 141"/>
          <p:cNvSpPr/>
          <p:nvPr/>
        </p:nvSpPr>
        <p:spPr>
          <a:xfrm>
            <a:off x="12838509" y="4417218"/>
            <a:ext cx="1417321" cy="2657476"/>
          </a:xfrm>
          <a:prstGeom prst="roundRect">
            <a:avLst>
              <a:gd name="adj" fmla="val 6653"/>
            </a:avLst>
          </a:prstGeom>
          <a:solidFill>
            <a:srgbClr val="FFFFFF"/>
          </a:solidFill>
          <a:ln w="12700">
            <a:solidFill>
              <a:srgbClr val="DAE3F5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547" name="Shape 142"/>
          <p:cNvSpPr/>
          <p:nvPr/>
        </p:nvSpPr>
        <p:spPr>
          <a:xfrm>
            <a:off x="13367146" y="4575095"/>
            <a:ext cx="360046" cy="360046"/>
          </a:xfrm>
          <a:prstGeom prst="ellipse">
            <a:avLst/>
          </a:prstGeom>
          <a:solidFill>
            <a:srgbClr val="4874CB"/>
          </a:solidFill>
          <a:ln w="3175">
            <a:solidFill>
              <a:srgbClr val="FFFFFF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grpSp>
        <p:nvGrpSpPr>
          <p:cNvPr id="550" name="Text 143"/>
          <p:cNvGrpSpPr/>
          <p:nvPr/>
        </p:nvGrpSpPr>
        <p:grpSpPr>
          <a:xfrm>
            <a:off x="13367146" y="4585382"/>
            <a:ext cx="360046" cy="339471"/>
            <a:chOff x="0" y="0"/>
            <a:chExt cx="360045" cy="339470"/>
          </a:xfrm>
        </p:grpSpPr>
        <p:sp>
          <p:nvSpPr>
            <p:cNvPr id="548" name="矩形"/>
            <p:cNvSpPr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solidFill>
              <a:srgbClr val="4874CB"/>
            </a:solidFill>
            <a:ln w="12700" cap="flat">
              <a:noFill/>
              <a:miter lim="400000"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pPr>
            </a:p>
          </p:txBody>
        </p:sp>
        <p:sp>
          <p:nvSpPr>
            <p:cNvPr id="549" name="07"/>
            <p:cNvSpPr txBox="1"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t>07</a:t>
              </a:r>
            </a:p>
          </p:txBody>
        </p:sp>
      </p:grpSp>
      <p:sp>
        <p:nvSpPr>
          <p:cNvPr id="551" name="Text 144"/>
          <p:cNvSpPr txBox="1"/>
          <p:nvPr/>
        </p:nvSpPr>
        <p:spPr>
          <a:xfrm>
            <a:off x="12912328" y="4999910"/>
            <a:ext cx="1245871" cy="30861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拆分开发任务</a:t>
            </a:r>
          </a:p>
        </p:txBody>
      </p:sp>
      <p:sp>
        <p:nvSpPr>
          <p:cNvPr id="552" name="Text 146"/>
          <p:cNvSpPr txBox="1"/>
          <p:nvPr/>
        </p:nvSpPr>
        <p:spPr>
          <a:xfrm>
            <a:off x="12902848" y="5588712"/>
            <a:ext cx="1317050" cy="534830"/>
          </a:xfrm>
          <a:prstGeom prst="rect">
            <a:avLst/>
          </a:prstGeom>
          <a:ln w="12700">
            <a:miter lim="400000"/>
          </a:ln>
        </p:spPr>
        <p:txBody>
          <a:bodyPr lIns="714" tIns="714" rIns="714" bIns="714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4p12s-implementation-tasks</a:t>
            </a:r>
          </a:p>
        </p:txBody>
      </p:sp>
      <p:sp>
        <p:nvSpPr>
          <p:cNvPr id="553" name="Text 147"/>
          <p:cNvSpPr txBox="1"/>
          <p:nvPr/>
        </p:nvSpPr>
        <p:spPr>
          <a:xfrm>
            <a:off x="12975668" y="6216014"/>
            <a:ext cx="1143001" cy="78867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algn="ctr" defTabSz="1791970">
              <a:lnSpc>
                <a:spcPct val="100000"/>
              </a:lnSpc>
              <a:spcBef>
                <a:spcPts val="0"/>
              </a:spcBef>
              <a:defRPr sz="1080">
                <a:solidFill>
                  <a:srgbClr val="2731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基于技术设计和验证计划，拆分为能依赖关联的开发任务。</a:t>
            </a:r>
          </a:p>
        </p:txBody>
      </p:sp>
      <p:sp>
        <p:nvSpPr>
          <p:cNvPr id="554" name="Shape 149"/>
          <p:cNvSpPr/>
          <p:nvPr/>
        </p:nvSpPr>
        <p:spPr>
          <a:xfrm>
            <a:off x="14375844" y="4417218"/>
            <a:ext cx="1417321" cy="2657476"/>
          </a:xfrm>
          <a:prstGeom prst="roundRect">
            <a:avLst>
              <a:gd name="adj" fmla="val 6653"/>
            </a:avLst>
          </a:prstGeom>
          <a:solidFill>
            <a:srgbClr val="FFFFFF"/>
          </a:solidFill>
          <a:ln w="12700">
            <a:solidFill>
              <a:srgbClr val="DAE3F5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555" name="Shape 150"/>
          <p:cNvSpPr/>
          <p:nvPr/>
        </p:nvSpPr>
        <p:spPr>
          <a:xfrm>
            <a:off x="14904480" y="4575095"/>
            <a:ext cx="360046" cy="360046"/>
          </a:xfrm>
          <a:prstGeom prst="ellipse">
            <a:avLst/>
          </a:prstGeom>
          <a:solidFill>
            <a:srgbClr val="4874CB"/>
          </a:solidFill>
          <a:ln w="3175">
            <a:solidFill>
              <a:srgbClr val="FFFFFF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grpSp>
        <p:nvGrpSpPr>
          <p:cNvPr id="558" name="Text 151"/>
          <p:cNvGrpSpPr/>
          <p:nvPr/>
        </p:nvGrpSpPr>
        <p:grpSpPr>
          <a:xfrm>
            <a:off x="14904480" y="4585382"/>
            <a:ext cx="360046" cy="339471"/>
            <a:chOff x="0" y="0"/>
            <a:chExt cx="360045" cy="339470"/>
          </a:xfrm>
        </p:grpSpPr>
        <p:sp>
          <p:nvSpPr>
            <p:cNvPr id="556" name="矩形"/>
            <p:cNvSpPr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solidFill>
              <a:srgbClr val="4874CB"/>
            </a:solidFill>
            <a:ln w="12700" cap="flat">
              <a:noFill/>
              <a:miter lim="400000"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pPr>
            </a:p>
          </p:txBody>
        </p:sp>
        <p:sp>
          <p:nvSpPr>
            <p:cNvPr id="557" name="08"/>
            <p:cNvSpPr txBox="1"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t>08</a:t>
              </a:r>
            </a:p>
          </p:txBody>
        </p:sp>
      </p:grpSp>
      <p:sp>
        <p:nvSpPr>
          <p:cNvPr id="559" name="Shape 148"/>
          <p:cNvSpPr/>
          <p:nvPr/>
        </p:nvSpPr>
        <p:spPr>
          <a:xfrm>
            <a:off x="14290118" y="5569743"/>
            <a:ext cx="308611" cy="1"/>
          </a:xfrm>
          <a:prstGeom prst="line">
            <a:avLst/>
          </a:prstGeom>
          <a:ln w="12700">
            <a:solidFill>
              <a:srgbClr val="4874CB"/>
            </a:solidFill>
            <a:miter/>
            <a:tailEnd type="triangle"/>
          </a:ln>
        </p:spPr>
        <p:txBody>
          <a:bodyPr lIns="85723" tIns="85723" rIns="85723" bIns="85723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</a:defRPr>
            </a:pPr>
          </a:p>
        </p:txBody>
      </p:sp>
      <p:sp>
        <p:nvSpPr>
          <p:cNvPr id="560" name="Text 152"/>
          <p:cNvSpPr txBox="1"/>
          <p:nvPr/>
        </p:nvSpPr>
        <p:spPr>
          <a:xfrm>
            <a:off x="14449663" y="4999910"/>
            <a:ext cx="1245871" cy="30861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执行开发任务</a:t>
            </a:r>
          </a:p>
        </p:txBody>
      </p:sp>
      <p:sp>
        <p:nvSpPr>
          <p:cNvPr id="561" name="Text 154"/>
          <p:cNvSpPr txBox="1"/>
          <p:nvPr/>
        </p:nvSpPr>
        <p:spPr>
          <a:xfrm>
            <a:off x="14440182" y="5588712"/>
            <a:ext cx="1317049" cy="534830"/>
          </a:xfrm>
          <a:prstGeom prst="rect">
            <a:avLst/>
          </a:prstGeom>
          <a:ln w="12700">
            <a:miter lim="400000"/>
          </a:ln>
        </p:spPr>
        <p:txBody>
          <a:bodyPr lIns="714" tIns="714" rIns="714" bIns="714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4p12s-implementation-execution</a:t>
            </a:r>
          </a:p>
        </p:txBody>
      </p:sp>
      <p:sp>
        <p:nvSpPr>
          <p:cNvPr id="562" name="Text 155"/>
          <p:cNvSpPr txBox="1"/>
          <p:nvPr/>
        </p:nvSpPr>
        <p:spPr>
          <a:xfrm>
            <a:off x="14513004" y="6216014"/>
            <a:ext cx="1143001" cy="78867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100">
                <a:solidFill>
                  <a:srgbClr val="2731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按依赖顺序逐个执行任务，编写代码和测试。</a:t>
            </a:r>
          </a:p>
        </p:txBody>
      </p:sp>
      <p:sp>
        <p:nvSpPr>
          <p:cNvPr id="563" name="Shape 157"/>
          <p:cNvSpPr/>
          <p:nvPr/>
        </p:nvSpPr>
        <p:spPr>
          <a:xfrm>
            <a:off x="15913180" y="4417218"/>
            <a:ext cx="1417321" cy="2657476"/>
          </a:xfrm>
          <a:prstGeom prst="roundRect">
            <a:avLst>
              <a:gd name="adj" fmla="val 6653"/>
            </a:avLst>
          </a:prstGeom>
          <a:solidFill>
            <a:srgbClr val="FFFFFF"/>
          </a:solidFill>
          <a:ln w="12700">
            <a:solidFill>
              <a:srgbClr val="DAE3F5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564" name="Shape 158"/>
          <p:cNvSpPr/>
          <p:nvPr/>
        </p:nvSpPr>
        <p:spPr>
          <a:xfrm>
            <a:off x="16441816" y="4575095"/>
            <a:ext cx="360046" cy="360046"/>
          </a:xfrm>
          <a:prstGeom prst="ellipse">
            <a:avLst/>
          </a:prstGeom>
          <a:solidFill>
            <a:srgbClr val="4874CB"/>
          </a:solidFill>
          <a:ln w="3175">
            <a:solidFill>
              <a:srgbClr val="FFFFFF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grpSp>
        <p:nvGrpSpPr>
          <p:cNvPr id="567" name="Text 159"/>
          <p:cNvGrpSpPr/>
          <p:nvPr/>
        </p:nvGrpSpPr>
        <p:grpSpPr>
          <a:xfrm>
            <a:off x="16441816" y="4585382"/>
            <a:ext cx="360046" cy="339471"/>
            <a:chOff x="0" y="0"/>
            <a:chExt cx="360045" cy="339470"/>
          </a:xfrm>
        </p:grpSpPr>
        <p:sp>
          <p:nvSpPr>
            <p:cNvPr id="565" name="矩形"/>
            <p:cNvSpPr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solidFill>
              <a:srgbClr val="4874CB"/>
            </a:solidFill>
            <a:ln w="12700" cap="flat">
              <a:noFill/>
              <a:miter lim="400000"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pPr>
            </a:p>
          </p:txBody>
        </p:sp>
        <p:sp>
          <p:nvSpPr>
            <p:cNvPr id="566" name="09"/>
            <p:cNvSpPr txBox="1"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t>09</a:t>
              </a:r>
            </a:p>
          </p:txBody>
        </p:sp>
      </p:grpSp>
      <p:sp>
        <p:nvSpPr>
          <p:cNvPr id="568" name="Shape 156"/>
          <p:cNvSpPr/>
          <p:nvPr/>
        </p:nvSpPr>
        <p:spPr>
          <a:xfrm>
            <a:off x="15827454" y="5569743"/>
            <a:ext cx="308611" cy="1"/>
          </a:xfrm>
          <a:prstGeom prst="line">
            <a:avLst/>
          </a:prstGeom>
          <a:ln w="12700">
            <a:solidFill>
              <a:srgbClr val="4874CB"/>
            </a:solidFill>
            <a:miter/>
            <a:tailEnd type="triangle"/>
          </a:ln>
        </p:spPr>
        <p:txBody>
          <a:bodyPr lIns="85723" tIns="85723" rIns="85723" bIns="85723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</a:defRPr>
            </a:pPr>
          </a:p>
        </p:txBody>
      </p:sp>
      <p:sp>
        <p:nvSpPr>
          <p:cNvPr id="569" name="Text 160"/>
          <p:cNvSpPr txBox="1"/>
          <p:nvPr/>
        </p:nvSpPr>
        <p:spPr>
          <a:xfrm>
            <a:off x="15986997" y="4999910"/>
            <a:ext cx="1245871" cy="30861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集成测试</a:t>
            </a:r>
          </a:p>
        </p:txBody>
      </p:sp>
      <p:sp>
        <p:nvSpPr>
          <p:cNvPr id="570" name="Text 162"/>
          <p:cNvSpPr txBox="1"/>
          <p:nvPr/>
        </p:nvSpPr>
        <p:spPr>
          <a:xfrm>
            <a:off x="15977519" y="5677612"/>
            <a:ext cx="1317050" cy="357030"/>
          </a:xfrm>
          <a:prstGeom prst="rect">
            <a:avLst/>
          </a:prstGeom>
          <a:ln w="12700">
            <a:miter lim="400000"/>
          </a:ln>
        </p:spPr>
        <p:txBody>
          <a:bodyPr lIns="714" tIns="714" rIns="714" bIns="714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4p12s-integration-test</a:t>
            </a:r>
          </a:p>
        </p:txBody>
      </p:sp>
      <p:sp>
        <p:nvSpPr>
          <p:cNvPr id="571" name="Text 163"/>
          <p:cNvSpPr txBox="1"/>
          <p:nvPr/>
        </p:nvSpPr>
        <p:spPr>
          <a:xfrm>
            <a:off x="16050339" y="6216014"/>
            <a:ext cx="1143001" cy="78867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100">
                <a:solidFill>
                  <a:srgbClr val="2731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按验证计划执行集成测试，验证模块间接口是否正确。</a:t>
            </a:r>
          </a:p>
        </p:txBody>
      </p:sp>
      <p:sp>
        <p:nvSpPr>
          <p:cNvPr id="572" name="Shape 164"/>
          <p:cNvSpPr/>
          <p:nvPr/>
        </p:nvSpPr>
        <p:spPr>
          <a:xfrm>
            <a:off x="17930573" y="3296602"/>
            <a:ext cx="4937761" cy="4046221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573" name="Shape 165"/>
          <p:cNvSpPr/>
          <p:nvPr/>
        </p:nvSpPr>
        <p:spPr>
          <a:xfrm>
            <a:off x="17930573" y="3296602"/>
            <a:ext cx="4937761" cy="925831"/>
          </a:xfrm>
          <a:prstGeom prst="roundRect">
            <a:avLst>
              <a:gd name="adj" fmla="val 14815"/>
            </a:avLst>
          </a:prstGeom>
          <a:solidFill>
            <a:srgbClr val="EFF7FF"/>
          </a:solidFill>
          <a:ln w="12700">
            <a:solidFill>
              <a:srgbClr val="F2F2F2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574" name="Text 166"/>
          <p:cNvSpPr txBox="1"/>
          <p:nvPr/>
        </p:nvSpPr>
        <p:spPr>
          <a:xfrm>
            <a:off x="18067734" y="3433762"/>
            <a:ext cx="4663441" cy="41076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2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✓  阶段 4：验证交付</a:t>
            </a:r>
          </a:p>
        </p:txBody>
      </p:sp>
      <p:sp>
        <p:nvSpPr>
          <p:cNvPr id="575" name="Shape 168"/>
          <p:cNvSpPr/>
          <p:nvPr/>
        </p:nvSpPr>
        <p:spPr>
          <a:xfrm>
            <a:off x="18102023" y="4417218"/>
            <a:ext cx="1451611" cy="2657476"/>
          </a:xfrm>
          <a:prstGeom prst="roundRect">
            <a:avLst>
              <a:gd name="adj" fmla="val 6496"/>
            </a:avLst>
          </a:prstGeom>
          <a:ln w="12700">
            <a:solidFill>
              <a:srgbClr val="DAE3F5"/>
            </a:solidFill>
            <a:miter/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576" name="Text 167"/>
          <p:cNvSpPr txBox="1"/>
          <p:nvPr/>
        </p:nvSpPr>
        <p:spPr>
          <a:xfrm>
            <a:off x="18230612" y="3838654"/>
            <a:ext cx="4423412" cy="317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061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从真实验证到提交部署形成闭环</a:t>
            </a:r>
          </a:p>
        </p:txBody>
      </p:sp>
      <p:sp>
        <p:nvSpPr>
          <p:cNvPr id="577" name="Shape 169"/>
          <p:cNvSpPr/>
          <p:nvPr/>
        </p:nvSpPr>
        <p:spPr>
          <a:xfrm>
            <a:off x="18647805" y="4575095"/>
            <a:ext cx="360046" cy="360046"/>
          </a:xfrm>
          <a:prstGeom prst="ellipse">
            <a:avLst/>
          </a:prstGeom>
          <a:solidFill>
            <a:srgbClr val="4874CB"/>
          </a:solidFill>
          <a:ln w="3175">
            <a:solidFill>
              <a:srgbClr val="FFFFFF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grpSp>
        <p:nvGrpSpPr>
          <p:cNvPr id="580" name="Text 170"/>
          <p:cNvGrpSpPr/>
          <p:nvPr/>
        </p:nvGrpSpPr>
        <p:grpSpPr>
          <a:xfrm>
            <a:off x="18647805" y="4585382"/>
            <a:ext cx="360046" cy="339471"/>
            <a:chOff x="0" y="0"/>
            <a:chExt cx="360045" cy="339470"/>
          </a:xfrm>
        </p:grpSpPr>
        <p:sp>
          <p:nvSpPr>
            <p:cNvPr id="578" name="矩形"/>
            <p:cNvSpPr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solidFill>
              <a:srgbClr val="4874CB"/>
            </a:solidFill>
            <a:ln w="12700" cap="flat">
              <a:noFill/>
              <a:miter lim="400000"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pPr>
            </a:p>
          </p:txBody>
        </p:sp>
        <p:sp>
          <p:nvSpPr>
            <p:cNvPr id="579" name="10"/>
            <p:cNvSpPr txBox="1"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t>10</a:t>
              </a:r>
            </a:p>
          </p:txBody>
        </p:sp>
      </p:grpSp>
      <p:sp>
        <p:nvSpPr>
          <p:cNvPr id="581" name="Text 171"/>
          <p:cNvSpPr txBox="1"/>
          <p:nvPr/>
        </p:nvSpPr>
        <p:spPr>
          <a:xfrm>
            <a:off x="18175842" y="4999910"/>
            <a:ext cx="1280161" cy="30861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E2E 测试</a:t>
            </a:r>
          </a:p>
        </p:txBody>
      </p:sp>
      <p:sp>
        <p:nvSpPr>
          <p:cNvPr id="582" name="Text 173"/>
          <p:cNvSpPr txBox="1"/>
          <p:nvPr/>
        </p:nvSpPr>
        <p:spPr>
          <a:xfrm>
            <a:off x="18166362" y="5730793"/>
            <a:ext cx="1317050" cy="179230"/>
          </a:xfrm>
          <a:prstGeom prst="rect">
            <a:avLst/>
          </a:prstGeom>
          <a:ln w="12700">
            <a:miter lim="400000"/>
          </a:ln>
        </p:spPr>
        <p:txBody>
          <a:bodyPr lIns="714" tIns="714" rIns="714" bIns="714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4p12s-e2e-test</a:t>
            </a:r>
          </a:p>
        </p:txBody>
      </p:sp>
      <p:sp>
        <p:nvSpPr>
          <p:cNvPr id="583" name="Text 174"/>
          <p:cNvSpPr txBox="1"/>
          <p:nvPr/>
        </p:nvSpPr>
        <p:spPr>
          <a:xfrm>
            <a:off x="18239184" y="6216014"/>
            <a:ext cx="1177291" cy="78867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100">
                <a:solidFill>
                  <a:srgbClr val="2731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按验证计划执行端到端测试，验证完整业务流程。</a:t>
            </a:r>
          </a:p>
        </p:txBody>
      </p:sp>
      <p:sp>
        <p:nvSpPr>
          <p:cNvPr id="584" name="Shape 176"/>
          <p:cNvSpPr/>
          <p:nvPr/>
        </p:nvSpPr>
        <p:spPr>
          <a:xfrm>
            <a:off x="19673650" y="4417218"/>
            <a:ext cx="1451611" cy="2657476"/>
          </a:xfrm>
          <a:prstGeom prst="roundRect">
            <a:avLst>
              <a:gd name="adj" fmla="val 6496"/>
            </a:avLst>
          </a:prstGeom>
          <a:ln w="12700">
            <a:solidFill>
              <a:srgbClr val="DAE3F5"/>
            </a:solidFill>
            <a:miter/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585" name="Shape 177"/>
          <p:cNvSpPr/>
          <p:nvPr/>
        </p:nvSpPr>
        <p:spPr>
          <a:xfrm>
            <a:off x="20219430" y="4575095"/>
            <a:ext cx="360046" cy="360046"/>
          </a:xfrm>
          <a:prstGeom prst="ellipse">
            <a:avLst/>
          </a:prstGeom>
          <a:solidFill>
            <a:srgbClr val="4874CB"/>
          </a:solidFill>
          <a:ln w="3175">
            <a:solidFill>
              <a:srgbClr val="FFFFFF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grpSp>
        <p:nvGrpSpPr>
          <p:cNvPr id="588" name="Text 178"/>
          <p:cNvGrpSpPr/>
          <p:nvPr/>
        </p:nvGrpSpPr>
        <p:grpSpPr>
          <a:xfrm>
            <a:off x="20219430" y="4585382"/>
            <a:ext cx="360046" cy="339471"/>
            <a:chOff x="0" y="0"/>
            <a:chExt cx="360045" cy="339470"/>
          </a:xfrm>
        </p:grpSpPr>
        <p:sp>
          <p:nvSpPr>
            <p:cNvPr id="586" name="矩形"/>
            <p:cNvSpPr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solidFill>
              <a:srgbClr val="4874CB"/>
            </a:solidFill>
            <a:ln w="12700" cap="flat">
              <a:noFill/>
              <a:miter lim="400000"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pPr>
            </a:p>
          </p:txBody>
        </p:sp>
        <p:sp>
          <p:nvSpPr>
            <p:cNvPr id="587" name="11"/>
            <p:cNvSpPr txBox="1"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t>11</a:t>
              </a:r>
            </a:p>
          </p:txBody>
        </p:sp>
      </p:grpSp>
      <p:sp>
        <p:nvSpPr>
          <p:cNvPr id="589" name="Text 179"/>
          <p:cNvSpPr txBox="1"/>
          <p:nvPr/>
        </p:nvSpPr>
        <p:spPr>
          <a:xfrm>
            <a:off x="19747469" y="4999910"/>
            <a:ext cx="1280161" cy="30861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Git 提交推送</a:t>
            </a:r>
          </a:p>
        </p:txBody>
      </p:sp>
      <p:sp>
        <p:nvSpPr>
          <p:cNvPr id="590" name="Shape 175"/>
          <p:cNvSpPr/>
          <p:nvPr/>
        </p:nvSpPr>
        <p:spPr>
          <a:xfrm>
            <a:off x="19587923" y="5569743"/>
            <a:ext cx="308611" cy="1"/>
          </a:xfrm>
          <a:prstGeom prst="line">
            <a:avLst/>
          </a:prstGeom>
          <a:ln w="12700">
            <a:solidFill>
              <a:srgbClr val="4874CB"/>
            </a:solidFill>
            <a:miter/>
            <a:tailEnd type="triangle"/>
          </a:ln>
        </p:spPr>
        <p:txBody>
          <a:bodyPr lIns="85723" tIns="85723" rIns="85723" bIns="85723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</a:defRPr>
            </a:pPr>
          </a:p>
        </p:txBody>
      </p:sp>
      <p:sp>
        <p:nvSpPr>
          <p:cNvPr id="591" name="Text 181"/>
          <p:cNvSpPr txBox="1"/>
          <p:nvPr/>
        </p:nvSpPr>
        <p:spPr>
          <a:xfrm>
            <a:off x="19737989" y="5730793"/>
            <a:ext cx="1317049" cy="179230"/>
          </a:xfrm>
          <a:prstGeom prst="rect">
            <a:avLst/>
          </a:prstGeom>
          <a:ln w="12700">
            <a:miter lim="400000"/>
          </a:ln>
        </p:spPr>
        <p:txBody>
          <a:bodyPr lIns="714" tIns="714" rIns="714" bIns="714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4p12s-git-push</a:t>
            </a:r>
          </a:p>
        </p:txBody>
      </p:sp>
      <p:sp>
        <p:nvSpPr>
          <p:cNvPr id="592" name="Text 182"/>
          <p:cNvSpPr txBox="1"/>
          <p:nvPr/>
        </p:nvSpPr>
        <p:spPr>
          <a:xfrm>
            <a:off x="19810809" y="6216014"/>
            <a:ext cx="1177291" cy="78867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100">
                <a:solidFill>
                  <a:srgbClr val="2731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测试通过后，将代码 commit 并 push 到远程仓库。</a:t>
            </a:r>
          </a:p>
        </p:txBody>
      </p:sp>
      <p:sp>
        <p:nvSpPr>
          <p:cNvPr id="593" name="Shape 184"/>
          <p:cNvSpPr/>
          <p:nvPr/>
        </p:nvSpPr>
        <p:spPr>
          <a:xfrm>
            <a:off x="21245275" y="4417218"/>
            <a:ext cx="1451611" cy="2657476"/>
          </a:xfrm>
          <a:prstGeom prst="roundRect">
            <a:avLst>
              <a:gd name="adj" fmla="val 6496"/>
            </a:avLst>
          </a:prstGeom>
          <a:ln w="12700">
            <a:solidFill>
              <a:srgbClr val="DAE3F5"/>
            </a:solidFill>
            <a:miter/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594" name="Shape 185"/>
          <p:cNvSpPr/>
          <p:nvPr/>
        </p:nvSpPr>
        <p:spPr>
          <a:xfrm>
            <a:off x="21791055" y="4575095"/>
            <a:ext cx="360046" cy="360046"/>
          </a:xfrm>
          <a:prstGeom prst="ellipse">
            <a:avLst/>
          </a:prstGeom>
          <a:solidFill>
            <a:srgbClr val="4874CB"/>
          </a:solidFill>
          <a:ln w="3175">
            <a:solidFill>
              <a:srgbClr val="FFFFFF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grpSp>
        <p:nvGrpSpPr>
          <p:cNvPr id="597" name="Text 186"/>
          <p:cNvGrpSpPr/>
          <p:nvPr/>
        </p:nvGrpSpPr>
        <p:grpSpPr>
          <a:xfrm>
            <a:off x="21791055" y="4585382"/>
            <a:ext cx="360046" cy="339471"/>
            <a:chOff x="0" y="0"/>
            <a:chExt cx="360045" cy="339470"/>
          </a:xfrm>
        </p:grpSpPr>
        <p:sp>
          <p:nvSpPr>
            <p:cNvPr id="595" name="矩形"/>
            <p:cNvSpPr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solidFill>
              <a:srgbClr val="4874CB"/>
            </a:solidFill>
            <a:ln w="12700" cap="flat">
              <a:noFill/>
              <a:miter lim="400000"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pPr>
            </a:p>
          </p:txBody>
        </p:sp>
        <p:sp>
          <p:nvSpPr>
            <p:cNvPr id="596" name="12"/>
            <p:cNvSpPr txBox="1"/>
            <p:nvPr/>
          </p:nvSpPr>
          <p:spPr>
            <a:xfrm>
              <a:off x="0" y="-1"/>
              <a:ext cx="360046" cy="3394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t>12</a:t>
              </a:r>
            </a:p>
          </p:txBody>
        </p:sp>
      </p:grpSp>
      <p:sp>
        <p:nvSpPr>
          <p:cNvPr id="598" name="Text 187"/>
          <p:cNvSpPr txBox="1"/>
          <p:nvPr/>
        </p:nvSpPr>
        <p:spPr>
          <a:xfrm>
            <a:off x="21319094" y="4999910"/>
            <a:ext cx="1280161" cy="30861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测试环境部署</a:t>
            </a:r>
          </a:p>
        </p:txBody>
      </p:sp>
      <p:sp>
        <p:nvSpPr>
          <p:cNvPr id="599" name="Shape 183"/>
          <p:cNvSpPr/>
          <p:nvPr/>
        </p:nvSpPr>
        <p:spPr>
          <a:xfrm>
            <a:off x="21159548" y="5569743"/>
            <a:ext cx="308611" cy="1"/>
          </a:xfrm>
          <a:prstGeom prst="line">
            <a:avLst/>
          </a:prstGeom>
          <a:ln w="12700">
            <a:solidFill>
              <a:srgbClr val="4874CB"/>
            </a:solidFill>
            <a:miter/>
            <a:tailEnd type="triangle"/>
          </a:ln>
        </p:spPr>
        <p:txBody>
          <a:bodyPr lIns="85723" tIns="85723" rIns="85723" bIns="85723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</a:defRPr>
            </a:pPr>
          </a:p>
        </p:txBody>
      </p:sp>
      <p:sp>
        <p:nvSpPr>
          <p:cNvPr id="600" name="Text 189"/>
          <p:cNvSpPr txBox="1"/>
          <p:nvPr/>
        </p:nvSpPr>
        <p:spPr>
          <a:xfrm>
            <a:off x="21309614" y="5600619"/>
            <a:ext cx="1317049" cy="534830"/>
          </a:xfrm>
          <a:prstGeom prst="rect">
            <a:avLst/>
          </a:prstGeom>
          <a:ln w="12700">
            <a:miter lim="400000"/>
          </a:ln>
        </p:spPr>
        <p:txBody>
          <a:bodyPr lIns="714" tIns="714" rIns="714" bIns="714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4p12s-deployment-execution</a:t>
            </a:r>
          </a:p>
        </p:txBody>
      </p:sp>
      <p:sp>
        <p:nvSpPr>
          <p:cNvPr id="601" name="Text 190"/>
          <p:cNvSpPr txBox="1"/>
          <p:nvPr/>
        </p:nvSpPr>
        <p:spPr>
          <a:xfrm>
            <a:off x="21382434" y="6216014"/>
            <a:ext cx="1177291" cy="78867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100">
                <a:solidFill>
                  <a:srgbClr val="2731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触发 CI/CD 流水线，部署到测试环境。</a:t>
            </a:r>
          </a:p>
        </p:txBody>
      </p:sp>
      <p:sp>
        <p:nvSpPr>
          <p:cNvPr id="602" name="Shape 201"/>
          <p:cNvSpPr/>
          <p:nvPr/>
        </p:nvSpPr>
        <p:spPr>
          <a:xfrm>
            <a:off x="1147762" y="8060055"/>
            <a:ext cx="5434966" cy="1234441"/>
          </a:xfrm>
          <a:prstGeom prst="roundRect">
            <a:avLst>
              <a:gd name="adj" fmla="val 9722"/>
            </a:avLst>
          </a:prstGeom>
          <a:solidFill>
            <a:srgbClr val="EFF7FF"/>
          </a:solidFill>
          <a:ln w="12700">
            <a:solidFill>
              <a:srgbClr val="D6DCE5">
                <a:alpha val="55000"/>
              </a:srgbClr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603" name="Shape 202"/>
          <p:cNvSpPr/>
          <p:nvPr/>
        </p:nvSpPr>
        <p:spPr>
          <a:xfrm>
            <a:off x="1404937" y="8265794"/>
            <a:ext cx="822961" cy="822961"/>
          </a:xfrm>
          <a:prstGeom prst="ellipse">
            <a:avLst/>
          </a:prstGeom>
          <a:solidFill>
            <a:srgbClr val="4874CB"/>
          </a:solidFill>
          <a:ln w="12700">
            <a:miter lim="400000"/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604" name="Text 203"/>
          <p:cNvSpPr txBox="1"/>
          <p:nvPr/>
        </p:nvSpPr>
        <p:spPr>
          <a:xfrm>
            <a:off x="1404937" y="8334375"/>
            <a:ext cx="822961" cy="5829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☑</a:t>
            </a:r>
          </a:p>
        </p:txBody>
      </p:sp>
      <p:sp>
        <p:nvSpPr>
          <p:cNvPr id="605" name="Text 204"/>
          <p:cNvSpPr txBox="1"/>
          <p:nvPr/>
        </p:nvSpPr>
        <p:spPr>
          <a:xfrm>
            <a:off x="2553652" y="8248650"/>
            <a:ext cx="3806191" cy="33932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1828800">
              <a:spcBef>
                <a:spcPts val="0"/>
              </a:spcBef>
              <a:defRPr sz="1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需求</a:t>
            </a:r>
            <a:r>
              <a:t>可转化</a:t>
            </a:r>
          </a:p>
        </p:txBody>
      </p:sp>
      <p:sp>
        <p:nvSpPr>
          <p:cNvPr id="606" name="Text 206"/>
          <p:cNvSpPr txBox="1"/>
          <p:nvPr/>
        </p:nvSpPr>
        <p:spPr>
          <a:xfrm>
            <a:off x="2570558" y="8657828"/>
            <a:ext cx="3806430" cy="431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354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把业务方原始需求转成结构化 </a:t>
            </a:r>
            <a:r>
              <a:t>PRD、</a:t>
            </a:r>
            <a:r>
              <a:t>用户故事和交付入口，避免需求停留在口头描述或零散文档中。</a:t>
            </a:r>
          </a:p>
        </p:txBody>
      </p:sp>
      <p:sp>
        <p:nvSpPr>
          <p:cNvPr id="607" name="Shape 207"/>
          <p:cNvSpPr/>
          <p:nvPr/>
        </p:nvSpPr>
        <p:spPr>
          <a:xfrm>
            <a:off x="6805612" y="8060055"/>
            <a:ext cx="5349241" cy="1234441"/>
          </a:xfrm>
          <a:prstGeom prst="roundRect">
            <a:avLst>
              <a:gd name="adj" fmla="val 9722"/>
            </a:avLst>
          </a:prstGeom>
          <a:solidFill>
            <a:srgbClr val="EFF7FF"/>
          </a:solidFill>
          <a:ln w="12700">
            <a:solidFill>
              <a:srgbClr val="D6DCE5">
                <a:alpha val="55000"/>
              </a:srgbClr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608" name="Shape 208"/>
          <p:cNvSpPr/>
          <p:nvPr/>
        </p:nvSpPr>
        <p:spPr>
          <a:xfrm>
            <a:off x="7062787" y="8265794"/>
            <a:ext cx="822961" cy="822961"/>
          </a:xfrm>
          <a:prstGeom prst="ellipse">
            <a:avLst/>
          </a:prstGeom>
          <a:solidFill>
            <a:srgbClr val="4874CB"/>
          </a:solidFill>
          <a:ln w="12700">
            <a:miter lim="400000"/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609" name="Text 209"/>
          <p:cNvSpPr txBox="1"/>
          <p:nvPr/>
        </p:nvSpPr>
        <p:spPr>
          <a:xfrm>
            <a:off x="7262812" y="8200389"/>
            <a:ext cx="822961" cy="889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6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▰</a:t>
            </a:r>
          </a:p>
        </p:txBody>
      </p:sp>
      <p:sp>
        <p:nvSpPr>
          <p:cNvPr id="610" name="Text 210"/>
          <p:cNvSpPr txBox="1"/>
          <p:nvPr/>
        </p:nvSpPr>
        <p:spPr>
          <a:xfrm>
            <a:off x="8211502" y="8248650"/>
            <a:ext cx="3720466" cy="33932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defTabSz="1828800">
              <a:spcBef>
                <a:spcPts val="0"/>
              </a:spcBef>
              <a:defRPr sz="1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设计可约束</a:t>
            </a:r>
          </a:p>
        </p:txBody>
      </p:sp>
      <p:sp>
        <p:nvSpPr>
          <p:cNvPr id="611" name="Shape 213"/>
          <p:cNvSpPr/>
          <p:nvPr/>
        </p:nvSpPr>
        <p:spPr>
          <a:xfrm>
            <a:off x="12412027" y="8060055"/>
            <a:ext cx="5229227" cy="1234441"/>
          </a:xfrm>
          <a:prstGeom prst="roundRect">
            <a:avLst>
              <a:gd name="adj" fmla="val 9722"/>
            </a:avLst>
          </a:prstGeom>
          <a:solidFill>
            <a:srgbClr val="EFF7FF"/>
          </a:solidFill>
          <a:ln w="12700">
            <a:solidFill>
              <a:srgbClr val="D6DCE5">
                <a:alpha val="55000"/>
              </a:srgbClr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612" name="Shape 214"/>
          <p:cNvSpPr/>
          <p:nvPr/>
        </p:nvSpPr>
        <p:spPr>
          <a:xfrm>
            <a:off x="12669203" y="8265794"/>
            <a:ext cx="822961" cy="822961"/>
          </a:xfrm>
          <a:prstGeom prst="ellipse">
            <a:avLst/>
          </a:prstGeom>
          <a:solidFill>
            <a:srgbClr val="4874CB"/>
          </a:solidFill>
          <a:ln w="12700">
            <a:miter lim="400000"/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613" name="Text 215"/>
          <p:cNvSpPr txBox="1"/>
          <p:nvPr/>
        </p:nvSpPr>
        <p:spPr>
          <a:xfrm>
            <a:off x="12669203" y="8334375"/>
            <a:ext cx="822961" cy="5829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&lt;/&gt;</a:t>
            </a:r>
          </a:p>
        </p:txBody>
      </p:sp>
      <p:sp>
        <p:nvSpPr>
          <p:cNvPr id="614" name="Text 216"/>
          <p:cNvSpPr txBox="1"/>
          <p:nvPr/>
        </p:nvSpPr>
        <p:spPr>
          <a:xfrm>
            <a:off x="13817917" y="8248650"/>
            <a:ext cx="3600451" cy="33932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defTabSz="1828800">
              <a:spcBef>
                <a:spcPts val="0"/>
              </a:spcBef>
              <a:defRPr sz="1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任务可执行</a:t>
            </a:r>
          </a:p>
        </p:txBody>
      </p:sp>
      <p:sp>
        <p:nvSpPr>
          <p:cNvPr id="615" name="Shape 219"/>
          <p:cNvSpPr/>
          <p:nvPr/>
        </p:nvSpPr>
        <p:spPr>
          <a:xfrm>
            <a:off x="17915571" y="8060055"/>
            <a:ext cx="5314951" cy="1234441"/>
          </a:xfrm>
          <a:prstGeom prst="roundRect">
            <a:avLst>
              <a:gd name="adj" fmla="val 9722"/>
            </a:avLst>
          </a:prstGeom>
          <a:solidFill>
            <a:srgbClr val="EFF7FF"/>
          </a:solidFill>
          <a:ln w="12700">
            <a:solidFill>
              <a:srgbClr val="D6DCE5">
                <a:alpha val="55000"/>
              </a:srgbClr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616" name="Shape 220"/>
          <p:cNvSpPr/>
          <p:nvPr/>
        </p:nvSpPr>
        <p:spPr>
          <a:xfrm>
            <a:off x="18172746" y="8265794"/>
            <a:ext cx="822961" cy="822961"/>
          </a:xfrm>
          <a:prstGeom prst="ellipse">
            <a:avLst/>
          </a:prstGeom>
          <a:solidFill>
            <a:srgbClr val="4874CB"/>
          </a:solidFill>
          <a:ln w="12700">
            <a:miter lim="400000"/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617" name="Text 221"/>
          <p:cNvSpPr txBox="1"/>
          <p:nvPr/>
        </p:nvSpPr>
        <p:spPr>
          <a:xfrm>
            <a:off x="18172746" y="8334375"/>
            <a:ext cx="822961" cy="5829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∞</a:t>
            </a:r>
          </a:p>
        </p:txBody>
      </p:sp>
      <p:sp>
        <p:nvSpPr>
          <p:cNvPr id="618" name="Text 222"/>
          <p:cNvSpPr txBox="1"/>
          <p:nvPr/>
        </p:nvSpPr>
        <p:spPr>
          <a:xfrm>
            <a:off x="19321464" y="8248650"/>
            <a:ext cx="3686176" cy="33932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defTabSz="1828800">
              <a:spcBef>
                <a:spcPts val="0"/>
              </a:spcBef>
              <a:defRPr sz="1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质量可验证</a:t>
            </a:r>
          </a:p>
        </p:txBody>
      </p:sp>
      <p:sp>
        <p:nvSpPr>
          <p:cNvPr id="619" name="Text 295"/>
          <p:cNvSpPr txBox="1"/>
          <p:nvPr/>
        </p:nvSpPr>
        <p:spPr>
          <a:xfrm>
            <a:off x="16406812" y="12827317"/>
            <a:ext cx="7029452" cy="342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6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GienCoder 4p12s:  让 AI 编码真正进入企业级需求交付流程</a:t>
            </a:r>
          </a:p>
        </p:txBody>
      </p:sp>
      <p:grpSp>
        <p:nvGrpSpPr>
          <p:cNvPr id="623" name="组合 5"/>
          <p:cNvGrpSpPr/>
          <p:nvPr/>
        </p:nvGrpSpPr>
        <p:grpSpPr>
          <a:xfrm>
            <a:off x="1978818" y="5295899"/>
            <a:ext cx="4114801" cy="312342"/>
            <a:chOff x="0" y="0"/>
            <a:chExt cx="4114800" cy="312340"/>
          </a:xfrm>
        </p:grpSpPr>
        <p:sp>
          <p:nvSpPr>
            <p:cNvPr id="620" name="文本框 2"/>
            <p:cNvSpPr txBox="1"/>
            <p:nvPr/>
          </p:nvSpPr>
          <p:spPr>
            <a:xfrm>
              <a:off x="0" y="1190"/>
              <a:ext cx="639366" cy="3111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85724" tIns="85724" rIns="85724" bIns="85724" numCol="1" anchor="t">
              <a:spAutoFit/>
            </a:bodyPr>
            <a:lstStyle>
              <a:lvl1pPr defTabSz="1828800">
                <a:lnSpc>
                  <a:spcPct val="100000"/>
                </a:lnSpc>
                <a:spcBef>
                  <a:spcPts val="0"/>
                </a:spcBef>
                <a:defRPr sz="900" b="1">
                  <a:solidFill>
                    <a:srgbClr val="4874C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t>Skill</a:t>
              </a:r>
            </a:p>
          </p:txBody>
        </p:sp>
        <p:sp>
          <p:nvSpPr>
            <p:cNvPr id="621" name="文本框 3"/>
            <p:cNvSpPr txBox="1"/>
            <p:nvPr/>
          </p:nvSpPr>
          <p:spPr>
            <a:xfrm>
              <a:off x="1751409" y="1190"/>
              <a:ext cx="639367" cy="3111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85724" tIns="85724" rIns="85724" bIns="85724" numCol="1" anchor="t">
              <a:spAutoFit/>
            </a:bodyPr>
            <a:lstStyle>
              <a:lvl1pPr defTabSz="1828800">
                <a:lnSpc>
                  <a:spcPct val="100000"/>
                </a:lnSpc>
                <a:spcBef>
                  <a:spcPts val="0"/>
                </a:spcBef>
                <a:defRPr sz="900" b="1">
                  <a:solidFill>
                    <a:srgbClr val="4874C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t>Skill</a:t>
              </a:r>
            </a:p>
          </p:txBody>
        </p:sp>
        <p:sp>
          <p:nvSpPr>
            <p:cNvPr id="622" name="文本框 4"/>
            <p:cNvSpPr txBox="1"/>
            <p:nvPr/>
          </p:nvSpPr>
          <p:spPr>
            <a:xfrm>
              <a:off x="3475434" y="0"/>
              <a:ext cx="639366" cy="3111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85724" tIns="85724" rIns="85724" bIns="85724" numCol="1" anchor="t">
              <a:spAutoFit/>
            </a:bodyPr>
            <a:lstStyle>
              <a:lvl1pPr defTabSz="1828800">
                <a:lnSpc>
                  <a:spcPct val="100000"/>
                </a:lnSpc>
                <a:spcBef>
                  <a:spcPts val="0"/>
                </a:spcBef>
                <a:defRPr sz="900" b="1">
                  <a:solidFill>
                    <a:srgbClr val="4874C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t>Skill</a:t>
              </a:r>
            </a:p>
          </p:txBody>
        </p:sp>
      </p:grpSp>
      <p:sp>
        <p:nvSpPr>
          <p:cNvPr id="624" name="文本框 6"/>
          <p:cNvSpPr txBox="1"/>
          <p:nvPr/>
        </p:nvSpPr>
        <p:spPr>
          <a:xfrm>
            <a:off x="7733109" y="5291137"/>
            <a:ext cx="639366" cy="311151"/>
          </a:xfrm>
          <a:prstGeom prst="rect">
            <a:avLst/>
          </a:prstGeom>
          <a:ln w="12700">
            <a:miter lim="400000"/>
          </a:ln>
        </p:spPr>
        <p:txBody>
          <a:bodyPr lIns="85724" tIns="85724" rIns="85724" bIns="85724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Skill</a:t>
            </a:r>
          </a:p>
        </p:txBody>
      </p:sp>
      <p:sp>
        <p:nvSpPr>
          <p:cNvPr id="625" name="文本框 7"/>
          <p:cNvSpPr txBox="1"/>
          <p:nvPr/>
        </p:nvSpPr>
        <p:spPr>
          <a:xfrm>
            <a:off x="9395222" y="5291137"/>
            <a:ext cx="639367" cy="311151"/>
          </a:xfrm>
          <a:prstGeom prst="rect">
            <a:avLst/>
          </a:prstGeom>
          <a:ln w="12700">
            <a:miter lim="400000"/>
          </a:ln>
        </p:spPr>
        <p:txBody>
          <a:bodyPr lIns="85724" tIns="85724" rIns="85724" bIns="85724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Skill</a:t>
            </a:r>
          </a:p>
        </p:txBody>
      </p:sp>
      <p:sp>
        <p:nvSpPr>
          <p:cNvPr id="626" name="文本框 8"/>
          <p:cNvSpPr txBox="1"/>
          <p:nvPr/>
        </p:nvSpPr>
        <p:spPr>
          <a:xfrm>
            <a:off x="11035903" y="5289946"/>
            <a:ext cx="639366" cy="311151"/>
          </a:xfrm>
          <a:prstGeom prst="rect">
            <a:avLst/>
          </a:prstGeom>
          <a:ln w="12700">
            <a:miter lim="400000"/>
          </a:ln>
        </p:spPr>
        <p:txBody>
          <a:bodyPr lIns="85724" tIns="85724" rIns="85724" bIns="85724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Skill</a:t>
            </a:r>
          </a:p>
        </p:txBody>
      </p:sp>
      <p:sp>
        <p:nvSpPr>
          <p:cNvPr id="627" name="文本框 10"/>
          <p:cNvSpPr txBox="1"/>
          <p:nvPr/>
        </p:nvSpPr>
        <p:spPr>
          <a:xfrm>
            <a:off x="13330237" y="5291137"/>
            <a:ext cx="639367" cy="311151"/>
          </a:xfrm>
          <a:prstGeom prst="rect">
            <a:avLst/>
          </a:prstGeom>
          <a:ln w="12700">
            <a:miter lim="400000"/>
          </a:ln>
        </p:spPr>
        <p:txBody>
          <a:bodyPr lIns="85724" tIns="85724" rIns="85724" bIns="85724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Skill</a:t>
            </a:r>
          </a:p>
        </p:txBody>
      </p:sp>
      <p:sp>
        <p:nvSpPr>
          <p:cNvPr id="628" name="文本框 11"/>
          <p:cNvSpPr txBox="1"/>
          <p:nvPr/>
        </p:nvSpPr>
        <p:spPr>
          <a:xfrm>
            <a:off x="14843520" y="5291137"/>
            <a:ext cx="639366" cy="311151"/>
          </a:xfrm>
          <a:prstGeom prst="rect">
            <a:avLst/>
          </a:prstGeom>
          <a:ln w="12700">
            <a:miter lim="400000"/>
          </a:ln>
        </p:spPr>
        <p:txBody>
          <a:bodyPr lIns="85724" tIns="85724" rIns="85724" bIns="85724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Skill</a:t>
            </a:r>
          </a:p>
        </p:txBody>
      </p:sp>
      <p:sp>
        <p:nvSpPr>
          <p:cNvPr id="629" name="文本框 12"/>
          <p:cNvSpPr txBox="1"/>
          <p:nvPr/>
        </p:nvSpPr>
        <p:spPr>
          <a:xfrm>
            <a:off x="16412765" y="5289946"/>
            <a:ext cx="639367" cy="311151"/>
          </a:xfrm>
          <a:prstGeom prst="rect">
            <a:avLst/>
          </a:prstGeom>
          <a:ln w="12700">
            <a:miter lim="400000"/>
          </a:ln>
        </p:spPr>
        <p:txBody>
          <a:bodyPr lIns="85724" tIns="85724" rIns="85724" bIns="85724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Skill</a:t>
            </a:r>
          </a:p>
        </p:txBody>
      </p:sp>
      <p:sp>
        <p:nvSpPr>
          <p:cNvPr id="630" name="文本框 13"/>
          <p:cNvSpPr txBox="1"/>
          <p:nvPr/>
        </p:nvSpPr>
        <p:spPr>
          <a:xfrm>
            <a:off x="18546365" y="5291137"/>
            <a:ext cx="639367" cy="311151"/>
          </a:xfrm>
          <a:prstGeom prst="rect">
            <a:avLst/>
          </a:prstGeom>
          <a:ln w="12700">
            <a:miter lim="400000"/>
          </a:ln>
        </p:spPr>
        <p:txBody>
          <a:bodyPr lIns="85724" tIns="85724" rIns="85724" bIns="85724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Skill</a:t>
            </a:r>
          </a:p>
        </p:txBody>
      </p:sp>
      <p:sp>
        <p:nvSpPr>
          <p:cNvPr id="631" name="文本框 14"/>
          <p:cNvSpPr txBox="1"/>
          <p:nvPr/>
        </p:nvSpPr>
        <p:spPr>
          <a:xfrm>
            <a:off x="20162042" y="5291137"/>
            <a:ext cx="639366" cy="311151"/>
          </a:xfrm>
          <a:prstGeom prst="rect">
            <a:avLst/>
          </a:prstGeom>
          <a:ln w="12700">
            <a:miter lim="400000"/>
          </a:ln>
        </p:spPr>
        <p:txBody>
          <a:bodyPr lIns="85724" tIns="85724" rIns="85724" bIns="85724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Skill</a:t>
            </a:r>
          </a:p>
        </p:txBody>
      </p:sp>
      <p:sp>
        <p:nvSpPr>
          <p:cNvPr id="632" name="文本框 15"/>
          <p:cNvSpPr txBox="1"/>
          <p:nvPr/>
        </p:nvSpPr>
        <p:spPr>
          <a:xfrm>
            <a:off x="21750335" y="5289946"/>
            <a:ext cx="639367" cy="311151"/>
          </a:xfrm>
          <a:prstGeom prst="rect">
            <a:avLst/>
          </a:prstGeom>
          <a:ln w="12700">
            <a:miter lim="400000"/>
          </a:ln>
        </p:spPr>
        <p:txBody>
          <a:bodyPr lIns="85724" tIns="85724" rIns="85724" bIns="85724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Skill</a:t>
            </a:r>
          </a:p>
        </p:txBody>
      </p:sp>
      <p:sp>
        <p:nvSpPr>
          <p:cNvPr id="633" name="Text 66"/>
          <p:cNvSpPr txBox="1"/>
          <p:nvPr/>
        </p:nvSpPr>
        <p:spPr>
          <a:xfrm>
            <a:off x="1360883" y="7332464"/>
            <a:ext cx="17883189" cy="419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二、</a:t>
            </a:r>
            <a:r>
              <a:t>GienCoder 4p12s  </a:t>
            </a:r>
            <a:r>
              <a:t>的核心价值</a:t>
            </a:r>
          </a:p>
        </p:txBody>
      </p:sp>
      <p:sp>
        <p:nvSpPr>
          <p:cNvPr id="634" name="Text 206"/>
          <p:cNvSpPr txBox="1"/>
          <p:nvPr/>
        </p:nvSpPr>
        <p:spPr>
          <a:xfrm>
            <a:off x="8084343" y="8659018"/>
            <a:ext cx="3806430" cy="431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354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在开发前明确技术架构、接口、数据模型和验证计划，让产品目标、技术实现和测试标准提前对齐。</a:t>
            </a:r>
          </a:p>
        </p:txBody>
      </p:sp>
      <p:sp>
        <p:nvSpPr>
          <p:cNvPr id="635" name="Text 206"/>
          <p:cNvSpPr txBox="1"/>
          <p:nvPr/>
        </p:nvSpPr>
        <p:spPr>
          <a:xfrm>
            <a:off x="13726715" y="8659018"/>
            <a:ext cx="3806430" cy="431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354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将技术设计拆解为具备依赖关系的开发任务，使开发过程可以按顺序推进、按节点检查。</a:t>
            </a:r>
          </a:p>
        </p:txBody>
      </p:sp>
      <p:sp>
        <p:nvSpPr>
          <p:cNvPr id="636" name="Text 206"/>
          <p:cNvSpPr txBox="1"/>
          <p:nvPr/>
        </p:nvSpPr>
        <p:spPr>
          <a:xfrm>
            <a:off x="19266693" y="8676878"/>
            <a:ext cx="3806430" cy="431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354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通过集成测试和 </a:t>
            </a:r>
            <a:r>
              <a:t>E2E </a:t>
            </a:r>
            <a:r>
              <a:t>测试，把“是否完成”转化为“是否通过验证”，减少主观判断。</a:t>
            </a:r>
          </a:p>
        </p:txBody>
      </p:sp>
      <p:sp>
        <p:nvSpPr>
          <p:cNvPr id="637" name="Shape 79"/>
          <p:cNvSpPr/>
          <p:nvPr/>
        </p:nvSpPr>
        <p:spPr>
          <a:xfrm>
            <a:off x="17587675" y="5658087"/>
            <a:ext cx="342901" cy="1"/>
          </a:xfrm>
          <a:prstGeom prst="line">
            <a:avLst/>
          </a:prstGeom>
          <a:ln w="50800" cap="rnd">
            <a:solidFill>
              <a:srgbClr val="4874CB"/>
            </a:solidFill>
            <a:tailEnd type="triangle"/>
          </a:ln>
        </p:spPr>
        <p:txBody>
          <a:bodyPr lIns="85723" tIns="85723" rIns="85723" bIns="85723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</a:defRPr>
            </a:pPr>
          </a:p>
        </p:txBody>
      </p:sp>
      <p:sp>
        <p:nvSpPr>
          <p:cNvPr id="638" name="Text 66"/>
          <p:cNvSpPr txBox="1"/>
          <p:nvPr/>
        </p:nvSpPr>
        <p:spPr>
          <a:xfrm>
            <a:off x="1357312" y="9538692"/>
            <a:ext cx="17883188" cy="419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三、</a:t>
            </a:r>
            <a:r>
              <a:t>场景使用指导：如何选择合适的 GienCoder 4p12s链路组合</a:t>
            </a:r>
          </a:p>
        </p:txBody>
      </p:sp>
      <p:sp>
        <p:nvSpPr>
          <p:cNvPr id="639" name="Shape 228"/>
          <p:cNvSpPr/>
          <p:nvPr/>
        </p:nvSpPr>
        <p:spPr>
          <a:xfrm>
            <a:off x="1190624" y="10269854"/>
            <a:ext cx="4183381" cy="2434591"/>
          </a:xfrm>
          <a:prstGeom prst="roundRect">
            <a:avLst>
              <a:gd name="adj" fmla="val 4930"/>
            </a:avLst>
          </a:prstGeom>
          <a:solidFill>
            <a:srgbClr val="EFF7FF"/>
          </a:solidFill>
          <a:ln w="12700">
            <a:solidFill>
              <a:srgbClr val="F2F2F2">
                <a:alpha val="60000"/>
              </a:srgbClr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640" name="Shape 229"/>
          <p:cNvSpPr/>
          <p:nvPr/>
        </p:nvSpPr>
        <p:spPr>
          <a:xfrm>
            <a:off x="1344929" y="10458450"/>
            <a:ext cx="274321" cy="274321"/>
          </a:xfrm>
          <a:prstGeom prst="ellipse">
            <a:avLst/>
          </a:prstGeom>
          <a:solidFill>
            <a:srgbClr val="276BEF"/>
          </a:solidFill>
          <a:ln w="3175">
            <a:solidFill>
              <a:srgbClr val="FFFFFF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grpSp>
        <p:nvGrpSpPr>
          <p:cNvPr id="643" name="Text 230"/>
          <p:cNvGrpSpPr/>
          <p:nvPr/>
        </p:nvGrpSpPr>
        <p:grpSpPr>
          <a:xfrm>
            <a:off x="1344929" y="10468736"/>
            <a:ext cx="274321" cy="253746"/>
            <a:chOff x="0" y="0"/>
            <a:chExt cx="274320" cy="253745"/>
          </a:xfrm>
        </p:grpSpPr>
        <p:sp>
          <p:nvSpPr>
            <p:cNvPr id="641" name="矩形"/>
            <p:cNvSpPr/>
            <p:nvPr/>
          </p:nvSpPr>
          <p:spPr>
            <a:xfrm>
              <a:off x="-1" y="-1"/>
              <a:ext cx="274321" cy="253747"/>
            </a:xfrm>
            <a:prstGeom prst="rect">
              <a:avLst/>
            </a:prstGeom>
            <a:solidFill>
              <a:srgbClr val="4874CB"/>
            </a:solidFill>
            <a:ln w="12700" cap="flat">
              <a:noFill/>
              <a:miter lim="400000"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400" b="1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pPr>
            </a:p>
          </p:txBody>
        </p:sp>
        <p:sp>
          <p:nvSpPr>
            <p:cNvPr id="642" name="1"/>
            <p:cNvSpPr txBox="1"/>
            <p:nvPr/>
          </p:nvSpPr>
          <p:spPr>
            <a:xfrm>
              <a:off x="-1" y="-1"/>
              <a:ext cx="274321" cy="2537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400" b="1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lvl1pPr>
            </a:lstStyle>
            <a:p>
              <a:r>
                <a:t>1</a:t>
              </a:r>
            </a:p>
          </p:txBody>
        </p:sp>
      </p:grpSp>
      <p:sp>
        <p:nvSpPr>
          <p:cNvPr id="644" name="Text 231"/>
          <p:cNvSpPr txBox="1"/>
          <p:nvPr/>
        </p:nvSpPr>
        <p:spPr>
          <a:xfrm>
            <a:off x="1704974" y="10430192"/>
            <a:ext cx="3531871" cy="279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1600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场景一：完整需求端到端交付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45" name="Text 232"/>
          <p:cNvSpPr txBox="1"/>
          <p:nvPr/>
        </p:nvSpPr>
        <p:spPr>
          <a:xfrm>
            <a:off x="1396364" y="10852784"/>
            <a:ext cx="3771899" cy="4286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1100" b="1">
                <a:solidFill>
                  <a:srgbClr val="2631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适用：业务方已经提供需求文档，希望从需求理解一路推进到测试环境。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46" name="Text 233"/>
          <p:cNvSpPr txBox="1"/>
          <p:nvPr/>
        </p:nvSpPr>
        <p:spPr>
          <a:xfrm>
            <a:off x="1396364" y="11401424"/>
            <a:ext cx="3771899" cy="66064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2631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这是 </a:t>
            </a:r>
            <a:r>
              <a:t>4p12s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的主链路，覆盖准备、设计、开发、验证交付的四个阶段，适合复杂业务需求从 </a:t>
            </a:r>
            <a:r>
              <a:t>0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到交付闭环的完整执行。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662" name="组合 56"/>
          <p:cNvGrpSpPr/>
          <p:nvPr/>
        </p:nvGrpSpPr>
        <p:grpSpPr>
          <a:xfrm>
            <a:off x="1310877" y="12159852"/>
            <a:ext cx="3860118" cy="351401"/>
            <a:chOff x="0" y="0"/>
            <a:chExt cx="3860117" cy="351400"/>
          </a:xfrm>
        </p:grpSpPr>
        <p:grpSp>
          <p:nvGrpSpPr>
            <p:cNvPr id="649" name="Text 234"/>
            <p:cNvGrpSpPr/>
            <p:nvPr/>
          </p:nvGrpSpPr>
          <p:grpSpPr>
            <a:xfrm>
              <a:off x="0" y="0"/>
              <a:ext cx="881086" cy="351401"/>
              <a:chOff x="0" y="0"/>
              <a:chExt cx="881085" cy="351400"/>
            </a:xfrm>
          </p:grpSpPr>
          <p:sp>
            <p:nvSpPr>
              <p:cNvPr id="647" name="圆角矩形"/>
              <p:cNvSpPr/>
              <p:nvPr/>
            </p:nvSpPr>
            <p:spPr>
              <a:xfrm>
                <a:off x="0" y="0"/>
                <a:ext cx="881086" cy="351401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175" cap="flat">
                <a:solidFill>
                  <a:srgbClr val="91ACE0"/>
                </a:solidFill>
                <a:prstDash val="solid"/>
                <a:round/>
              </a:ln>
              <a:effectLst/>
            </p:spPr>
            <p:txBody>
              <a:bodyPr wrap="square" lIns="42862" tIns="42862" rIns="42862" bIns="42862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12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</a:p>
            </p:txBody>
          </p:sp>
          <p:sp>
            <p:nvSpPr>
              <p:cNvPr id="648" name="准备"/>
              <p:cNvSpPr txBox="1"/>
              <p:nvPr/>
            </p:nvSpPr>
            <p:spPr>
              <a:xfrm>
                <a:off x="25488" y="25488"/>
                <a:ext cx="830109" cy="3004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714" tIns="714" rIns="714" bIns="714" numCol="1" anchor="ctr">
                <a:normAutofit/>
              </a:bodyPr>
              <a:lstStyle>
                <a:lvl1pPr algn="ctr" defTabSz="1828800">
                  <a:lnSpc>
                    <a:spcPct val="100000"/>
                  </a:lnSpc>
                  <a:spcBef>
                    <a:spcPts val="0"/>
                  </a:spcBef>
                  <a:defRPr sz="1200" b="1">
                    <a:solidFill>
                      <a:srgbClr val="4874C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</a:lstStyle>
              <a:p>
                <a:pPr>
                  <a:defRPr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  <a:r>
                  <a:rPr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准备</a:t>
                </a: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sp>
          <p:nvSpPr>
            <p:cNvPr id="650" name="Shape 235"/>
            <p:cNvSpPr/>
            <p:nvPr/>
          </p:nvSpPr>
          <p:spPr>
            <a:xfrm>
              <a:off x="899305" y="176378"/>
              <a:ext cx="149668" cy="1"/>
            </a:xfrm>
            <a:prstGeom prst="line">
              <a:avLst/>
            </a:prstGeom>
            <a:noFill/>
            <a:ln w="12700" cap="flat">
              <a:solidFill>
                <a:srgbClr val="91ACE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85723" tIns="85723" rIns="85723" bIns="85723" numCol="1" anchor="t">
              <a:noAutofit/>
            </a:bodyPr>
            <a:lstStyle/>
            <a:p>
              <a:pPr algn="ctr" defTabSz="2438400">
                <a:lnSpc>
                  <a:spcPct val="100000"/>
                </a:lnSpc>
                <a:spcBef>
                  <a:spcPts val="0"/>
                </a:spcBef>
                <a:defRPr sz="52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653" name="Text 236"/>
            <p:cNvGrpSpPr/>
            <p:nvPr/>
          </p:nvGrpSpPr>
          <p:grpSpPr>
            <a:xfrm>
              <a:off x="993010" y="0"/>
              <a:ext cx="881087" cy="351401"/>
              <a:chOff x="0" y="0"/>
              <a:chExt cx="881085" cy="351400"/>
            </a:xfrm>
          </p:grpSpPr>
          <p:sp>
            <p:nvSpPr>
              <p:cNvPr id="651" name="圆角矩形"/>
              <p:cNvSpPr/>
              <p:nvPr/>
            </p:nvSpPr>
            <p:spPr>
              <a:xfrm>
                <a:off x="0" y="0"/>
                <a:ext cx="881086" cy="351401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175" cap="flat">
                <a:solidFill>
                  <a:srgbClr val="91ACE0"/>
                </a:solidFill>
                <a:prstDash val="solid"/>
                <a:round/>
              </a:ln>
              <a:effectLst/>
            </p:spPr>
            <p:txBody>
              <a:bodyPr wrap="square" lIns="42862" tIns="42862" rIns="42862" bIns="42862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12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</a:p>
            </p:txBody>
          </p:sp>
          <p:sp>
            <p:nvSpPr>
              <p:cNvPr id="652" name="设计"/>
              <p:cNvSpPr txBox="1"/>
              <p:nvPr/>
            </p:nvSpPr>
            <p:spPr>
              <a:xfrm>
                <a:off x="25488" y="25488"/>
                <a:ext cx="830109" cy="3004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714" tIns="714" rIns="714" bIns="714" numCol="1" anchor="ctr">
                <a:normAutofit/>
              </a:bodyPr>
              <a:lstStyle>
                <a:lvl1pPr algn="ctr" defTabSz="1828800">
                  <a:lnSpc>
                    <a:spcPct val="100000"/>
                  </a:lnSpc>
                  <a:spcBef>
                    <a:spcPts val="0"/>
                  </a:spcBef>
                  <a:defRPr sz="1200" b="1">
                    <a:solidFill>
                      <a:srgbClr val="4874C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</a:lstStyle>
              <a:p>
                <a:pPr>
                  <a:defRPr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  <a:r>
                  <a:rPr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设计</a:t>
                </a: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sp>
          <p:nvSpPr>
            <p:cNvPr id="654" name="Shape 237"/>
            <p:cNvSpPr/>
            <p:nvPr/>
          </p:nvSpPr>
          <p:spPr>
            <a:xfrm>
              <a:off x="1892316" y="176378"/>
              <a:ext cx="149667" cy="1"/>
            </a:xfrm>
            <a:prstGeom prst="line">
              <a:avLst/>
            </a:prstGeom>
            <a:noFill/>
            <a:ln w="12700" cap="flat">
              <a:solidFill>
                <a:srgbClr val="91ACE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85723" tIns="85723" rIns="85723" bIns="85723" numCol="1" anchor="t">
              <a:noAutofit/>
            </a:bodyPr>
            <a:lstStyle/>
            <a:p>
              <a:pPr algn="ctr" defTabSz="2438400">
                <a:lnSpc>
                  <a:spcPct val="100000"/>
                </a:lnSpc>
                <a:spcBef>
                  <a:spcPts val="0"/>
                </a:spcBef>
                <a:defRPr sz="52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657" name="Text 238"/>
            <p:cNvGrpSpPr/>
            <p:nvPr/>
          </p:nvGrpSpPr>
          <p:grpSpPr>
            <a:xfrm>
              <a:off x="1986021" y="0"/>
              <a:ext cx="881086" cy="351401"/>
              <a:chOff x="0" y="0"/>
              <a:chExt cx="881085" cy="351400"/>
            </a:xfrm>
          </p:grpSpPr>
          <p:sp>
            <p:nvSpPr>
              <p:cNvPr id="655" name="圆角矩形"/>
              <p:cNvSpPr/>
              <p:nvPr/>
            </p:nvSpPr>
            <p:spPr>
              <a:xfrm>
                <a:off x="0" y="0"/>
                <a:ext cx="881086" cy="351401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175" cap="flat">
                <a:solidFill>
                  <a:srgbClr val="91ACE0"/>
                </a:solidFill>
                <a:prstDash val="solid"/>
                <a:round/>
              </a:ln>
              <a:effectLst/>
            </p:spPr>
            <p:txBody>
              <a:bodyPr wrap="square" lIns="42862" tIns="42862" rIns="42862" bIns="42862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12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</a:p>
            </p:txBody>
          </p:sp>
          <p:sp>
            <p:nvSpPr>
              <p:cNvPr id="656" name="开发"/>
              <p:cNvSpPr txBox="1"/>
              <p:nvPr/>
            </p:nvSpPr>
            <p:spPr>
              <a:xfrm>
                <a:off x="25488" y="25488"/>
                <a:ext cx="830109" cy="3004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714" tIns="714" rIns="714" bIns="714" numCol="1" anchor="ctr">
                <a:normAutofit/>
              </a:bodyPr>
              <a:lstStyle>
                <a:lvl1pPr algn="ctr" defTabSz="1828800">
                  <a:lnSpc>
                    <a:spcPct val="100000"/>
                  </a:lnSpc>
                  <a:spcBef>
                    <a:spcPts val="0"/>
                  </a:spcBef>
                  <a:defRPr sz="1200" b="1">
                    <a:solidFill>
                      <a:srgbClr val="4874C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</a:lstStyle>
              <a:p>
                <a:pPr>
                  <a:defRPr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  <a:r>
                  <a:rPr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开发</a:t>
                </a: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sp>
          <p:nvSpPr>
            <p:cNvPr id="658" name="Shape 239"/>
            <p:cNvSpPr/>
            <p:nvPr/>
          </p:nvSpPr>
          <p:spPr>
            <a:xfrm>
              <a:off x="2885326" y="176378"/>
              <a:ext cx="149668" cy="1"/>
            </a:xfrm>
            <a:prstGeom prst="line">
              <a:avLst/>
            </a:prstGeom>
            <a:noFill/>
            <a:ln w="12700" cap="flat">
              <a:solidFill>
                <a:srgbClr val="91ACE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85723" tIns="85723" rIns="85723" bIns="85723" numCol="1" anchor="t">
              <a:noAutofit/>
            </a:bodyPr>
            <a:lstStyle/>
            <a:p>
              <a:pPr algn="ctr" defTabSz="2438400">
                <a:lnSpc>
                  <a:spcPct val="100000"/>
                </a:lnSpc>
                <a:spcBef>
                  <a:spcPts val="0"/>
                </a:spcBef>
                <a:defRPr sz="52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661" name="Text 240"/>
            <p:cNvGrpSpPr/>
            <p:nvPr/>
          </p:nvGrpSpPr>
          <p:grpSpPr>
            <a:xfrm>
              <a:off x="2979031" y="0"/>
              <a:ext cx="881087" cy="351401"/>
              <a:chOff x="0" y="0"/>
              <a:chExt cx="881085" cy="351400"/>
            </a:xfrm>
          </p:grpSpPr>
          <p:sp>
            <p:nvSpPr>
              <p:cNvPr id="659" name="圆角矩形"/>
              <p:cNvSpPr/>
              <p:nvPr/>
            </p:nvSpPr>
            <p:spPr>
              <a:xfrm>
                <a:off x="0" y="0"/>
                <a:ext cx="881086" cy="351401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175" cap="flat">
                <a:solidFill>
                  <a:srgbClr val="91ACE0"/>
                </a:solidFill>
                <a:prstDash val="solid"/>
                <a:round/>
              </a:ln>
              <a:effectLst/>
            </p:spPr>
            <p:txBody>
              <a:bodyPr wrap="square" lIns="42862" tIns="42862" rIns="42862" bIns="42862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12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</a:p>
            </p:txBody>
          </p:sp>
          <p:sp>
            <p:nvSpPr>
              <p:cNvPr id="660" name="验证交付"/>
              <p:cNvSpPr txBox="1"/>
              <p:nvPr/>
            </p:nvSpPr>
            <p:spPr>
              <a:xfrm>
                <a:off x="25488" y="25488"/>
                <a:ext cx="830109" cy="3004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714" tIns="714" rIns="714" bIns="714" numCol="1" anchor="ctr">
                <a:normAutofit/>
              </a:bodyPr>
              <a:lstStyle>
                <a:lvl1pPr algn="ctr" defTabSz="1828800">
                  <a:lnSpc>
                    <a:spcPct val="100000"/>
                  </a:lnSpc>
                  <a:spcBef>
                    <a:spcPts val="0"/>
                  </a:spcBef>
                  <a:defRPr sz="1200" b="1">
                    <a:solidFill>
                      <a:srgbClr val="4874C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</a:lstStyle>
              <a:p>
                <a:pPr>
                  <a:defRPr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  <a:r>
                  <a:rPr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验证交付</a:t>
                </a: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</p:grpSp>
      <p:sp>
        <p:nvSpPr>
          <p:cNvPr id="663" name="Shape 241"/>
          <p:cNvSpPr/>
          <p:nvPr/>
        </p:nvSpPr>
        <p:spPr>
          <a:xfrm>
            <a:off x="5665470" y="10269854"/>
            <a:ext cx="4234815" cy="2434591"/>
          </a:xfrm>
          <a:prstGeom prst="roundRect">
            <a:avLst>
              <a:gd name="adj" fmla="val 4930"/>
            </a:avLst>
          </a:prstGeom>
          <a:solidFill>
            <a:srgbClr val="EFF7FF"/>
          </a:solidFill>
          <a:ln w="12700">
            <a:solidFill>
              <a:srgbClr val="F2F2F2">
                <a:alpha val="60000"/>
              </a:srgbClr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664" name="Shape 242"/>
          <p:cNvSpPr/>
          <p:nvPr/>
        </p:nvSpPr>
        <p:spPr>
          <a:xfrm>
            <a:off x="5819774" y="10458450"/>
            <a:ext cx="274321" cy="274321"/>
          </a:xfrm>
          <a:prstGeom prst="ellipse">
            <a:avLst/>
          </a:prstGeom>
          <a:solidFill>
            <a:srgbClr val="1E9EAD"/>
          </a:solidFill>
          <a:ln w="3175">
            <a:solidFill>
              <a:srgbClr val="FFFFFF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grpSp>
        <p:nvGrpSpPr>
          <p:cNvPr id="667" name="Text 243"/>
          <p:cNvGrpSpPr/>
          <p:nvPr/>
        </p:nvGrpSpPr>
        <p:grpSpPr>
          <a:xfrm>
            <a:off x="5819774" y="10468736"/>
            <a:ext cx="274321" cy="253746"/>
            <a:chOff x="0" y="0"/>
            <a:chExt cx="274320" cy="253745"/>
          </a:xfrm>
        </p:grpSpPr>
        <p:sp>
          <p:nvSpPr>
            <p:cNvPr id="665" name="矩形"/>
            <p:cNvSpPr/>
            <p:nvPr/>
          </p:nvSpPr>
          <p:spPr>
            <a:xfrm>
              <a:off x="-1" y="-1"/>
              <a:ext cx="274321" cy="253747"/>
            </a:xfrm>
            <a:prstGeom prst="rect">
              <a:avLst/>
            </a:prstGeom>
            <a:solidFill>
              <a:srgbClr val="4874CB"/>
            </a:solidFill>
            <a:ln w="12700" cap="flat">
              <a:noFill/>
              <a:miter lim="400000"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400" b="1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pPr>
            </a:p>
          </p:txBody>
        </p:sp>
        <p:sp>
          <p:nvSpPr>
            <p:cNvPr id="666" name="2"/>
            <p:cNvSpPr txBox="1"/>
            <p:nvPr/>
          </p:nvSpPr>
          <p:spPr>
            <a:xfrm>
              <a:off x="-1" y="-1"/>
              <a:ext cx="274321" cy="2537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400" b="1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lvl1pPr>
            </a:lstStyle>
            <a:p>
              <a:r>
                <a:t>2</a:t>
              </a:r>
            </a:p>
          </p:txBody>
        </p:sp>
      </p:grpSp>
      <p:sp>
        <p:nvSpPr>
          <p:cNvPr id="668" name="Text 244"/>
          <p:cNvSpPr txBox="1"/>
          <p:nvPr/>
        </p:nvSpPr>
        <p:spPr>
          <a:xfrm>
            <a:off x="6179343" y="10430073"/>
            <a:ext cx="3939779" cy="279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1600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场景二：需求文档转研发可执行材料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69" name="Text 245"/>
          <p:cNvSpPr txBox="1"/>
          <p:nvPr/>
        </p:nvSpPr>
        <p:spPr>
          <a:xfrm>
            <a:off x="5871209" y="10852784"/>
            <a:ext cx="3823336" cy="4286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1100" b="1">
                <a:solidFill>
                  <a:srgbClr val="2631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适用：需求还停留在业务描述、</a:t>
            </a:r>
            <a:r>
              <a:t>Word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文档或口头说明阶段。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70" name="Text 246"/>
          <p:cNvSpPr txBox="1"/>
          <p:nvPr/>
        </p:nvSpPr>
        <p:spPr>
          <a:xfrm>
            <a:off x="5871209" y="11294267"/>
            <a:ext cx="3823336" cy="56578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2631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把业务输入转成研发可评审、可拆解、可验证的标准产物。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682" name="组合 62"/>
          <p:cNvGrpSpPr/>
          <p:nvPr/>
        </p:nvGrpSpPr>
        <p:grpSpPr>
          <a:xfrm>
            <a:off x="5769768" y="11783615"/>
            <a:ext cx="4035030" cy="397670"/>
            <a:chOff x="0" y="0"/>
            <a:chExt cx="4035028" cy="397668"/>
          </a:xfrm>
        </p:grpSpPr>
        <p:grpSp>
          <p:nvGrpSpPr>
            <p:cNvPr id="673" name="Text 247"/>
            <p:cNvGrpSpPr/>
            <p:nvPr/>
          </p:nvGrpSpPr>
          <p:grpSpPr>
            <a:xfrm>
              <a:off x="-1" y="0"/>
              <a:ext cx="1238251" cy="397669"/>
              <a:chOff x="0" y="0"/>
              <a:chExt cx="1238250" cy="397668"/>
            </a:xfrm>
          </p:grpSpPr>
          <p:sp>
            <p:nvSpPr>
              <p:cNvPr id="671" name="圆角矩形"/>
              <p:cNvSpPr/>
              <p:nvPr/>
            </p:nvSpPr>
            <p:spPr>
              <a:xfrm>
                <a:off x="0" y="0"/>
                <a:ext cx="1238250" cy="39766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175" cap="flat">
                <a:solidFill>
                  <a:srgbClr val="91ACE0"/>
                </a:solidFill>
                <a:prstDash val="solid"/>
                <a:round/>
              </a:ln>
              <a:effectLst/>
            </p:spPr>
            <p:txBody>
              <a:bodyPr wrap="square" lIns="42862" tIns="42862" rIns="42862" bIns="42862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11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</a:p>
            </p:txBody>
          </p:sp>
          <p:sp>
            <p:nvSpPr>
              <p:cNvPr id="672" name="delivery-orchestrator"/>
              <p:cNvSpPr txBox="1"/>
              <p:nvPr/>
            </p:nvSpPr>
            <p:spPr>
              <a:xfrm>
                <a:off x="27746" y="48687"/>
                <a:ext cx="1182758" cy="3002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714" tIns="714" rIns="714" bIns="714" numCol="1" anchor="ctr">
                <a:spAutoFit/>
              </a:bodyPr>
              <a:lstStyle>
                <a:lvl1pPr algn="ctr" defTabSz="1828800">
                  <a:lnSpc>
                    <a:spcPct val="100000"/>
                  </a:lnSpc>
                  <a:spcBef>
                    <a:spcPts val="0"/>
                  </a:spcBef>
                  <a:defRPr sz="11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lvl1pPr>
              </a:lstStyle>
              <a:p>
                <a:r>
                  <a:t>delivery-orchestrator</a:t>
                </a:r>
              </a:p>
            </p:txBody>
          </p:sp>
        </p:grpSp>
        <p:sp>
          <p:nvSpPr>
            <p:cNvPr id="674" name="Shape 248"/>
            <p:cNvSpPr/>
            <p:nvPr/>
          </p:nvSpPr>
          <p:spPr>
            <a:xfrm>
              <a:off x="1238249" y="198834"/>
              <a:ext cx="138114" cy="1"/>
            </a:xfrm>
            <a:prstGeom prst="line">
              <a:avLst/>
            </a:prstGeom>
            <a:noFill/>
            <a:ln w="3175" cap="flat">
              <a:solidFill>
                <a:srgbClr val="91ACE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85723" tIns="85723" rIns="85723" bIns="85723" numCol="1" anchor="t">
              <a:noAutofit/>
            </a:bodyPr>
            <a:lstStyle/>
            <a:p>
              <a:pPr algn="ctr" defTabSz="2438400">
                <a:lnSpc>
                  <a:spcPct val="100000"/>
                </a:lnSpc>
                <a:spcBef>
                  <a:spcPts val="0"/>
                </a:spcBef>
                <a:defRPr sz="52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677" name="Text 249"/>
            <p:cNvGrpSpPr/>
            <p:nvPr/>
          </p:nvGrpSpPr>
          <p:grpSpPr>
            <a:xfrm>
              <a:off x="1398984" y="0"/>
              <a:ext cx="1238251" cy="397669"/>
              <a:chOff x="0" y="0"/>
              <a:chExt cx="1238250" cy="397668"/>
            </a:xfrm>
          </p:grpSpPr>
          <p:sp>
            <p:nvSpPr>
              <p:cNvPr id="675" name="圆角矩形"/>
              <p:cNvSpPr/>
              <p:nvPr/>
            </p:nvSpPr>
            <p:spPr>
              <a:xfrm>
                <a:off x="0" y="0"/>
                <a:ext cx="1238250" cy="39766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175" cap="flat">
                <a:solidFill>
                  <a:srgbClr val="91ACE0"/>
                </a:solidFill>
                <a:prstDash val="solid"/>
                <a:round/>
              </a:ln>
              <a:effectLst/>
            </p:spPr>
            <p:txBody>
              <a:bodyPr wrap="square" lIns="42862" tIns="42862" rIns="42862" bIns="42862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11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</a:p>
            </p:txBody>
          </p:sp>
          <p:sp>
            <p:nvSpPr>
              <p:cNvPr id="676" name="requirements"/>
              <p:cNvSpPr txBox="1"/>
              <p:nvPr/>
            </p:nvSpPr>
            <p:spPr>
              <a:xfrm>
                <a:off x="27746" y="27746"/>
                <a:ext cx="1182758" cy="3421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714" tIns="714" rIns="714" bIns="714" numCol="1" anchor="ctr">
                <a:normAutofit/>
              </a:bodyPr>
              <a:lstStyle>
                <a:lvl1pPr algn="ctr" defTabSz="1828800">
                  <a:lnSpc>
                    <a:spcPct val="100000"/>
                  </a:lnSpc>
                  <a:spcBef>
                    <a:spcPts val="0"/>
                  </a:spcBef>
                  <a:defRPr sz="11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lvl1pPr>
              </a:lstStyle>
              <a:p>
                <a:r>
                  <a:t>requirements</a:t>
                </a:r>
              </a:p>
            </p:txBody>
          </p:sp>
        </p:grpSp>
        <p:sp>
          <p:nvSpPr>
            <p:cNvPr id="678" name="Shape 250"/>
            <p:cNvSpPr/>
            <p:nvPr/>
          </p:nvSpPr>
          <p:spPr>
            <a:xfrm>
              <a:off x="2637234" y="198834"/>
              <a:ext cx="138113" cy="1"/>
            </a:xfrm>
            <a:prstGeom prst="line">
              <a:avLst/>
            </a:prstGeom>
            <a:noFill/>
            <a:ln w="3175" cap="flat">
              <a:solidFill>
                <a:srgbClr val="91ACE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85723" tIns="85723" rIns="85723" bIns="85723" numCol="1" anchor="t">
              <a:noAutofit/>
            </a:bodyPr>
            <a:lstStyle/>
            <a:p>
              <a:pPr algn="ctr" defTabSz="2438400">
                <a:lnSpc>
                  <a:spcPct val="100000"/>
                </a:lnSpc>
                <a:spcBef>
                  <a:spcPts val="0"/>
                </a:spcBef>
                <a:defRPr sz="52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681" name="Text 251"/>
            <p:cNvGrpSpPr/>
            <p:nvPr/>
          </p:nvGrpSpPr>
          <p:grpSpPr>
            <a:xfrm>
              <a:off x="2796778" y="0"/>
              <a:ext cx="1238251" cy="397669"/>
              <a:chOff x="0" y="0"/>
              <a:chExt cx="1238250" cy="397668"/>
            </a:xfrm>
          </p:grpSpPr>
          <p:sp>
            <p:nvSpPr>
              <p:cNvPr id="679" name="圆角矩形"/>
              <p:cNvSpPr/>
              <p:nvPr/>
            </p:nvSpPr>
            <p:spPr>
              <a:xfrm>
                <a:off x="0" y="0"/>
                <a:ext cx="1238250" cy="39766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175" cap="flat">
                <a:solidFill>
                  <a:srgbClr val="91ACE0"/>
                </a:solidFill>
                <a:prstDash val="solid"/>
                <a:round/>
              </a:ln>
              <a:effectLst/>
            </p:spPr>
            <p:txBody>
              <a:bodyPr wrap="square" lIns="42862" tIns="42862" rIns="42862" bIns="42862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11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</a:p>
            </p:txBody>
          </p:sp>
          <p:sp>
            <p:nvSpPr>
              <p:cNvPr id="680" name="prd"/>
              <p:cNvSpPr txBox="1"/>
              <p:nvPr/>
            </p:nvSpPr>
            <p:spPr>
              <a:xfrm>
                <a:off x="27746" y="27746"/>
                <a:ext cx="1182758" cy="3421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714" tIns="714" rIns="714" bIns="714" numCol="1" anchor="ctr">
                <a:normAutofit/>
              </a:bodyPr>
              <a:lstStyle>
                <a:lvl1pPr algn="ctr" defTabSz="1828800">
                  <a:lnSpc>
                    <a:spcPct val="100000"/>
                  </a:lnSpc>
                  <a:spcBef>
                    <a:spcPts val="0"/>
                  </a:spcBef>
                  <a:defRPr sz="11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lvl1pPr>
              </a:lstStyle>
              <a:p>
                <a:r>
                  <a:t>prd</a:t>
                </a:r>
              </a:p>
            </p:txBody>
          </p:sp>
        </p:grpSp>
      </p:grpSp>
      <p:grpSp>
        <p:nvGrpSpPr>
          <p:cNvPr id="685" name="Text 252"/>
          <p:cNvGrpSpPr/>
          <p:nvPr/>
        </p:nvGrpSpPr>
        <p:grpSpPr>
          <a:xfrm>
            <a:off x="5769768" y="12247959"/>
            <a:ext cx="1238251" cy="397670"/>
            <a:chOff x="0" y="0"/>
            <a:chExt cx="1238250" cy="397668"/>
          </a:xfrm>
        </p:grpSpPr>
        <p:sp>
          <p:nvSpPr>
            <p:cNvPr id="683" name="圆角矩形"/>
            <p:cNvSpPr/>
            <p:nvPr/>
          </p:nvSpPr>
          <p:spPr>
            <a:xfrm>
              <a:off x="0" y="0"/>
              <a:ext cx="1238250" cy="39766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175" cap="flat">
              <a:solidFill>
                <a:srgbClr val="91ACE0"/>
              </a:solidFill>
              <a:prstDash val="solid"/>
              <a:round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4874C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pPr>
            </a:p>
          </p:txBody>
        </p:sp>
        <p:sp>
          <p:nvSpPr>
            <p:cNvPr id="684" name="user-stories"/>
            <p:cNvSpPr txBox="1"/>
            <p:nvPr/>
          </p:nvSpPr>
          <p:spPr>
            <a:xfrm>
              <a:off x="27746" y="27746"/>
              <a:ext cx="1182758" cy="3421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714" tIns="714" rIns="714" bIns="714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4874C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lvl1pPr>
            </a:lstStyle>
            <a:p>
              <a:r>
                <a:t>user-stories</a:t>
              </a:r>
            </a:p>
          </p:txBody>
        </p:sp>
      </p:grpSp>
      <p:sp>
        <p:nvSpPr>
          <p:cNvPr id="686" name="Shape 253"/>
          <p:cNvSpPr/>
          <p:nvPr/>
        </p:nvSpPr>
        <p:spPr>
          <a:xfrm>
            <a:off x="7008017" y="12446793"/>
            <a:ext cx="138114" cy="1"/>
          </a:xfrm>
          <a:prstGeom prst="line">
            <a:avLst/>
          </a:prstGeom>
          <a:ln w="3175">
            <a:solidFill>
              <a:srgbClr val="91ACE0"/>
            </a:solidFill>
            <a:tailEnd type="triangle"/>
          </a:ln>
        </p:spPr>
        <p:txBody>
          <a:bodyPr lIns="85723" tIns="85723" rIns="85723" bIns="85723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</a:defRPr>
            </a:pPr>
          </a:p>
        </p:txBody>
      </p:sp>
      <p:grpSp>
        <p:nvGrpSpPr>
          <p:cNvPr id="689" name="Text 254"/>
          <p:cNvGrpSpPr/>
          <p:nvPr/>
        </p:nvGrpSpPr>
        <p:grpSpPr>
          <a:xfrm>
            <a:off x="7168752" y="12247959"/>
            <a:ext cx="1238251" cy="397670"/>
            <a:chOff x="0" y="0"/>
            <a:chExt cx="1238250" cy="397668"/>
          </a:xfrm>
        </p:grpSpPr>
        <p:sp>
          <p:nvSpPr>
            <p:cNvPr id="687" name="圆角矩形"/>
            <p:cNvSpPr/>
            <p:nvPr/>
          </p:nvSpPr>
          <p:spPr>
            <a:xfrm>
              <a:off x="0" y="0"/>
              <a:ext cx="1238250" cy="39766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175" cap="flat">
              <a:solidFill>
                <a:srgbClr val="91ACE0"/>
              </a:solidFill>
              <a:prstDash val="solid"/>
              <a:round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4874C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pPr>
            </a:p>
          </p:txBody>
        </p:sp>
        <p:sp>
          <p:nvSpPr>
            <p:cNvPr id="688" name="technical-design"/>
            <p:cNvSpPr txBox="1"/>
            <p:nvPr/>
          </p:nvSpPr>
          <p:spPr>
            <a:xfrm>
              <a:off x="27746" y="27746"/>
              <a:ext cx="1182758" cy="3421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714" tIns="714" rIns="714" bIns="714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4874C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lvl1pPr>
            </a:lstStyle>
            <a:p>
              <a:r>
                <a:t>technical-design</a:t>
              </a:r>
            </a:p>
          </p:txBody>
        </p:sp>
      </p:grpSp>
      <p:sp>
        <p:nvSpPr>
          <p:cNvPr id="690" name="Shape 255"/>
          <p:cNvSpPr/>
          <p:nvPr/>
        </p:nvSpPr>
        <p:spPr>
          <a:xfrm>
            <a:off x="8407003" y="12446793"/>
            <a:ext cx="138113" cy="1"/>
          </a:xfrm>
          <a:prstGeom prst="line">
            <a:avLst/>
          </a:prstGeom>
          <a:ln w="3175">
            <a:solidFill>
              <a:srgbClr val="91ACE0"/>
            </a:solidFill>
            <a:tailEnd type="triangle"/>
          </a:ln>
        </p:spPr>
        <p:txBody>
          <a:bodyPr lIns="85723" tIns="85723" rIns="85723" bIns="85723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</a:defRPr>
            </a:pPr>
          </a:p>
        </p:txBody>
      </p:sp>
      <p:grpSp>
        <p:nvGrpSpPr>
          <p:cNvPr id="693" name="Text 256"/>
          <p:cNvGrpSpPr/>
          <p:nvPr/>
        </p:nvGrpSpPr>
        <p:grpSpPr>
          <a:xfrm>
            <a:off x="8566546" y="12247959"/>
            <a:ext cx="1238251" cy="397670"/>
            <a:chOff x="0" y="0"/>
            <a:chExt cx="1238250" cy="397668"/>
          </a:xfrm>
        </p:grpSpPr>
        <p:sp>
          <p:nvSpPr>
            <p:cNvPr id="691" name="圆角矩形"/>
            <p:cNvSpPr/>
            <p:nvPr/>
          </p:nvSpPr>
          <p:spPr>
            <a:xfrm>
              <a:off x="0" y="0"/>
              <a:ext cx="1238250" cy="39766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175" cap="flat">
              <a:solidFill>
                <a:srgbClr val="91ACE0"/>
              </a:solidFill>
              <a:prstDash val="solid"/>
              <a:round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4874C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pPr>
            </a:p>
          </p:txBody>
        </p:sp>
        <p:sp>
          <p:nvSpPr>
            <p:cNvPr id="692" name="verification-plan"/>
            <p:cNvSpPr txBox="1"/>
            <p:nvPr/>
          </p:nvSpPr>
          <p:spPr>
            <a:xfrm>
              <a:off x="27746" y="124887"/>
              <a:ext cx="1182758" cy="147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714" tIns="714" rIns="714" bIns="714" numCol="1" anchor="ctr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100" b="1">
                  <a:solidFill>
                    <a:srgbClr val="4874C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lvl1pPr>
            </a:lstStyle>
            <a:p>
              <a:r>
                <a:t>verification-plan</a:t>
              </a:r>
            </a:p>
          </p:txBody>
        </p:sp>
      </p:grpSp>
      <p:sp>
        <p:nvSpPr>
          <p:cNvPr id="694" name="Shape 257"/>
          <p:cNvSpPr/>
          <p:nvPr/>
        </p:nvSpPr>
        <p:spPr>
          <a:xfrm>
            <a:off x="10140315" y="10269854"/>
            <a:ext cx="4234815" cy="2434591"/>
          </a:xfrm>
          <a:prstGeom prst="roundRect">
            <a:avLst>
              <a:gd name="adj" fmla="val 4930"/>
            </a:avLst>
          </a:prstGeom>
          <a:solidFill>
            <a:srgbClr val="EFF7FF"/>
          </a:solidFill>
          <a:ln w="12700">
            <a:solidFill>
              <a:srgbClr val="F2F2F2">
                <a:alpha val="60000"/>
              </a:srgbClr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695" name="Shape 258"/>
          <p:cNvSpPr/>
          <p:nvPr/>
        </p:nvSpPr>
        <p:spPr>
          <a:xfrm>
            <a:off x="10294620" y="10458450"/>
            <a:ext cx="274321" cy="274321"/>
          </a:xfrm>
          <a:prstGeom prst="ellipse">
            <a:avLst/>
          </a:prstGeom>
          <a:solidFill>
            <a:srgbClr val="6B43D9"/>
          </a:solidFill>
          <a:ln w="3175">
            <a:solidFill>
              <a:srgbClr val="FFFFFF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grpSp>
        <p:nvGrpSpPr>
          <p:cNvPr id="698" name="Text 259"/>
          <p:cNvGrpSpPr/>
          <p:nvPr/>
        </p:nvGrpSpPr>
        <p:grpSpPr>
          <a:xfrm>
            <a:off x="10294620" y="10468736"/>
            <a:ext cx="274321" cy="253746"/>
            <a:chOff x="0" y="0"/>
            <a:chExt cx="274320" cy="253745"/>
          </a:xfrm>
        </p:grpSpPr>
        <p:sp>
          <p:nvSpPr>
            <p:cNvPr id="696" name="矩形"/>
            <p:cNvSpPr/>
            <p:nvPr/>
          </p:nvSpPr>
          <p:spPr>
            <a:xfrm>
              <a:off x="-1" y="-1"/>
              <a:ext cx="274321" cy="253747"/>
            </a:xfrm>
            <a:prstGeom prst="rect">
              <a:avLst/>
            </a:prstGeom>
            <a:solidFill>
              <a:srgbClr val="4874CB"/>
            </a:solidFill>
            <a:ln w="12700" cap="flat">
              <a:noFill/>
              <a:miter lim="400000"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400" b="1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pPr>
            </a:p>
          </p:txBody>
        </p:sp>
        <p:sp>
          <p:nvSpPr>
            <p:cNvPr id="697" name="3"/>
            <p:cNvSpPr txBox="1"/>
            <p:nvPr/>
          </p:nvSpPr>
          <p:spPr>
            <a:xfrm>
              <a:off x="-1" y="-1"/>
              <a:ext cx="274321" cy="2537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400" b="1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lvl1pPr>
            </a:lstStyle>
            <a:p>
              <a:r>
                <a:t>3</a:t>
              </a:r>
            </a:p>
          </p:txBody>
        </p:sp>
      </p:grpSp>
      <p:sp>
        <p:nvSpPr>
          <p:cNvPr id="699" name="Text 260"/>
          <p:cNvSpPr txBox="1"/>
          <p:nvPr/>
        </p:nvSpPr>
        <p:spPr>
          <a:xfrm>
            <a:off x="10654664" y="10430192"/>
            <a:ext cx="3583306" cy="279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1600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场景三：复杂需求拆解与受控开发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00" name="Text 261"/>
          <p:cNvSpPr txBox="1"/>
          <p:nvPr/>
        </p:nvSpPr>
        <p:spPr>
          <a:xfrm>
            <a:off x="10346055" y="10852784"/>
            <a:ext cx="3823336" cy="4286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1100" b="1">
                <a:solidFill>
                  <a:srgbClr val="2631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适用：需求涉及多个模块、多个接口、多个服务，</a:t>
            </a:r>
            <a:r>
              <a:t>AI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容易在交付途中遗失约束。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01" name="Text 262"/>
          <p:cNvSpPr txBox="1"/>
          <p:nvPr/>
        </p:nvSpPr>
        <p:spPr>
          <a:xfrm>
            <a:off x="10346055" y="11401424"/>
            <a:ext cx="3823336" cy="56578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2631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让 </a:t>
            </a:r>
            <a:r>
              <a:t>AI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在明确边界、依赖关系和测试标准下推进开发。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717" name="组合 58"/>
          <p:cNvGrpSpPr/>
          <p:nvPr/>
        </p:nvGrpSpPr>
        <p:grpSpPr>
          <a:xfrm>
            <a:off x="10211991" y="11966971"/>
            <a:ext cx="4077892" cy="567740"/>
            <a:chOff x="0" y="0"/>
            <a:chExt cx="4077890" cy="567738"/>
          </a:xfrm>
        </p:grpSpPr>
        <p:grpSp>
          <p:nvGrpSpPr>
            <p:cNvPr id="704" name="Text 263"/>
            <p:cNvGrpSpPr/>
            <p:nvPr/>
          </p:nvGrpSpPr>
          <p:grpSpPr>
            <a:xfrm>
              <a:off x="0" y="0"/>
              <a:ext cx="932090" cy="567739"/>
              <a:chOff x="0" y="0"/>
              <a:chExt cx="932089" cy="567738"/>
            </a:xfrm>
          </p:grpSpPr>
          <p:sp>
            <p:nvSpPr>
              <p:cNvPr id="702" name="圆角矩形"/>
              <p:cNvSpPr/>
              <p:nvPr/>
            </p:nvSpPr>
            <p:spPr>
              <a:xfrm>
                <a:off x="0" y="0"/>
                <a:ext cx="932090" cy="56773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175" cap="flat">
                <a:solidFill>
                  <a:srgbClr val="91ACE0"/>
                </a:solidFill>
                <a:prstDash val="solid"/>
                <a:round/>
              </a:ln>
              <a:effectLst/>
            </p:spPr>
            <p:txBody>
              <a:bodyPr wrap="square" lIns="42862" tIns="42862" rIns="42862" bIns="42862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11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</a:p>
            </p:txBody>
          </p:sp>
          <p:sp>
            <p:nvSpPr>
              <p:cNvPr id="703" name="technical-design"/>
              <p:cNvSpPr txBox="1"/>
              <p:nvPr/>
            </p:nvSpPr>
            <p:spPr>
              <a:xfrm>
                <a:off x="36048" y="133722"/>
                <a:ext cx="859992" cy="3002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714" tIns="714" rIns="714" bIns="714" numCol="1" anchor="ctr">
                <a:spAutoFit/>
              </a:bodyPr>
              <a:lstStyle>
                <a:lvl1pPr algn="ctr" defTabSz="1828800">
                  <a:lnSpc>
                    <a:spcPct val="100000"/>
                  </a:lnSpc>
                  <a:spcBef>
                    <a:spcPts val="0"/>
                  </a:spcBef>
                  <a:defRPr sz="11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lvl1pPr>
              </a:lstStyle>
              <a:p>
                <a:r>
                  <a:t>technical-design</a:t>
                </a:r>
              </a:p>
            </p:txBody>
          </p:sp>
        </p:grpSp>
        <p:sp>
          <p:nvSpPr>
            <p:cNvPr id="705" name="Shape 264"/>
            <p:cNvSpPr/>
            <p:nvPr/>
          </p:nvSpPr>
          <p:spPr>
            <a:xfrm>
              <a:off x="951056" y="284965"/>
              <a:ext cx="155800" cy="1"/>
            </a:xfrm>
            <a:prstGeom prst="line">
              <a:avLst/>
            </a:prstGeom>
            <a:noFill/>
            <a:ln w="12700" cap="flat">
              <a:solidFill>
                <a:srgbClr val="91ACE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85723" tIns="85723" rIns="85723" bIns="85723" numCol="1" anchor="t">
              <a:noAutofit/>
            </a:bodyPr>
            <a:lstStyle/>
            <a:p>
              <a:pPr algn="ctr" defTabSz="2438400">
                <a:lnSpc>
                  <a:spcPct val="100000"/>
                </a:lnSpc>
                <a:spcBef>
                  <a:spcPts val="0"/>
                </a:spcBef>
                <a:defRPr sz="52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708" name="Text 265"/>
            <p:cNvGrpSpPr/>
            <p:nvPr/>
          </p:nvGrpSpPr>
          <p:grpSpPr>
            <a:xfrm>
              <a:off x="1048600" y="0"/>
              <a:ext cx="932090" cy="567739"/>
              <a:chOff x="0" y="0"/>
              <a:chExt cx="932089" cy="567738"/>
            </a:xfrm>
          </p:grpSpPr>
          <p:sp>
            <p:nvSpPr>
              <p:cNvPr id="706" name="圆角矩形"/>
              <p:cNvSpPr/>
              <p:nvPr/>
            </p:nvSpPr>
            <p:spPr>
              <a:xfrm>
                <a:off x="0" y="0"/>
                <a:ext cx="932090" cy="56773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175" cap="flat">
                <a:solidFill>
                  <a:srgbClr val="91ACE0"/>
                </a:solidFill>
                <a:prstDash val="solid"/>
                <a:round/>
              </a:ln>
              <a:effectLst/>
            </p:spPr>
            <p:txBody>
              <a:bodyPr wrap="square" lIns="42862" tIns="42862" rIns="42862" bIns="42862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11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</a:p>
            </p:txBody>
          </p:sp>
          <p:sp>
            <p:nvSpPr>
              <p:cNvPr id="707" name="verification-plan"/>
              <p:cNvSpPr txBox="1"/>
              <p:nvPr/>
            </p:nvSpPr>
            <p:spPr>
              <a:xfrm>
                <a:off x="36048" y="133722"/>
                <a:ext cx="859992" cy="3002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714" tIns="714" rIns="714" bIns="714" numCol="1" anchor="ctr">
                <a:spAutoFit/>
              </a:bodyPr>
              <a:lstStyle>
                <a:lvl1pPr algn="ctr" defTabSz="1828800">
                  <a:lnSpc>
                    <a:spcPct val="100000"/>
                  </a:lnSpc>
                  <a:spcBef>
                    <a:spcPts val="0"/>
                  </a:spcBef>
                  <a:defRPr sz="11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lvl1pPr>
              </a:lstStyle>
              <a:p>
                <a:r>
                  <a:t>verification-plan</a:t>
                </a:r>
              </a:p>
            </p:txBody>
          </p:sp>
        </p:grpSp>
        <p:sp>
          <p:nvSpPr>
            <p:cNvPr id="709" name="Shape 266"/>
            <p:cNvSpPr/>
            <p:nvPr/>
          </p:nvSpPr>
          <p:spPr>
            <a:xfrm>
              <a:off x="1999656" y="284965"/>
              <a:ext cx="155801" cy="1"/>
            </a:xfrm>
            <a:prstGeom prst="line">
              <a:avLst/>
            </a:prstGeom>
            <a:noFill/>
            <a:ln w="12700" cap="flat">
              <a:solidFill>
                <a:srgbClr val="91ACE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85723" tIns="85723" rIns="85723" bIns="85723" numCol="1" anchor="t">
              <a:noAutofit/>
            </a:bodyPr>
            <a:lstStyle/>
            <a:p>
              <a:pPr algn="ctr" defTabSz="2438400">
                <a:lnSpc>
                  <a:spcPct val="100000"/>
                </a:lnSpc>
                <a:spcBef>
                  <a:spcPts val="0"/>
                </a:spcBef>
                <a:defRPr sz="52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712" name="Text 267"/>
            <p:cNvGrpSpPr/>
            <p:nvPr/>
          </p:nvGrpSpPr>
          <p:grpSpPr>
            <a:xfrm>
              <a:off x="2097200" y="0"/>
              <a:ext cx="932091" cy="567739"/>
              <a:chOff x="0" y="0"/>
              <a:chExt cx="932089" cy="567738"/>
            </a:xfrm>
          </p:grpSpPr>
          <p:sp>
            <p:nvSpPr>
              <p:cNvPr id="710" name="圆角矩形"/>
              <p:cNvSpPr/>
              <p:nvPr/>
            </p:nvSpPr>
            <p:spPr>
              <a:xfrm>
                <a:off x="0" y="0"/>
                <a:ext cx="932090" cy="56773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175" cap="flat">
                <a:solidFill>
                  <a:srgbClr val="91ACE0"/>
                </a:solidFill>
                <a:prstDash val="solid"/>
                <a:round/>
              </a:ln>
              <a:effectLst/>
            </p:spPr>
            <p:txBody>
              <a:bodyPr wrap="square" lIns="42862" tIns="42862" rIns="42862" bIns="42862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11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</a:p>
            </p:txBody>
          </p:sp>
          <p:sp>
            <p:nvSpPr>
              <p:cNvPr id="711" name="implementation-tasks"/>
              <p:cNvSpPr txBox="1"/>
              <p:nvPr/>
            </p:nvSpPr>
            <p:spPr>
              <a:xfrm>
                <a:off x="36048" y="133722"/>
                <a:ext cx="859992" cy="3002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714" tIns="714" rIns="714" bIns="714" numCol="1" anchor="ctr">
                <a:spAutoFit/>
              </a:bodyPr>
              <a:lstStyle>
                <a:lvl1pPr algn="ctr" defTabSz="1828800">
                  <a:lnSpc>
                    <a:spcPct val="100000"/>
                  </a:lnSpc>
                  <a:spcBef>
                    <a:spcPts val="0"/>
                  </a:spcBef>
                  <a:defRPr sz="11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lvl1pPr>
              </a:lstStyle>
              <a:p>
                <a:r>
                  <a:t>implementation-tasks</a:t>
                </a:r>
              </a:p>
            </p:txBody>
          </p:sp>
        </p:grpSp>
        <p:sp>
          <p:nvSpPr>
            <p:cNvPr id="713" name="Shape 268"/>
            <p:cNvSpPr/>
            <p:nvPr/>
          </p:nvSpPr>
          <p:spPr>
            <a:xfrm>
              <a:off x="3048257" y="284965"/>
              <a:ext cx="155800" cy="1"/>
            </a:xfrm>
            <a:prstGeom prst="line">
              <a:avLst/>
            </a:prstGeom>
            <a:noFill/>
            <a:ln w="12700" cap="flat">
              <a:solidFill>
                <a:srgbClr val="91ACE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85723" tIns="85723" rIns="85723" bIns="85723" numCol="1" anchor="t">
              <a:noAutofit/>
            </a:bodyPr>
            <a:lstStyle/>
            <a:p>
              <a:pPr algn="ctr" defTabSz="2438400">
                <a:lnSpc>
                  <a:spcPct val="100000"/>
                </a:lnSpc>
                <a:spcBef>
                  <a:spcPts val="0"/>
                </a:spcBef>
                <a:defRPr sz="52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716" name="Text 269"/>
            <p:cNvGrpSpPr/>
            <p:nvPr/>
          </p:nvGrpSpPr>
          <p:grpSpPr>
            <a:xfrm>
              <a:off x="3145801" y="0"/>
              <a:ext cx="932090" cy="567739"/>
              <a:chOff x="0" y="0"/>
              <a:chExt cx="932089" cy="567738"/>
            </a:xfrm>
          </p:grpSpPr>
          <p:sp>
            <p:nvSpPr>
              <p:cNvPr id="714" name="圆角矩形"/>
              <p:cNvSpPr/>
              <p:nvPr/>
            </p:nvSpPr>
            <p:spPr>
              <a:xfrm>
                <a:off x="0" y="0"/>
                <a:ext cx="932090" cy="56773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175" cap="flat">
                <a:solidFill>
                  <a:srgbClr val="91ACE0"/>
                </a:solidFill>
                <a:prstDash val="solid"/>
                <a:round/>
              </a:ln>
              <a:effectLst/>
            </p:spPr>
            <p:txBody>
              <a:bodyPr wrap="square" lIns="42862" tIns="42862" rIns="42862" bIns="42862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11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</a:p>
            </p:txBody>
          </p:sp>
          <p:sp>
            <p:nvSpPr>
              <p:cNvPr id="715" name="implementation-execution"/>
              <p:cNvSpPr txBox="1"/>
              <p:nvPr/>
            </p:nvSpPr>
            <p:spPr>
              <a:xfrm>
                <a:off x="36048" y="133722"/>
                <a:ext cx="859992" cy="3002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714" tIns="714" rIns="714" bIns="714" numCol="1" anchor="ctr">
                <a:spAutoFit/>
              </a:bodyPr>
              <a:lstStyle>
                <a:lvl1pPr algn="ctr" defTabSz="1828800">
                  <a:lnSpc>
                    <a:spcPct val="100000"/>
                  </a:lnSpc>
                  <a:spcBef>
                    <a:spcPts val="0"/>
                  </a:spcBef>
                  <a:defRPr sz="11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lvl1pPr>
              </a:lstStyle>
              <a:p>
                <a:r>
                  <a:t>implementation-execution</a:t>
                </a:r>
              </a:p>
            </p:txBody>
          </p:sp>
        </p:grpSp>
      </p:grpSp>
      <p:sp>
        <p:nvSpPr>
          <p:cNvPr id="718" name="Shape 270"/>
          <p:cNvSpPr/>
          <p:nvPr/>
        </p:nvSpPr>
        <p:spPr>
          <a:xfrm>
            <a:off x="14615160" y="10269854"/>
            <a:ext cx="4234816" cy="2434591"/>
          </a:xfrm>
          <a:prstGeom prst="roundRect">
            <a:avLst>
              <a:gd name="adj" fmla="val 4930"/>
            </a:avLst>
          </a:prstGeom>
          <a:solidFill>
            <a:srgbClr val="EFF7FF"/>
          </a:solidFill>
          <a:ln w="12700">
            <a:solidFill>
              <a:srgbClr val="F2F2F2">
                <a:alpha val="60000"/>
              </a:srgbClr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719" name="Shape 271"/>
          <p:cNvSpPr/>
          <p:nvPr/>
        </p:nvSpPr>
        <p:spPr>
          <a:xfrm>
            <a:off x="14769464" y="10458450"/>
            <a:ext cx="274321" cy="274321"/>
          </a:xfrm>
          <a:prstGeom prst="ellipse">
            <a:avLst/>
          </a:prstGeom>
          <a:solidFill>
            <a:srgbClr val="49AE9E"/>
          </a:solidFill>
          <a:ln w="3175">
            <a:solidFill>
              <a:srgbClr val="FFFFFF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grpSp>
        <p:nvGrpSpPr>
          <p:cNvPr id="722" name="Text 272"/>
          <p:cNvGrpSpPr/>
          <p:nvPr/>
        </p:nvGrpSpPr>
        <p:grpSpPr>
          <a:xfrm>
            <a:off x="14769464" y="10468736"/>
            <a:ext cx="274321" cy="253746"/>
            <a:chOff x="0" y="0"/>
            <a:chExt cx="274320" cy="253745"/>
          </a:xfrm>
        </p:grpSpPr>
        <p:sp>
          <p:nvSpPr>
            <p:cNvPr id="720" name="矩形"/>
            <p:cNvSpPr/>
            <p:nvPr/>
          </p:nvSpPr>
          <p:spPr>
            <a:xfrm>
              <a:off x="-1" y="-1"/>
              <a:ext cx="274321" cy="253747"/>
            </a:xfrm>
            <a:prstGeom prst="rect">
              <a:avLst/>
            </a:prstGeom>
            <a:solidFill>
              <a:srgbClr val="4874CB"/>
            </a:solidFill>
            <a:ln w="12700" cap="flat">
              <a:noFill/>
              <a:miter lim="400000"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400" b="1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pPr>
            </a:p>
          </p:txBody>
        </p:sp>
        <p:sp>
          <p:nvSpPr>
            <p:cNvPr id="721" name="4"/>
            <p:cNvSpPr txBox="1"/>
            <p:nvPr/>
          </p:nvSpPr>
          <p:spPr>
            <a:xfrm>
              <a:off x="-1" y="-1"/>
              <a:ext cx="274321" cy="2537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400" b="1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lvl1pPr>
            </a:lstStyle>
            <a:p>
              <a:r>
                <a:t>4</a:t>
              </a:r>
            </a:p>
          </p:txBody>
        </p:sp>
      </p:grpSp>
      <p:sp>
        <p:nvSpPr>
          <p:cNvPr id="723" name="Text 273"/>
          <p:cNvSpPr txBox="1"/>
          <p:nvPr/>
        </p:nvSpPr>
        <p:spPr>
          <a:xfrm>
            <a:off x="15129509" y="10430192"/>
            <a:ext cx="3583305" cy="279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1600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场景四：真实环境验证与质量门禁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24" name="Text 274"/>
          <p:cNvSpPr txBox="1"/>
          <p:nvPr/>
        </p:nvSpPr>
        <p:spPr>
          <a:xfrm>
            <a:off x="14820900" y="10852784"/>
            <a:ext cx="3823335" cy="4286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1100" b="1">
                <a:solidFill>
                  <a:srgbClr val="2631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适用：功能看似完成，但需要确认模块间调用、前后端链路和真实业务流程能跑通。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25" name="Text 275"/>
          <p:cNvSpPr txBox="1"/>
          <p:nvPr/>
        </p:nvSpPr>
        <p:spPr>
          <a:xfrm>
            <a:off x="14820900" y="11401424"/>
            <a:ext cx="3823335" cy="56578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2631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检查真实服务、真实接口、真实数据链路是否符合交付标准。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737" name="组合 59"/>
          <p:cNvGrpSpPr/>
          <p:nvPr/>
        </p:nvGrpSpPr>
        <p:grpSpPr>
          <a:xfrm>
            <a:off x="14778037" y="11966971"/>
            <a:ext cx="3890964" cy="566545"/>
            <a:chOff x="0" y="0"/>
            <a:chExt cx="3890962" cy="566543"/>
          </a:xfrm>
        </p:grpSpPr>
        <p:grpSp>
          <p:nvGrpSpPr>
            <p:cNvPr id="728" name="Text 276"/>
            <p:cNvGrpSpPr/>
            <p:nvPr/>
          </p:nvGrpSpPr>
          <p:grpSpPr>
            <a:xfrm>
              <a:off x="0" y="0"/>
              <a:ext cx="1222874" cy="566544"/>
              <a:chOff x="0" y="0"/>
              <a:chExt cx="1222873" cy="566543"/>
            </a:xfrm>
          </p:grpSpPr>
          <p:sp>
            <p:nvSpPr>
              <p:cNvPr id="726" name="圆角矩形"/>
              <p:cNvSpPr/>
              <p:nvPr/>
            </p:nvSpPr>
            <p:spPr>
              <a:xfrm>
                <a:off x="0" y="0"/>
                <a:ext cx="1222874" cy="566544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175" cap="flat">
                <a:solidFill>
                  <a:srgbClr val="91ACE0"/>
                </a:solidFill>
                <a:prstDash val="solid"/>
                <a:round/>
              </a:ln>
              <a:effectLst/>
            </p:spPr>
            <p:txBody>
              <a:bodyPr wrap="square" lIns="42862" tIns="42862" rIns="42862" bIns="42862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14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</a:p>
            </p:txBody>
          </p:sp>
          <p:sp>
            <p:nvSpPr>
              <p:cNvPr id="727" name="verification-plan"/>
              <p:cNvSpPr txBox="1"/>
              <p:nvPr/>
            </p:nvSpPr>
            <p:spPr>
              <a:xfrm>
                <a:off x="35990" y="83133"/>
                <a:ext cx="1150893" cy="400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714" tIns="714" rIns="714" bIns="714" numCol="1" anchor="ctr">
                <a:spAutoFit/>
              </a:bodyPr>
              <a:lstStyle>
                <a:lvl1pPr algn="ctr" defTabSz="1828800">
                  <a:lnSpc>
                    <a:spcPct val="100000"/>
                  </a:lnSpc>
                  <a:spcBef>
                    <a:spcPts val="0"/>
                  </a:spcBef>
                  <a:defRPr sz="14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lvl1pPr>
              </a:lstStyle>
              <a:p>
                <a:r>
                  <a:t>verification-plan</a:t>
                </a:r>
              </a:p>
            </p:txBody>
          </p:sp>
        </p:grpSp>
        <p:sp>
          <p:nvSpPr>
            <p:cNvPr id="729" name="Shape 277"/>
            <p:cNvSpPr/>
            <p:nvPr/>
          </p:nvSpPr>
          <p:spPr>
            <a:xfrm>
              <a:off x="1240971" y="284365"/>
              <a:ext cx="148659" cy="1"/>
            </a:xfrm>
            <a:prstGeom prst="line">
              <a:avLst/>
            </a:prstGeom>
            <a:noFill/>
            <a:ln w="12700" cap="flat">
              <a:solidFill>
                <a:srgbClr val="91ACE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85723" tIns="85723" rIns="85723" bIns="85723" numCol="1" anchor="t">
              <a:noAutofit/>
            </a:bodyPr>
            <a:lstStyle/>
            <a:p>
              <a:pPr algn="ctr" defTabSz="2438400">
                <a:lnSpc>
                  <a:spcPct val="100000"/>
                </a:lnSpc>
                <a:spcBef>
                  <a:spcPts val="0"/>
                </a:spcBef>
                <a:defRPr sz="52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732" name="Text 278"/>
            <p:cNvGrpSpPr/>
            <p:nvPr/>
          </p:nvGrpSpPr>
          <p:grpSpPr>
            <a:xfrm>
              <a:off x="1334044" y="0"/>
              <a:ext cx="1222875" cy="566544"/>
              <a:chOff x="0" y="0"/>
              <a:chExt cx="1222873" cy="566543"/>
            </a:xfrm>
          </p:grpSpPr>
          <p:sp>
            <p:nvSpPr>
              <p:cNvPr id="730" name="圆角矩形"/>
              <p:cNvSpPr/>
              <p:nvPr/>
            </p:nvSpPr>
            <p:spPr>
              <a:xfrm>
                <a:off x="0" y="0"/>
                <a:ext cx="1222874" cy="566544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175" cap="flat">
                <a:solidFill>
                  <a:srgbClr val="91ACE0"/>
                </a:solidFill>
                <a:prstDash val="solid"/>
                <a:round/>
              </a:ln>
              <a:effectLst/>
            </p:spPr>
            <p:txBody>
              <a:bodyPr wrap="square" lIns="42862" tIns="42862" rIns="42862" bIns="42862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14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</a:p>
            </p:txBody>
          </p:sp>
          <p:sp>
            <p:nvSpPr>
              <p:cNvPr id="731" name="integration-test"/>
              <p:cNvSpPr txBox="1"/>
              <p:nvPr/>
            </p:nvSpPr>
            <p:spPr>
              <a:xfrm>
                <a:off x="35990" y="83133"/>
                <a:ext cx="1150893" cy="400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714" tIns="714" rIns="714" bIns="714" numCol="1" anchor="ctr">
                <a:spAutoFit/>
              </a:bodyPr>
              <a:lstStyle>
                <a:lvl1pPr algn="ctr" defTabSz="1828800">
                  <a:lnSpc>
                    <a:spcPct val="100000"/>
                  </a:lnSpc>
                  <a:spcBef>
                    <a:spcPts val="0"/>
                  </a:spcBef>
                  <a:defRPr sz="14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lvl1pPr>
              </a:lstStyle>
              <a:p>
                <a:r>
                  <a:t>integration-test</a:t>
                </a:r>
              </a:p>
            </p:txBody>
          </p:sp>
        </p:grpSp>
        <p:sp>
          <p:nvSpPr>
            <p:cNvPr id="733" name="Shape 279"/>
            <p:cNvSpPr/>
            <p:nvPr/>
          </p:nvSpPr>
          <p:spPr>
            <a:xfrm>
              <a:off x="2575015" y="284365"/>
              <a:ext cx="148659" cy="1"/>
            </a:xfrm>
            <a:prstGeom prst="line">
              <a:avLst/>
            </a:prstGeom>
            <a:noFill/>
            <a:ln w="12700" cap="flat">
              <a:solidFill>
                <a:srgbClr val="91ACE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85723" tIns="85723" rIns="85723" bIns="85723" numCol="1" anchor="t">
              <a:noAutofit/>
            </a:bodyPr>
            <a:lstStyle/>
            <a:p>
              <a:pPr algn="ctr" defTabSz="2438400">
                <a:lnSpc>
                  <a:spcPct val="100000"/>
                </a:lnSpc>
                <a:spcBef>
                  <a:spcPts val="0"/>
                </a:spcBef>
                <a:defRPr sz="52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736" name="Text 280"/>
            <p:cNvGrpSpPr/>
            <p:nvPr/>
          </p:nvGrpSpPr>
          <p:grpSpPr>
            <a:xfrm>
              <a:off x="2668088" y="0"/>
              <a:ext cx="1222875" cy="566544"/>
              <a:chOff x="0" y="0"/>
              <a:chExt cx="1222873" cy="566543"/>
            </a:xfrm>
          </p:grpSpPr>
          <p:sp>
            <p:nvSpPr>
              <p:cNvPr id="734" name="圆角矩形"/>
              <p:cNvSpPr/>
              <p:nvPr/>
            </p:nvSpPr>
            <p:spPr>
              <a:xfrm>
                <a:off x="0" y="0"/>
                <a:ext cx="1222874" cy="566544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175" cap="flat">
                <a:solidFill>
                  <a:srgbClr val="91ACE0"/>
                </a:solidFill>
                <a:prstDash val="solid"/>
                <a:round/>
              </a:ln>
              <a:effectLst/>
            </p:spPr>
            <p:txBody>
              <a:bodyPr wrap="square" lIns="42862" tIns="42862" rIns="42862" bIns="42862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14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</a:p>
            </p:txBody>
          </p:sp>
          <p:sp>
            <p:nvSpPr>
              <p:cNvPr id="735" name="e2e-test"/>
              <p:cNvSpPr txBox="1"/>
              <p:nvPr/>
            </p:nvSpPr>
            <p:spPr>
              <a:xfrm>
                <a:off x="35990" y="35990"/>
                <a:ext cx="1150893" cy="4945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714" tIns="714" rIns="714" bIns="714" numCol="1" anchor="ctr">
                <a:normAutofit/>
              </a:bodyPr>
              <a:lstStyle>
                <a:lvl1pPr algn="ctr" defTabSz="1828800">
                  <a:lnSpc>
                    <a:spcPct val="100000"/>
                  </a:lnSpc>
                  <a:spcBef>
                    <a:spcPts val="0"/>
                  </a:spcBef>
                  <a:defRPr sz="14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lvl1pPr>
              </a:lstStyle>
              <a:p>
                <a:r>
                  <a:t>e2e-test</a:t>
                </a:r>
              </a:p>
            </p:txBody>
          </p:sp>
        </p:grpSp>
      </p:grpSp>
      <p:sp>
        <p:nvSpPr>
          <p:cNvPr id="738" name="Shape 281"/>
          <p:cNvSpPr/>
          <p:nvPr/>
        </p:nvSpPr>
        <p:spPr>
          <a:xfrm>
            <a:off x="19090005" y="10269854"/>
            <a:ext cx="4183381" cy="2434591"/>
          </a:xfrm>
          <a:prstGeom prst="roundRect">
            <a:avLst>
              <a:gd name="adj" fmla="val 4930"/>
            </a:avLst>
          </a:prstGeom>
          <a:solidFill>
            <a:srgbClr val="EFF7FF"/>
          </a:solidFill>
          <a:ln w="12700">
            <a:solidFill>
              <a:srgbClr val="F2F2F2">
                <a:alpha val="60000"/>
              </a:srgbClr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sp>
        <p:nvSpPr>
          <p:cNvPr id="739" name="Shape 282"/>
          <p:cNvSpPr/>
          <p:nvPr/>
        </p:nvSpPr>
        <p:spPr>
          <a:xfrm>
            <a:off x="19244310" y="10458450"/>
            <a:ext cx="274321" cy="274321"/>
          </a:xfrm>
          <a:prstGeom prst="ellipse">
            <a:avLst/>
          </a:prstGeom>
          <a:solidFill>
            <a:srgbClr val="56B04A"/>
          </a:solidFill>
          <a:ln w="3175">
            <a:solidFill>
              <a:srgbClr val="FFFFFF"/>
            </a:solidFill>
          </a:ln>
        </p:spPr>
        <p:txBody>
          <a:bodyPr lIns="42862" tIns="42862" rIns="42862" bIns="42862"/>
          <a:lstStyle/>
          <a:p>
            <a:pPr algn="ctr" defTabSz="2438400">
              <a:lnSpc>
                <a:spcPct val="100000"/>
              </a:lnSpc>
              <a:spcBef>
                <a:spcPts val="0"/>
              </a:spcBef>
              <a:defRPr sz="5200">
                <a:solidFill>
                  <a:srgbClr val="FFFFFF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pPr>
          </a:p>
        </p:txBody>
      </p:sp>
      <p:grpSp>
        <p:nvGrpSpPr>
          <p:cNvPr id="742" name="Text 283"/>
          <p:cNvGrpSpPr/>
          <p:nvPr/>
        </p:nvGrpSpPr>
        <p:grpSpPr>
          <a:xfrm>
            <a:off x="19244310" y="10468736"/>
            <a:ext cx="274321" cy="253746"/>
            <a:chOff x="0" y="0"/>
            <a:chExt cx="274320" cy="253745"/>
          </a:xfrm>
        </p:grpSpPr>
        <p:sp>
          <p:nvSpPr>
            <p:cNvPr id="740" name="矩形"/>
            <p:cNvSpPr/>
            <p:nvPr/>
          </p:nvSpPr>
          <p:spPr>
            <a:xfrm>
              <a:off x="-1" y="-1"/>
              <a:ext cx="274321" cy="253747"/>
            </a:xfrm>
            <a:prstGeom prst="rect">
              <a:avLst/>
            </a:prstGeom>
            <a:solidFill>
              <a:srgbClr val="4874CB"/>
            </a:solidFill>
            <a:ln w="12700" cap="flat">
              <a:noFill/>
              <a:miter lim="400000"/>
            </a:ln>
            <a:effectLst/>
          </p:spPr>
          <p:txBody>
            <a:bodyPr wrap="square" lIns="42862" tIns="42862" rIns="42862" bIns="42862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1400" b="1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pPr>
            </a:p>
          </p:txBody>
        </p:sp>
        <p:sp>
          <p:nvSpPr>
            <p:cNvPr id="741" name="5"/>
            <p:cNvSpPr txBox="1"/>
            <p:nvPr/>
          </p:nvSpPr>
          <p:spPr>
            <a:xfrm>
              <a:off x="-1" y="-1"/>
              <a:ext cx="274321" cy="2537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rm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1400" b="1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lvl1pPr>
            </a:lstStyle>
            <a:p>
              <a:r>
                <a:t>5</a:t>
              </a:r>
            </a:p>
          </p:txBody>
        </p:sp>
      </p:grpSp>
      <p:sp>
        <p:nvSpPr>
          <p:cNvPr id="743" name="Text 284"/>
          <p:cNvSpPr txBox="1"/>
          <p:nvPr/>
        </p:nvSpPr>
        <p:spPr>
          <a:xfrm>
            <a:off x="19604355" y="10430192"/>
            <a:ext cx="3531871" cy="279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1600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场景五：从代码完成到团队交付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44" name="Text 285"/>
          <p:cNvSpPr txBox="1"/>
          <p:nvPr/>
        </p:nvSpPr>
        <p:spPr>
          <a:xfrm>
            <a:off x="19295744" y="10852784"/>
            <a:ext cx="3771899" cy="4286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1100" b="1">
                <a:solidFill>
                  <a:srgbClr val="2631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适用：代码已通过验证，需要进入团队协作、代码基线管理和测试环境验收。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45" name="Text 286"/>
          <p:cNvSpPr txBox="1"/>
          <p:nvPr/>
        </p:nvSpPr>
        <p:spPr>
          <a:xfrm>
            <a:off x="19295744" y="11401424"/>
            <a:ext cx="3771899" cy="56578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2631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def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把已完成代码沉淀为可追踪基线，并交付到测试环境。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761" name="组合 60"/>
          <p:cNvGrpSpPr/>
          <p:nvPr/>
        </p:nvGrpSpPr>
        <p:grpSpPr>
          <a:xfrm>
            <a:off x="19209543" y="11966971"/>
            <a:ext cx="4022098" cy="566545"/>
            <a:chOff x="0" y="0"/>
            <a:chExt cx="4022096" cy="566543"/>
          </a:xfrm>
        </p:grpSpPr>
        <p:grpSp>
          <p:nvGrpSpPr>
            <p:cNvPr id="748" name="Text 287"/>
            <p:cNvGrpSpPr/>
            <p:nvPr/>
          </p:nvGrpSpPr>
          <p:grpSpPr>
            <a:xfrm>
              <a:off x="0" y="0"/>
              <a:ext cx="917749" cy="566544"/>
              <a:chOff x="0" y="0"/>
              <a:chExt cx="917748" cy="566543"/>
            </a:xfrm>
          </p:grpSpPr>
          <p:sp>
            <p:nvSpPr>
              <p:cNvPr id="746" name="圆角矩形"/>
              <p:cNvSpPr/>
              <p:nvPr/>
            </p:nvSpPr>
            <p:spPr>
              <a:xfrm>
                <a:off x="0" y="0"/>
                <a:ext cx="917749" cy="566544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175" cap="flat">
                <a:solidFill>
                  <a:srgbClr val="91ACE0"/>
                </a:solidFill>
                <a:prstDash val="solid"/>
                <a:round/>
              </a:ln>
              <a:effectLst/>
            </p:spPr>
            <p:txBody>
              <a:bodyPr wrap="square" lIns="42862" tIns="42862" rIns="42862" bIns="42862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12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</a:p>
            </p:txBody>
          </p:sp>
          <p:sp>
            <p:nvSpPr>
              <p:cNvPr id="747" name="integration-test"/>
              <p:cNvSpPr txBox="1"/>
              <p:nvPr/>
            </p:nvSpPr>
            <p:spPr>
              <a:xfrm>
                <a:off x="35990" y="95293"/>
                <a:ext cx="845767" cy="37595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714" tIns="714" rIns="714" bIns="714" numCol="1" anchor="ctr">
                <a:spAutoFit/>
              </a:bodyPr>
              <a:lstStyle>
                <a:lvl1pPr algn="ctr" defTabSz="1828800">
                  <a:lnSpc>
                    <a:spcPct val="100000"/>
                  </a:lnSpc>
                  <a:spcBef>
                    <a:spcPts val="0"/>
                  </a:spcBef>
                  <a:defRPr sz="12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lvl1pPr>
              </a:lstStyle>
              <a:p>
                <a:r>
                  <a:t>integration-test</a:t>
                </a:r>
              </a:p>
            </p:txBody>
          </p:sp>
        </p:grpSp>
        <p:sp>
          <p:nvSpPr>
            <p:cNvPr id="749" name="Shape 288"/>
            <p:cNvSpPr/>
            <p:nvPr/>
          </p:nvSpPr>
          <p:spPr>
            <a:xfrm>
              <a:off x="938082" y="284365"/>
              <a:ext cx="155896" cy="1"/>
            </a:xfrm>
            <a:prstGeom prst="line">
              <a:avLst/>
            </a:prstGeom>
            <a:noFill/>
            <a:ln w="12700" cap="flat">
              <a:solidFill>
                <a:srgbClr val="91ACE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85723" tIns="85723" rIns="85723" bIns="85723" numCol="1" anchor="t">
              <a:noAutofit/>
            </a:bodyPr>
            <a:lstStyle/>
            <a:p>
              <a:pPr algn="ctr" defTabSz="2438400">
                <a:lnSpc>
                  <a:spcPct val="100000"/>
                </a:lnSpc>
                <a:spcBef>
                  <a:spcPts val="0"/>
                </a:spcBef>
                <a:defRPr sz="52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752" name="Text 289"/>
            <p:cNvGrpSpPr/>
            <p:nvPr/>
          </p:nvGrpSpPr>
          <p:grpSpPr>
            <a:xfrm>
              <a:off x="1035686" y="0"/>
              <a:ext cx="917749" cy="566544"/>
              <a:chOff x="0" y="0"/>
              <a:chExt cx="917748" cy="566543"/>
            </a:xfrm>
          </p:grpSpPr>
          <p:sp>
            <p:nvSpPr>
              <p:cNvPr id="750" name="圆角矩形"/>
              <p:cNvSpPr/>
              <p:nvPr/>
            </p:nvSpPr>
            <p:spPr>
              <a:xfrm>
                <a:off x="0" y="0"/>
                <a:ext cx="917749" cy="566544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175" cap="flat">
                <a:solidFill>
                  <a:srgbClr val="91ACE0"/>
                </a:solidFill>
                <a:prstDash val="solid"/>
                <a:round/>
              </a:ln>
              <a:effectLst/>
            </p:spPr>
            <p:txBody>
              <a:bodyPr wrap="square" lIns="42862" tIns="42862" rIns="42862" bIns="42862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14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</a:p>
            </p:txBody>
          </p:sp>
          <p:sp>
            <p:nvSpPr>
              <p:cNvPr id="751" name="e2e-test"/>
              <p:cNvSpPr txBox="1"/>
              <p:nvPr/>
            </p:nvSpPr>
            <p:spPr>
              <a:xfrm>
                <a:off x="35990" y="35990"/>
                <a:ext cx="845767" cy="4945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714" tIns="714" rIns="714" bIns="714" numCol="1" anchor="ctr">
                <a:normAutofit/>
              </a:bodyPr>
              <a:lstStyle>
                <a:lvl1pPr algn="ctr" defTabSz="1828800">
                  <a:lnSpc>
                    <a:spcPct val="100000"/>
                  </a:lnSpc>
                  <a:spcBef>
                    <a:spcPts val="0"/>
                  </a:spcBef>
                  <a:defRPr sz="14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lvl1pPr>
              </a:lstStyle>
              <a:p>
                <a:r>
                  <a:t>e2e-test</a:t>
                </a:r>
              </a:p>
            </p:txBody>
          </p:sp>
        </p:grpSp>
        <p:sp>
          <p:nvSpPr>
            <p:cNvPr id="753" name="Shape 290"/>
            <p:cNvSpPr/>
            <p:nvPr/>
          </p:nvSpPr>
          <p:spPr>
            <a:xfrm>
              <a:off x="1972413" y="284365"/>
              <a:ext cx="155896" cy="1"/>
            </a:xfrm>
            <a:prstGeom prst="line">
              <a:avLst/>
            </a:prstGeom>
            <a:noFill/>
            <a:ln w="12700" cap="flat">
              <a:solidFill>
                <a:srgbClr val="91ACE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85723" tIns="85723" rIns="85723" bIns="85723" numCol="1" anchor="t">
              <a:noAutofit/>
            </a:bodyPr>
            <a:lstStyle/>
            <a:p>
              <a:pPr algn="ctr" defTabSz="2438400">
                <a:lnSpc>
                  <a:spcPct val="100000"/>
                </a:lnSpc>
                <a:spcBef>
                  <a:spcPts val="0"/>
                </a:spcBef>
                <a:defRPr sz="52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756" name="Text 291"/>
            <p:cNvGrpSpPr/>
            <p:nvPr/>
          </p:nvGrpSpPr>
          <p:grpSpPr>
            <a:xfrm>
              <a:off x="2070017" y="0"/>
              <a:ext cx="917749" cy="566544"/>
              <a:chOff x="0" y="0"/>
              <a:chExt cx="917748" cy="566543"/>
            </a:xfrm>
          </p:grpSpPr>
          <p:sp>
            <p:nvSpPr>
              <p:cNvPr id="754" name="圆角矩形"/>
              <p:cNvSpPr/>
              <p:nvPr/>
            </p:nvSpPr>
            <p:spPr>
              <a:xfrm>
                <a:off x="0" y="0"/>
                <a:ext cx="917749" cy="566544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175" cap="flat">
                <a:solidFill>
                  <a:srgbClr val="91ACE0"/>
                </a:solidFill>
                <a:prstDash val="solid"/>
                <a:round/>
              </a:ln>
              <a:effectLst/>
            </p:spPr>
            <p:txBody>
              <a:bodyPr wrap="square" lIns="42862" tIns="42862" rIns="42862" bIns="42862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14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</a:p>
            </p:txBody>
          </p:sp>
          <p:sp>
            <p:nvSpPr>
              <p:cNvPr id="755" name="git-push"/>
              <p:cNvSpPr txBox="1"/>
              <p:nvPr/>
            </p:nvSpPr>
            <p:spPr>
              <a:xfrm>
                <a:off x="35990" y="35990"/>
                <a:ext cx="845767" cy="4945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714" tIns="714" rIns="714" bIns="714" numCol="1" anchor="ctr">
                <a:normAutofit/>
              </a:bodyPr>
              <a:lstStyle>
                <a:lvl1pPr algn="ctr" defTabSz="1828800">
                  <a:lnSpc>
                    <a:spcPct val="100000"/>
                  </a:lnSpc>
                  <a:spcBef>
                    <a:spcPts val="0"/>
                  </a:spcBef>
                  <a:defRPr sz="14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lvl1pPr>
              </a:lstStyle>
              <a:p>
                <a:r>
                  <a:t>git-push</a:t>
                </a:r>
              </a:p>
            </p:txBody>
          </p:sp>
        </p:grpSp>
        <p:sp>
          <p:nvSpPr>
            <p:cNvPr id="757" name="Shape 292"/>
            <p:cNvSpPr/>
            <p:nvPr/>
          </p:nvSpPr>
          <p:spPr>
            <a:xfrm>
              <a:off x="3006744" y="284365"/>
              <a:ext cx="155896" cy="1"/>
            </a:xfrm>
            <a:prstGeom prst="line">
              <a:avLst/>
            </a:prstGeom>
            <a:noFill/>
            <a:ln w="12700" cap="flat">
              <a:solidFill>
                <a:srgbClr val="91ACE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85723" tIns="85723" rIns="85723" bIns="85723" numCol="1" anchor="t">
              <a:noAutofit/>
            </a:bodyPr>
            <a:lstStyle/>
            <a:p>
              <a:pPr algn="ctr" defTabSz="2438400">
                <a:lnSpc>
                  <a:spcPct val="100000"/>
                </a:lnSpc>
                <a:spcBef>
                  <a:spcPts val="0"/>
                </a:spcBef>
                <a:defRPr sz="52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760" name="Text 293"/>
            <p:cNvGrpSpPr/>
            <p:nvPr/>
          </p:nvGrpSpPr>
          <p:grpSpPr>
            <a:xfrm>
              <a:off x="3104348" y="0"/>
              <a:ext cx="917749" cy="566544"/>
              <a:chOff x="0" y="0"/>
              <a:chExt cx="917748" cy="566543"/>
            </a:xfrm>
          </p:grpSpPr>
          <p:sp>
            <p:nvSpPr>
              <p:cNvPr id="758" name="圆角矩形"/>
              <p:cNvSpPr/>
              <p:nvPr/>
            </p:nvSpPr>
            <p:spPr>
              <a:xfrm>
                <a:off x="0" y="0"/>
                <a:ext cx="917749" cy="566544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175" cap="flat">
                <a:solidFill>
                  <a:srgbClr val="91ACE0"/>
                </a:solidFill>
                <a:prstDash val="solid"/>
                <a:round/>
              </a:ln>
              <a:effectLst/>
            </p:spPr>
            <p:txBody>
              <a:bodyPr wrap="square" lIns="42862" tIns="42862" rIns="42862" bIns="42862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12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pPr>
              </a:p>
            </p:txBody>
          </p:sp>
          <p:sp>
            <p:nvSpPr>
              <p:cNvPr id="759" name="deployment-execution"/>
              <p:cNvSpPr txBox="1"/>
              <p:nvPr/>
            </p:nvSpPr>
            <p:spPr>
              <a:xfrm>
                <a:off x="35990" y="95293"/>
                <a:ext cx="845767" cy="37595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714" tIns="714" rIns="714" bIns="714" numCol="1" anchor="ctr">
                <a:spAutoFit/>
              </a:bodyPr>
              <a:lstStyle>
                <a:lvl1pPr algn="ctr" defTabSz="1828800">
                  <a:lnSpc>
                    <a:spcPct val="100000"/>
                  </a:lnSpc>
                  <a:spcBef>
                    <a:spcPts val="0"/>
                  </a:spcBef>
                  <a:defRPr sz="1200" b="1">
                    <a:solidFill>
                      <a:srgbClr val="4874CB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defRPr>
                </a:lvl1pPr>
              </a:lstStyle>
              <a:p>
                <a:r>
                  <a:t>deployment-execution</a:t>
                </a:r>
              </a:p>
            </p:txBody>
          </p:sp>
        </p:grpSp>
      </p:grp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如何在实际项目中运用四阶十二步指导开发工作"/>
          <p:cNvSpPr txBox="1"/>
          <p:nvPr>
            <p:ph type="title"/>
          </p:nvPr>
        </p:nvSpPr>
        <p:spPr>
          <a:xfrm>
            <a:off x="1535052" y="6027003"/>
            <a:ext cx="19444360" cy="1661995"/>
          </a:xfrm>
          <a:prstGeom prst="rect">
            <a:avLst/>
          </a:prstGeom>
        </p:spPr>
        <p:txBody>
          <a:bodyPr/>
          <a:lstStyle>
            <a:lvl1pPr defTabSz="1261745">
              <a:defRPr sz="7175"/>
            </a:lvl1pPr>
          </a:lstStyle>
          <a:p>
            <a:pPr algn="ctr"/>
            <a:r>
              <a:rPr lang="zh-CN"/>
              <a:t>谢谢</a:t>
            </a:r>
            <a:endParaRPr lang="zh-CN"/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DIAGRAM_VIRTUALLY_FRAME" val="{&quot;height&quot;:680.6023622047244,&quot;left&quot;:76.56507874015747,&quot;top&quot;:262.9884251968504,&quot;width&quot;:1744.060433070866}"/>
</p:tagLst>
</file>

<file path=ppt/tags/tag2.xml><?xml version="1.0" encoding="utf-8"?>
<p:tagLst xmlns:p="http://schemas.openxmlformats.org/presentationml/2006/main">
  <p:tag name="KSO_WM_DIAGRAM_VIRTUALLY_FRAME" val="{&quot;height&quot;:680.6023622047244,&quot;left&quot;:76.56507874015747,&quot;top&quot;:262.9884251968504,&quot;width&quot;:1744.060433070866}"/>
</p:tagLst>
</file>

<file path=ppt/tags/tag3.xml><?xml version="1.0" encoding="utf-8"?>
<p:tagLst xmlns:p="http://schemas.openxmlformats.org/presentationml/2006/main">
  <p:tag name="KSO_WM_DIAGRAM_VIRTUALLY_FRAME" val="{&quot;height&quot;:680.6023622047244,&quot;left&quot;:76.56507874015747,&quot;top&quot;:262.9884251968504,&quot;width&quot;:1744.060433070866}"/>
</p:tagLst>
</file>

<file path=ppt/tags/tag4.xml><?xml version="1.0" encoding="utf-8"?>
<p:tagLst xmlns:p="http://schemas.openxmlformats.org/presentationml/2006/main">
  <p:tag name="KSO_WM_DIAGRAM_VIRTUALLY_FRAME" val="{&quot;height&quot;:680.6023622047244,&quot;left&quot;:76.56507874015747,&quot;top&quot;:262.9884251968504,&quot;width&quot;:1744.060433070866}"/>
</p:tagLst>
</file>

<file path=ppt/tags/tag5.xml><?xml version="1.0" encoding="utf-8"?>
<p:tagLst xmlns:p="http://schemas.openxmlformats.org/presentationml/2006/main">
  <p:tag name="KSO_WM_DIAGRAM_VIRTUALLY_FRAME" val="{&quot;height&quot;:680.6023622047244,&quot;left&quot;:76.56507874015747,&quot;top&quot;:262.9884251968504,&quot;width&quot;:1744.060433070866}"/>
</p:tagLst>
</file>

<file path=ppt/tags/tag6.xml><?xml version="1.0" encoding="utf-8"?>
<p:tagLst xmlns:p="http://schemas.openxmlformats.org/presentationml/2006/main">
  <p:tag name="KSO_WM_DIAGRAM_VIRTUALLY_FRAME" val="{&quot;height&quot;:680.6023622047244,&quot;left&quot;:76.56507874015747,&quot;top&quot;:262.9884251968504,&quot;width&quot;:1744.060433070866}"/>
</p:tagLst>
</file>

<file path=ppt/tags/tag7.xml><?xml version="1.0" encoding="utf-8"?>
<p:tagLst xmlns:p="http://schemas.openxmlformats.org/presentationml/2006/main">
  <p:tag name="KSO_WM_DIAGRAM_VIRTUALLY_FRAME" val="{&quot;height&quot;:680.6023622047244,&quot;left&quot;:76.56507874015747,&quot;top&quot;:262.9884251968504,&quot;width&quot;:1744.060433070866}"/>
</p:tagLst>
</file>

<file path=ppt/tags/tag8.xml><?xml version="1.0" encoding="utf-8"?>
<p:tagLst xmlns:p="http://schemas.openxmlformats.org/presentationml/2006/main">
  <p:tag name="KSO_WM_DIAGRAM_VIRTUALLY_FRAME" val="{&quot;height&quot;:680.6023622047244,&quot;left&quot;:76.56507874015747,&quot;top&quot;:262.9884251968504,&quot;width&quot;:1744.060433070866}"/>
</p:tagLst>
</file>

<file path=ppt/tags/tag9.xml><?xml version="1.0" encoding="utf-8"?>
<p:tagLst xmlns:p="http://schemas.openxmlformats.org/presentationml/2006/main">
  <p:tag name="KSO_WM_DIAGRAM_VIRTUALLY_FRAME" val="{&quot;height&quot;:680.6023622047244,&quot;left&quot;:76.56507874015747,&quot;top&quot;:262.9884251968504,&quot;width&quot;:1744.060433070866}"/>
</p:tagLst>
</file>

<file path=ppt/tags/tag10.xml><?xml version="1.0" encoding="utf-8"?>
<p:tagLst xmlns:p="http://schemas.openxmlformats.org/presentationml/2006/main">
  <p:tag name="KSO_WM_DIAGRAM_VIRTUALLY_FRAME" val="{&quot;height&quot;:680.6023622047244,&quot;left&quot;:76.56507874015747,&quot;top&quot;:262.9884251968504,&quot;width&quot;:1744.060433070866}"/>
</p:tagLst>
</file>

<file path=ppt/tags/tag11.xml><?xml version="1.0" encoding="utf-8"?>
<p:tagLst xmlns:p="http://schemas.openxmlformats.org/presentationml/2006/main">
  <p:tag name="KSO_WM_DIAGRAM_VIRTUALLY_FRAME" val="{&quot;height&quot;:680.6023622047244,&quot;left&quot;:76.56507874015747,&quot;top&quot;:262.9884251968504,&quot;width&quot;:1744.060433070866}"/>
</p:tagLst>
</file>

<file path=ppt/tags/tag12.xml><?xml version="1.0" encoding="utf-8"?>
<p:tagLst xmlns:p="http://schemas.openxmlformats.org/presentationml/2006/main">
  <p:tag name="KSO_WM_DIAGRAM_VIRTUALLY_FRAME" val="{&quot;height&quot;:680.6023622047244,&quot;left&quot;:76.56507874015747,&quot;top&quot;:262.9884251968504,&quot;width&quot;:1744.060433070866}"/>
</p:tagLst>
</file>

<file path=ppt/tags/tag13.xml><?xml version="1.0" encoding="utf-8"?>
<p:tagLst xmlns:p="http://schemas.openxmlformats.org/presentationml/2006/main">
  <p:tag name="KSO_WM_DIAGRAM_VIRTUALLY_FRAME" val="{&quot;height&quot;:1101.5257480314963,&quot;left&quot;:163.3140157480315,&quot;top&quot;:-199.79299212598426,&quot;width&quot;:1593.3719685039368}"/>
</p:tagLst>
</file>

<file path=ppt/tags/tag14.xml><?xml version="1.0" encoding="utf-8"?>
<p:tagLst xmlns:p="http://schemas.openxmlformats.org/presentationml/2006/main">
  <p:tag name="KSO_WM_DIAGRAM_VIRTUALLY_FRAME" val="{&quot;height&quot;:1101.5257480314963,&quot;left&quot;:163.3140157480315,&quot;top&quot;:-199.79299212598426,&quot;width&quot;:1593.3719685039368}"/>
</p:tagLst>
</file>

<file path=ppt/tags/tag15.xml><?xml version="1.0" encoding="utf-8"?>
<p:tagLst xmlns:p="http://schemas.openxmlformats.org/presentationml/2006/main">
  <p:tag name="KSO_WM_DIAGRAM_VIRTUALLY_FRAME" val="{&quot;height&quot;:1101.5257480314963,&quot;left&quot;:163.3140157480315,&quot;top&quot;:-199.79299212598426,&quot;width&quot;:1593.3719685039368}"/>
</p:tagLst>
</file>

<file path=ppt/tags/tag16.xml><?xml version="1.0" encoding="utf-8"?>
<p:tagLst xmlns:p="http://schemas.openxmlformats.org/presentationml/2006/main">
  <p:tag name="KSO_WM_DIAGRAM_VIRTUALLY_FRAME" val="{&quot;height&quot;:1101.5257480314963,&quot;left&quot;:163.3140157480315,&quot;top&quot;:-199.79299212598426,&quot;width&quot;:1593.3719685039368}"/>
</p:tagLst>
</file>

<file path=ppt/tags/tag17.xml><?xml version="1.0" encoding="utf-8"?>
<p:tagLst xmlns:p="http://schemas.openxmlformats.org/presentationml/2006/main">
  <p:tag name="KSO_WM_DIAGRAM_VIRTUALLY_FRAME" val="{&quot;height&quot;:1101.5257480314963,&quot;left&quot;:163.3140157480315,&quot;top&quot;:-199.79299212598426,&quot;width&quot;:1593.3719685039368}"/>
</p:tagLst>
</file>

<file path=ppt/tags/tag18.xml><?xml version="1.0" encoding="utf-8"?>
<p:tagLst xmlns:p="http://schemas.openxmlformats.org/presentationml/2006/main">
  <p:tag name="KSO_WM_DIAGRAM_VIRTUALLY_FRAME" val="{&quot;height&quot;:1101.5257480314963,&quot;left&quot;:163.3140157480315,&quot;top&quot;:-199.79299212598426,&quot;width&quot;:1593.3719685039368}"/>
</p:tagLst>
</file>

<file path=ppt/tags/tag19.xml><?xml version="1.0" encoding="utf-8"?>
<p:tagLst xmlns:p="http://schemas.openxmlformats.org/presentationml/2006/main">
  <p:tag name="KSO_WM_DIAGRAM_VIRTUALLY_FRAME" val="{&quot;height&quot;:1101.5257480314963,&quot;left&quot;:163.3140157480315,&quot;top&quot;:-199.79299212598426,&quot;width&quot;:1593.3719685039368}"/>
</p:tagLst>
</file>

<file path=ppt/tags/tag20.xml><?xml version="1.0" encoding="utf-8"?>
<p:tagLst xmlns:p="http://schemas.openxmlformats.org/presentationml/2006/main">
  <p:tag name="KSO_WM_DIAGRAM_VIRTUALLY_FRAME" val="{&quot;height&quot;:1101.5257480314963,&quot;left&quot;:163.3140157480315,&quot;top&quot;:-199.79299212598426,&quot;width&quot;:1593.3719685039368}"/>
</p:tagLst>
</file>

<file path=ppt/tags/tag21.xml><?xml version="1.0" encoding="utf-8"?>
<p:tagLst xmlns:p="http://schemas.openxmlformats.org/presentationml/2006/main">
  <p:tag name="KSO_WM_DIAGRAM_VIRTUALLY_FRAME" val="{&quot;height&quot;:1101.5257480314963,&quot;left&quot;:163.3140157480315,&quot;top&quot;:-199.79299212598426,&quot;width&quot;:1593.3719685039368}"/>
</p:tagLst>
</file>

<file path=ppt/tags/tag22.xml><?xml version="1.0" encoding="utf-8"?>
<p:tagLst xmlns:p="http://schemas.openxmlformats.org/presentationml/2006/main">
  <p:tag name="KSO_WM_DIAGRAM_VIRTUALLY_FRAME" val="{&quot;height&quot;:1101.5257480314963,&quot;left&quot;:163.3140157480315,&quot;top&quot;:-199.79299212598426,&quot;width&quot;:1593.3719685039368}"/>
</p:tagLst>
</file>

<file path=ppt/tags/tag23.xml><?xml version="1.0" encoding="utf-8"?>
<p:tagLst xmlns:p="http://schemas.openxmlformats.org/presentationml/2006/main">
  <p:tag name="KSO_WM_DIAGRAM_VIRTUALLY_FRAME" val="{&quot;height&quot;:1101.5257480314963,&quot;left&quot;:163.3140157480315,&quot;top&quot;:-199.79299212598426,&quot;width&quot;:1593.3719685039368}"/>
</p:tagLst>
</file>

<file path=ppt/tags/tag24.xml><?xml version="1.0" encoding="utf-8"?>
<p:tagLst xmlns:p="http://schemas.openxmlformats.org/presentationml/2006/main">
  <p:tag name="KSO_WM_DIAGRAM_VIRTUALLY_FRAME" val="{&quot;height&quot;:1101.5257480314963,&quot;left&quot;:163.3140157480315,&quot;top&quot;:-199.79299212598426,&quot;width&quot;:1593.3719685039368}"/>
</p:tagLst>
</file>

<file path=ppt/tags/tag25.xml><?xml version="1.0" encoding="utf-8"?>
<p:tagLst xmlns:p="http://schemas.openxmlformats.org/presentationml/2006/main">
  <p:tag name="KSO_WM_DIAGRAM_VIRTUALLY_FRAME" val="{&quot;height&quot;:1101.5257480314963,&quot;left&quot;:163.3140157480315,&quot;top&quot;:-199.79299212598426,&quot;width&quot;:1593.3719685039368}"/>
</p:tagLst>
</file>

<file path=ppt/tags/tag26.xml><?xml version="1.0" encoding="utf-8"?>
<p:tagLst xmlns:p="http://schemas.openxmlformats.org/presentationml/2006/main">
  <p:tag name="KSO_WM_DIAGRAM_VIRTUALLY_FRAME" val="{&quot;height&quot;:1101.5257480314963,&quot;left&quot;:163.3140157480315,&quot;top&quot;:-199.79299212598426,&quot;width&quot;:1593.3719685039368}"/>
</p:tagLst>
</file>

<file path=ppt/tags/tag27.xml><?xml version="1.0" encoding="utf-8"?>
<p:tagLst xmlns:p="http://schemas.openxmlformats.org/presentationml/2006/main">
  <p:tag name="KSO_WM_DIAGRAM_VIRTUALLY_FRAME" val="{&quot;height&quot;:1101.5257480314963,&quot;left&quot;:163.3140157480315,&quot;top&quot;:-199.79299212598426,&quot;width&quot;:1593.3719685039368}"/>
</p:tagLst>
</file>

<file path=ppt/tags/tag28.xml><?xml version="1.0" encoding="utf-8"?>
<p:tagLst xmlns:p="http://schemas.openxmlformats.org/presentationml/2006/main">
  <p:tag name="KSO_WM_DIAGRAM_VIRTUALLY_FRAME" val="{&quot;height&quot;:1101.5257480314963,&quot;left&quot;:163.3140157480315,&quot;top&quot;:-199.79299212598426,&quot;width&quot;:1593.3719685039368}"/>
</p:tagLst>
</file>

<file path=ppt/tags/tag29.xml><?xml version="1.0" encoding="utf-8"?>
<p:tagLst xmlns:p="http://schemas.openxmlformats.org/presentationml/2006/main">
  <p:tag name="KSO_WM_DIAGRAM_VIRTUALLY_FRAME" val="{&quot;height&quot;:1101.5257480314963,&quot;left&quot;:163.3140157480315,&quot;top&quot;:-199.79299212598426,&quot;width&quot;:1593.3719685039368}"/>
</p:tagLst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5642</Words>
  <Application>WPS 演示</Application>
  <PresentationFormat/>
  <Paragraphs>525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1" baseType="lpstr">
      <vt:lpstr>Arial</vt:lpstr>
      <vt:lpstr>宋体</vt:lpstr>
      <vt:lpstr>Wingdings</vt:lpstr>
      <vt:lpstr>Helvetica Neue</vt:lpstr>
      <vt:lpstr>Helvetica Neue Medium</vt:lpstr>
      <vt:lpstr>微软雅黑</vt:lpstr>
      <vt:lpstr>Arial</vt:lpstr>
      <vt:lpstr>Lantinghei SC Extralight</vt:lpstr>
      <vt:lpstr>Segoe Print</vt:lpstr>
      <vt:lpstr>Lantinghei SC Demibold</vt:lpstr>
      <vt:lpstr>Courier</vt:lpstr>
      <vt:lpstr>Courier New</vt:lpstr>
      <vt:lpstr>PingFang SC Regular</vt:lpstr>
      <vt:lpstr>PingFang SC Semibold</vt:lpstr>
      <vt:lpstr>Times New Roman</vt:lpstr>
      <vt:lpstr>Arial Unicode MS</vt:lpstr>
      <vt:lpstr>KSOFF8957A5C</vt:lpstr>
      <vt:lpstr>KSOFF895EEBB</vt:lpstr>
      <vt:lpstr>KSOF10DB1109</vt:lpstr>
      <vt:lpstr>Helvetica Neue</vt:lpstr>
      <vt:lpstr>21_BasicWhite</vt:lpstr>
      <vt:lpstr>如何在实际项目中运用四阶十二步指导开发工作</vt:lpstr>
      <vt:lpstr>实践方法论-四阶十二步</vt:lpstr>
      <vt:lpstr>AI 在实际应用中，需要面临主要的问题</vt:lpstr>
      <vt:lpstr>端到端交付 四阶十二步：为 1→n 规模化迭代而设计的工程实践</vt:lpstr>
      <vt:lpstr>01准备阶段-让AI进度可控工程现场</vt:lpstr>
      <vt:lpstr>02 设计阶段-先定义如何证明完成</vt:lpstr>
      <vt:lpstr>03 开发阶段-用最小验证Task驱动实现</vt:lpstr>
      <vt:lpstr>04 验证交付阶段-从代码产出到工程资产</vt:lpstr>
      <vt:lpstr>PowerPoint 演示文稿</vt:lpstr>
      <vt:lpstr>如何在实际项目中运用四阶十二步指导开发工作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如何在实际项目中运用四阶十二步指导开发工作</dc:title>
  <dc:creator/>
  <cp:lastModifiedBy>默默code</cp:lastModifiedBy>
  <cp:revision>6</cp:revision>
  <dcterms:created xsi:type="dcterms:W3CDTF">2026-07-07T16:07:00Z</dcterms:created>
  <dcterms:modified xsi:type="dcterms:W3CDTF">2026-07-07T17:00:52Z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A30155403C7C4CAFB00BB0234CD50AE8_13</vt:lpwstr>
  </property>
</Properties>
</file>